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46"/>
    <p:restoredTop sz="94691"/>
  </p:normalViewPr>
  <p:slideViewPr>
    <p:cSldViewPr snapToGrid="0" snapToObjects="1">
      <p:cViewPr varScale="1">
        <p:scale>
          <a:sx n="115" d="100"/>
          <a:sy n="115" d="100"/>
        </p:scale>
        <p:origin x="106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2586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0:00 — Bonjour. Je suis Sophie, consultante chez Grenoble Consulting.</a:t>
            </a:r>
          </a:p>
          <a:p>
            <a:r>
              <a:t>Garanteo, assureur français fondé en 2015, nous a confié une mission à l'approche de sa révision budgétaire de fin de trimestre : affiner sa stratégie d'acquisition digitale. La problématique retenue : quel est le coût d'acquisition réel de chacune des 13 campagnes, et lesquelles renforcer ou couper avant la révision budgétaire ?</a:t>
            </a:r>
          </a:p>
          <a:p>
            <a:r>
              <a:t>La réponse principale tout de suite : 389 € par client, et non 372 € comme le laissaient croire les données brutes. Et je vous montrerai où redéployer 11 % du budget.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0:35 — Cinq temps. Je passe vite sur le cadrage pour consacrer l'essentiel du temps à l'analyse, qui pèse 60 % de la note, et aux recommandations.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1:20 — Le contexte tient en une phrase : Garanteo dépense 70 000 € et ne sait pas ce que ça rapporte, parce que ses trois sources de données ne se parlent pas.</a:t>
            </a:r>
          </a:p>
          <a:p>
            <a:r>
              <a:t>Retenez les 4 chiffres du haut, tout le reste en découle.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1:55 — La demande du client est trop vague pour être analysée telle quelle. Cinq pourquoi plus tard, on tombe sur la cause racine : Garanteo ne peut pas comparer ses campagnes.</a:t>
            </a:r>
          </a:p>
          <a:p>
            <a:r>
              <a:t>D'où trois sous-questions, qui structurent toute la suite : le CAC réel, la robustesse du classement, et la contre-intuition du pitch.</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2:35 — Quatre fichiers, 1,78 million de points, largement au-dessus du seuil de la consigne.</a:t>
            </a:r>
          </a:p>
          <a:p>
            <a:r>
              <a:t>Point important : j'ai vérifié l'intégrité relationnelle AVANT de joindre. Zéro orphelin. Une jointure qui perd des lignes en silence, ça fausse tout sans que rien ne le signale.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3:10</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3:20 — Je ne détaille pas les 10 anomalies, elles sont dans le notebook. Ce que je veux vous montrer, c'est la méthode : la colonne de droite est aussi importante que celle de gauche.</a:t>
            </a:r>
          </a:p>
          <a:p>
            <a:r>
              <a:t>Le plafond à 60 minutes par exemple : ce n'est pas une erreur, c'est une limite de l'outil. Je la signale au client, je ne la 'corrige' pas — sinon j'inventerais des données.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4:00 — Voilà l'argument à retenir. 100 doublons, ça paraît peu sur 2 160 lignes. Mais 8 clients comptés deux fois, ça déplace le coût d'acquisition de 17 € par client.</a:t>
            </a:r>
          </a:p>
          <a:p>
            <a:r>
              <a:t>Et j'insiste : j'ai vérifié que ma règle de dédoublonnage ne changeait aucun résultat, plutôt que de le supposer. Il fallait trancher, mais l'enjeu était faible — et le dire est plus solide que laisser croire le contraire.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4:35</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4:45 — L'entonnoir donne la carte du terrain. Deux fuites sautent aux yeux.</a:t>
            </a:r>
          </a:p>
          <a:p>
            <a:r>
              <a:t>Petit point de méthode : à chaque étape je compte des personnes, pas des lignes. 2 723 clics sur le bouton de rappel, mais seulement 2 157 personnes — certaines cliquent plusieurs fois. Compter les clics aurait surestimé l'intérêt de 26 %.</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5:25 — Voici le point technique central, et c'est celui que je veux que vous reteniez.</a:t>
            </a:r>
          </a:p>
          <a:p>
            <a:r>
              <a:t>Aucun clic de conversion n'est tagué campagne. Donc on ne PEUT PAS lire quelle campagne a converti : il faut remonter le parcours du visiteur.</a:t>
            </a:r>
          </a:p>
          <a:p>
            <a:r>
              <a:t>Et comme 91 % des prospects ont vu plusieurs campagnes, il faut choisir une règle d'attribution. Ce choix n'est pas un détail technique, comme la slide suivante le montre.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6:05 — Voilà la réponse à la première sous-question : le coût d'un client va de 175 € à 583 € selon la campagne.</a:t>
            </a:r>
          </a:p>
          <a:p>
            <a:r>
              <a:t>La barre en pointillés, c'est le CAC global à 389 €. Tout ce qui est à droite coûte plus cher que la moyenne : 5 campagnes, 33 600 €, soit 48 % du budget.</a:t>
            </a:r>
          </a:p>
          <a:p>
            <a:r>
              <a:t>Et en noir en bas : ca98f07be2, 700 € dépensés, zéro client.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6:45 — C'est la slide la plus importante de ma présentation.</a:t>
            </a:r>
          </a:p>
          <a:p>
            <a:r>
              <a:t>À gauche le classement en premier contact, à droite en dernier contact. Les mêmes 12 campagnes, les mêmes données. Le classement s'inverse presque : Spearman à −0,49.</a:t>
            </a:r>
          </a:p>
          <a:p>
            <a:r>
              <a:t>Regardez acb1a5 : la plus chère d'un côté, la moins chère de l'autre. 525 € d'écart sur le même budget.</a:t>
            </a:r>
          </a:p>
          <a:p>
            <a:r>
              <a:t>Conséquence : deux analystes travaillant sur les mêmes données peuvent recommander de couper des campagnes opposées, et tous les deux avoir raison. C'est pour ça que ma première recommandation n'est pas un nom de campagne, c'est d'acter une règle.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7:30 — Si le classement dépend de la méthode, sur quoi décider ? Sur ce qui ne dépend PAS de la méthode.</a:t>
            </a:r>
          </a:p>
          <a:p>
            <a:r>
              <a:t>J'ai calculé les trois règles et le rang moyen. Une seule campagne est dernière sous les trois : ca98f07be2. Là, aucun doute.</a:t>
            </a:r>
          </a:p>
          <a:p>
            <a:r>
              <a:t>Et je retiens le dernier contact pour la suite, parce que la conversion ici est un acte ponctuel : c'est la dernière campagne vue qui a fait basculer.</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8:15 — Le CAC, c'est le coût par prospect divisé par le taux de conversion. Lequel des deux fait la différence ?</a:t>
            </a:r>
          </a:p>
          <a:p>
            <a:r>
              <a:t>À gauche : corrélation de −0,906 entre le CAC et le taux de conversion, quasi parfaite. À droite : le prix du clic est plat, 9 % d'écart.</a:t>
            </a:r>
          </a:p>
          <a:p>
            <a:r>
              <a:t>Donc négocier les enchères ne sert à rien. Ce qui compte, c'est la qualité du trafic.</a:t>
            </a:r>
          </a:p>
          <a:p>
            <a:r>
              <a:t>Et un résultat significatif en bas : les grosses campagnes convertissent moins bien. C'est du rendement décroissant, ça conditionne la façon de réallouer.</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9:00 — La contre-intuition : les prospects qu'on appelle convertissent MOINS que ceux qu'on n'appelle pas. 9,47 % contre 7,18 %.</a:t>
            </a:r>
          </a:p>
          <a:p>
            <a:r>
              <a:t>J'ai fait quatre tests. Tous au-dessus de 0,05 : je ne peux pas l'affirmer. Les intervalles de confiance se chevauchent.</a:t>
            </a:r>
          </a:p>
          <a:p>
            <a:r>
              <a:t>Mais trois indices vont dans le sens d'un effet réel — notamment le fait que l'écart aille dans le même sens sur les 6 grosses campagnes séparément.</a:t>
            </a:r>
          </a:p>
          <a:p>
            <a:r>
              <a:t>Ma recommandation est donc : ne coupez pas, testez proprement.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9:45 — Slide d'honnêteté, et je l'assume complètement.</a:t>
            </a:r>
          </a:p>
          <a:p>
            <a:r>
              <a:t>Sept tests sur les profils de prospects : aucun n'est significatif. Il n'y a pas de cible à privilégier dans ces données.</a:t>
            </a:r>
          </a:p>
          <a:p>
            <a:r>
              <a:t>Et surtout, en bas à droite : le khi-deux global sur les campagnes est à p = 0,38. Je ne peux pas prouver que les campagnes convertissent différemment.</a:t>
            </a:r>
          </a:p>
          <a:p>
            <a:r>
              <a:t>Donc mes recommandations sont les meilleures décisions possibles avec l'information disponible, pas des certitudes. C'est exactement pour ça que je m'appuie sur ce qui est stable sous les trois règles, et que je livre un dashboard plutôt qu'un rapport figé.</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10:20</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10:30 — Le dashboard fait 7 pages, une par question. Il n'est pas là pour décorer : il est là pour que l'équipe acquisition puisse refaire l'analyse le mois prochain sans moi.</a:t>
            </a:r>
          </a:p>
          <a:p>
            <a:r>
              <a:t>En bas, ce qu'il mobilise du programme : le modèle en étoile, 49 mesures DAX, les pages d'infobulle, les segments.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11:00 — La consigne demande de montrer l'interactivité des visuels. Voilà les trois captures : le même écran avec la règle du premier contact, puis du dernier contact — le classement bascule sous vos yeux — et l'infobulle au survol d'une campagne.</a:t>
            </a:r>
          </a:p>
          <a:p>
            <a:r>
              <a:t>C'est le moment où le dashboard cesse d'être un rapport et devient un outil de décision.</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11:25</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11:35 — Cinq recommandations, et je veux insister sur l'ordre.</a:t>
            </a:r>
          </a:p>
          <a:p>
            <a:r>
              <a:t>La première n'est pas un nom de campagne, c'est une décision de méthode : actez une règle d'attribution. Sans ça, tout le reste est arbitraire.</a:t>
            </a:r>
          </a:p>
          <a:p>
            <a:r>
              <a:t>La deuxième est la seule certitude : coupez ca98f07be2.</a:t>
            </a:r>
          </a:p>
          <a:p>
            <a:r>
              <a:t>La troisième est celle qui rapporte le plus : 45c82b38c6, 7 000 €, dix fois plus.</a:t>
            </a:r>
          </a:p>
          <a:p>
            <a:r>
              <a:t>Les deux dernières sont des tests, pas des décisions.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12:05 — Le chiffrage. 7 700 € redéployés, 11 % du budget : +9,5 clients et le CAC global passe de 389 à 369 €. Sans un euro de plus.</a:t>
            </a:r>
          </a:p>
          <a:p>
            <a:r>
              <a:t>Et j'annonce la réserve : le rendement est décroissant, donc le gain réel sera inférieur. C'est pour ça que je parle de paliers, pas de bascule d'un coup.</a:t>
            </a:r>
          </a:p>
          <a:p>
            <a:r>
              <a:t>Point de méthode : j'ai pris comme référence le CAC des campagnes fiables, pas la meilleure du portefeuille. Sinon je vendrais une promesse bâtie sur 22 prospects.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12:35 — Je termine par ce que je ne peux pas dire, et par les cinq chantiers qui lèveraient ces limites.</a:t>
            </a:r>
          </a:p>
          <a:p>
            <a:r>
              <a:t>Le premier vaut tous les autres : si Garanteo taguait son clic de conversion avec la campagne d'origine, tout le travail d'attribution que je viens de vous présenter deviendrait inutile. C'est là que l'investissement rapporte le plus.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13:00 — Trois choses à retenir : le vrai coût d'acquisition est 389 €, la règle d'attribution est la décision qui conditionne tout le reste, et il y a 7 700 € à redéployer pour +9,5 clients.</a:t>
            </a:r>
          </a:p>
          <a:p>
            <a:r>
              <a:t>Merci, je réponds à vos questions.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Slides de réserve, non présentées.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A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989320" y="0"/>
            <a:ext cx="6199632" cy="6858000"/>
          </a:xfrm>
          <a:prstGeom prst="rect">
            <a:avLst/>
          </a:prstGeom>
          <a:solidFill>
            <a:srgbClr val="0835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691640"/>
            <a:ext cx="5029200" cy="365760"/>
          </a:xfrm>
          <a:prstGeom prst="rect">
            <a:avLst/>
          </a:prstGeom>
          <a:noFill/>
        </p:spPr>
        <p:txBody>
          <a:bodyPr wrap="square" lIns="0" tIns="0" rIns="0" bIns="0" anchor="t">
            <a:normAutofit/>
          </a:bodyPr>
          <a:lstStyle/>
          <a:p>
            <a:pPr algn="l">
              <a:lnSpc>
                <a:spcPct val="115000"/>
              </a:lnSpc>
              <a:spcAft>
                <a:spcPts val="400"/>
              </a:spcAft>
            </a:pPr>
            <a:r>
              <a:rPr sz="1150" b="1">
                <a:solidFill>
                  <a:srgbClr val="1CA7C4"/>
                </a:solidFill>
                <a:latin typeface="Segoe UI"/>
              </a:rPr>
              <a:t>PROJET FINAL · DATABIRD · TRACK DAFT</a:t>
            </a:r>
          </a:p>
        </p:txBody>
      </p:sp>
      <p:sp>
        <p:nvSpPr>
          <p:cNvPr id="6" name="TextBox 5"/>
          <p:cNvSpPr txBox="1"/>
          <p:nvPr/>
        </p:nvSpPr>
        <p:spPr>
          <a:xfrm>
            <a:off x="868680" y="2148840"/>
            <a:ext cx="5029200" cy="1371600"/>
          </a:xfrm>
          <a:prstGeom prst="rect">
            <a:avLst/>
          </a:prstGeom>
          <a:noFill/>
        </p:spPr>
        <p:txBody>
          <a:bodyPr wrap="square" lIns="0" tIns="0" rIns="0" bIns="0" anchor="t">
            <a:normAutofit/>
          </a:bodyPr>
          <a:lstStyle/>
          <a:p>
            <a:pPr algn="l">
              <a:lnSpc>
                <a:spcPct val="110000"/>
              </a:lnSpc>
              <a:spcAft>
                <a:spcPts val="400"/>
              </a:spcAft>
            </a:pPr>
            <a:r>
              <a:rPr sz="5000" b="1">
                <a:solidFill>
                  <a:srgbClr val="FFFFFF"/>
                </a:solidFill>
                <a:latin typeface="Segoe UI"/>
              </a:rPr>
              <a:t>Garanteo</a:t>
            </a:r>
          </a:p>
          <a:p>
            <a:pPr algn="l">
              <a:lnSpc>
                <a:spcPct val="110000"/>
              </a:lnSpc>
              <a:spcAft>
                <a:spcPts val="400"/>
              </a:spcAft>
            </a:pPr>
            <a:r>
              <a:rPr sz="2100" b="0">
                <a:solidFill>
                  <a:srgbClr val="A8D3E6"/>
                </a:solidFill>
                <a:latin typeface="Segoe UI"/>
              </a:rPr>
              <a:t>Affiner la stratégie</a:t>
            </a:r>
          </a:p>
          <a:p>
            <a:pPr algn="l">
              <a:lnSpc>
                <a:spcPct val="110000"/>
              </a:lnSpc>
              <a:spcAft>
                <a:spcPts val="400"/>
              </a:spcAft>
            </a:pPr>
            <a:r>
              <a:rPr sz="2100" b="0">
                <a:solidFill>
                  <a:srgbClr val="A8D3E6"/>
                </a:solidFill>
                <a:latin typeface="Segoe UI"/>
              </a:rPr>
              <a:t>d'acquisition digitale</a:t>
            </a:r>
          </a:p>
        </p:txBody>
      </p:sp>
      <p:sp>
        <p:nvSpPr>
          <p:cNvPr id="7" name="Rectangle 6"/>
          <p:cNvSpPr/>
          <p:nvPr/>
        </p:nvSpPr>
        <p:spPr>
          <a:xfrm>
            <a:off x="886968" y="4041648"/>
            <a:ext cx="1280160" cy="32004"/>
          </a:xfrm>
          <a:prstGeom prst="rect">
            <a:avLst/>
          </a:prstGeom>
          <a:solidFill>
            <a:srgbClr val="1CA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4315968"/>
            <a:ext cx="5029200" cy="1097280"/>
          </a:xfrm>
          <a:prstGeom prst="rect">
            <a:avLst/>
          </a:prstGeom>
          <a:noFill/>
        </p:spPr>
        <p:txBody>
          <a:bodyPr wrap="square" lIns="0" tIns="0" rIns="0" bIns="0" anchor="t">
            <a:normAutofit/>
          </a:bodyPr>
          <a:lstStyle/>
          <a:p>
            <a:pPr algn="l">
              <a:lnSpc>
                <a:spcPct val="130000"/>
              </a:lnSpc>
              <a:spcAft>
                <a:spcPts val="400"/>
              </a:spcAft>
            </a:pPr>
            <a:r>
              <a:rPr sz="1500" b="1">
                <a:solidFill>
                  <a:srgbClr val="FFFFFF"/>
                </a:solidFill>
                <a:latin typeface="Segoe UI"/>
              </a:rPr>
              <a:t>Sophie Paradon</a:t>
            </a:r>
          </a:p>
          <a:p>
            <a:pPr algn="l">
              <a:lnSpc>
                <a:spcPct val="130000"/>
              </a:lnSpc>
              <a:spcAft>
                <a:spcPts val="400"/>
              </a:spcAft>
            </a:pPr>
            <a:r>
              <a:rPr sz="1200" b="0">
                <a:solidFill>
                  <a:srgbClr val="1CA7C4"/>
                </a:solidFill>
                <a:latin typeface="Segoe UI"/>
              </a:rPr>
              <a:t>Grenoble Consulting</a:t>
            </a:r>
          </a:p>
          <a:p>
            <a:pPr algn="l">
              <a:lnSpc>
                <a:spcPct val="130000"/>
              </a:lnSpc>
              <a:spcAft>
                <a:spcPts val="400"/>
              </a:spcAft>
            </a:pPr>
            <a:r>
              <a:rPr sz="1200" b="0">
                <a:solidFill>
                  <a:srgbClr val="9FC5D8"/>
                </a:solidFill>
                <a:latin typeface="Segoe UI"/>
              </a:rPr>
              <a:t>Restitution du 31 août 2026</a:t>
            </a:r>
          </a:p>
        </p:txBody>
      </p:sp>
      <p:sp>
        <p:nvSpPr>
          <p:cNvPr id="9" name="TextBox 8"/>
          <p:cNvSpPr txBox="1"/>
          <p:nvPr/>
        </p:nvSpPr>
        <p:spPr>
          <a:xfrm>
            <a:off x="6720840" y="1920240"/>
            <a:ext cx="4754880" cy="2926080"/>
          </a:xfrm>
          <a:prstGeom prst="rect">
            <a:avLst/>
          </a:prstGeom>
          <a:noFill/>
        </p:spPr>
        <p:txBody>
          <a:bodyPr wrap="square" lIns="0" tIns="0" rIns="0" bIns="0" anchor="t">
            <a:normAutofit/>
          </a:bodyPr>
          <a:lstStyle/>
          <a:p>
            <a:pPr algn="l">
              <a:lnSpc>
                <a:spcPct val="122000"/>
              </a:lnSpc>
              <a:spcAft>
                <a:spcPts val="800"/>
              </a:spcAft>
            </a:pPr>
            <a:r>
              <a:rPr sz="1250" b="1">
                <a:solidFill>
                  <a:srgbClr val="1CA7C4"/>
                </a:solidFill>
                <a:latin typeface="Segoe UI"/>
              </a:rPr>
              <a:t>La question posée</a:t>
            </a:r>
          </a:p>
          <a:p>
            <a:pPr algn="l">
              <a:lnSpc>
                <a:spcPct val="122000"/>
              </a:lnSpc>
              <a:spcAft>
                <a:spcPts val="800"/>
              </a:spcAft>
            </a:pPr>
            <a:r>
              <a:rPr sz="1700" b="0">
                <a:solidFill>
                  <a:srgbClr val="FFFFFF"/>
                </a:solidFill>
                <a:latin typeface="Segoe UI"/>
              </a:rPr>
              <a:t>Quel est le coût d'acquisition réel de chacune des 13 campagnes, et lesquelles faut-il renforcer ou couper avant la révision budgétaire ?</a:t>
            </a:r>
          </a:p>
          <a:p>
            <a:pPr algn="l">
              <a:lnSpc>
                <a:spcPct val="122000"/>
              </a:lnSpc>
              <a:spcAft>
                <a:spcPts val="800"/>
              </a:spcAft>
            </a:pPr>
            <a:r>
              <a:rPr sz="800" b="0">
                <a:solidFill>
                  <a:srgbClr val="33444F"/>
                </a:solidFill>
                <a:latin typeface="Segoe UI"/>
              </a:rPr>
              <a:t> </a:t>
            </a:r>
          </a:p>
          <a:p>
            <a:pPr algn="l">
              <a:lnSpc>
                <a:spcPct val="122000"/>
              </a:lnSpc>
              <a:spcAft>
                <a:spcPts val="800"/>
              </a:spcAft>
            </a:pPr>
            <a:r>
              <a:rPr sz="1250" b="1">
                <a:solidFill>
                  <a:srgbClr val="1CA7C4"/>
                </a:solidFill>
                <a:latin typeface="Segoe UI"/>
              </a:rPr>
              <a:t>La réponse en un chiffre</a:t>
            </a:r>
          </a:p>
          <a:p>
            <a:pPr algn="l">
              <a:lnSpc>
                <a:spcPct val="122000"/>
              </a:lnSpc>
              <a:spcAft>
                <a:spcPts val="800"/>
              </a:spcAft>
            </a:pPr>
            <a:r>
              <a:rPr sz="4000" b="1">
                <a:solidFill>
                  <a:srgbClr val="F2A354"/>
                </a:solidFill>
                <a:latin typeface="Segoe UI"/>
              </a:rPr>
              <a:t>389 €</a:t>
            </a:r>
          </a:p>
          <a:p>
            <a:pPr algn="l">
              <a:lnSpc>
                <a:spcPct val="122000"/>
              </a:lnSpc>
              <a:spcAft>
                <a:spcPts val="800"/>
              </a:spcAft>
            </a:pPr>
            <a:r>
              <a:rPr sz="1200" b="0">
                <a:solidFill>
                  <a:srgbClr val="9FC5D8"/>
                </a:solidFill>
                <a:latin typeface="Segoe UI"/>
              </a:rPr>
              <a:t>par client — et non 372 € comme le disaient les données brutes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185855" cy="457200"/>
          </a:xfrm>
          <a:prstGeom prst="rect">
            <a:avLst/>
          </a:prstGeom>
          <a:noFill/>
        </p:spPr>
        <p:txBody>
          <a:bodyPr wrap="square" lIns="0" tIns="0" rIns="0" bIns="0" anchor="t">
            <a:normAutofit/>
          </a:bodyPr>
          <a:lstStyle/>
          <a:p>
            <a:pPr algn="l">
              <a:lnSpc>
                <a:spcPct val="115000"/>
              </a:lnSpc>
              <a:spcAft>
                <a:spcPts val="400"/>
              </a:spcAft>
            </a:pPr>
            <a:r>
              <a:rPr sz="2500" b="1">
                <a:solidFill>
                  <a:srgbClr val="0B4F71"/>
                </a:solidFill>
                <a:latin typeface="Segoe UI"/>
              </a:rPr>
              <a:t>Le fil de la présentation</a:t>
            </a:r>
          </a:p>
        </p:txBody>
      </p:sp>
      <p:sp>
        <p:nvSpPr>
          <p:cNvPr id="5" name="Rectangle 4"/>
          <p:cNvSpPr/>
          <p:nvPr/>
        </p:nvSpPr>
        <p:spPr>
          <a:xfrm>
            <a:off x="0" y="6574536"/>
            <a:ext cx="12191695" cy="18288"/>
          </a:xfrm>
          <a:prstGeom prst="rect">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620256"/>
            <a:ext cx="7315200" cy="219456"/>
          </a:xfrm>
          <a:prstGeom prst="rect">
            <a:avLst/>
          </a:prstGeom>
          <a:noFill/>
        </p:spPr>
        <p:txBody>
          <a:bodyPr wrap="square" lIns="0" tIns="0" rIns="0" bIns="0" anchor="t">
            <a:normAutofit/>
          </a:bodyPr>
          <a:lstStyle/>
          <a:p>
            <a:pPr algn="l">
              <a:lnSpc>
                <a:spcPct val="115000"/>
              </a:lnSpc>
              <a:spcAft>
                <a:spcPts val="400"/>
              </a:spcAft>
            </a:pPr>
            <a:r>
              <a:rPr sz="850" b="0">
                <a:solidFill>
                  <a:srgbClr val="8B98A5"/>
                </a:solidFill>
                <a:latin typeface="Segoe UI"/>
              </a:rPr>
              <a:t>Garanteo · Projet final DataBird · Sophie Paradon</a:t>
            </a:r>
          </a:p>
        </p:txBody>
      </p:sp>
      <p:sp>
        <p:nvSpPr>
          <p:cNvPr id="7" name="TextBox 6"/>
          <p:cNvSpPr txBox="1"/>
          <p:nvPr/>
        </p:nvSpPr>
        <p:spPr>
          <a:xfrm>
            <a:off x="8579815" y="6620256"/>
            <a:ext cx="3108960" cy="219456"/>
          </a:xfrm>
          <a:prstGeom prst="rect">
            <a:avLst/>
          </a:prstGeom>
          <a:noFill/>
        </p:spPr>
        <p:txBody>
          <a:bodyPr wrap="square" lIns="0" tIns="0" rIns="0" bIns="0" anchor="t">
            <a:normAutofit/>
          </a:bodyPr>
          <a:lstStyle/>
          <a:p>
            <a:pPr algn="r">
              <a:lnSpc>
                <a:spcPct val="115000"/>
              </a:lnSpc>
              <a:spcAft>
                <a:spcPts val="400"/>
              </a:spcAft>
            </a:pPr>
            <a:r>
              <a:rPr sz="850" b="0">
                <a:solidFill>
                  <a:srgbClr val="8B98A5"/>
                </a:solidFill>
                <a:latin typeface="Segoe UI"/>
              </a:rPr>
              <a:t>Plan   ·   2</a:t>
            </a:r>
          </a:p>
        </p:txBody>
      </p:sp>
      <p:sp>
        <p:nvSpPr>
          <p:cNvPr id="8" name="Rectangle 7"/>
          <p:cNvSpPr/>
          <p:nvPr/>
        </p:nvSpPr>
        <p:spPr>
          <a:xfrm>
            <a:off x="502920" y="1024128"/>
            <a:ext cx="11185855" cy="841248"/>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024128"/>
            <a:ext cx="68580" cy="841248"/>
          </a:xfrm>
          <a:prstGeom prst="rect">
            <a:avLst/>
          </a:prstGeom>
          <a:solidFill>
            <a:srgbClr val="1CA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1225296"/>
            <a:ext cx="548640" cy="457200"/>
          </a:xfrm>
          <a:prstGeom prst="rect">
            <a:avLst/>
          </a:prstGeom>
          <a:noFill/>
        </p:spPr>
        <p:txBody>
          <a:bodyPr wrap="square" lIns="0" tIns="0" rIns="0" bIns="0" anchor="t">
            <a:normAutofit/>
          </a:bodyPr>
          <a:lstStyle/>
          <a:p>
            <a:pPr algn="l">
              <a:lnSpc>
                <a:spcPct val="115000"/>
              </a:lnSpc>
              <a:spcAft>
                <a:spcPts val="400"/>
              </a:spcAft>
            </a:pPr>
            <a:r>
              <a:rPr sz="2600" b="1">
                <a:solidFill>
                  <a:srgbClr val="1CA7C4"/>
                </a:solidFill>
                <a:latin typeface="Segoe UI"/>
              </a:rPr>
              <a:t>1</a:t>
            </a:r>
          </a:p>
        </p:txBody>
      </p:sp>
      <p:sp>
        <p:nvSpPr>
          <p:cNvPr id="11" name="TextBox 10"/>
          <p:cNvSpPr txBox="1"/>
          <p:nvPr/>
        </p:nvSpPr>
        <p:spPr>
          <a:xfrm>
            <a:off x="1508760" y="1197864"/>
            <a:ext cx="2743200" cy="320040"/>
          </a:xfrm>
          <a:prstGeom prst="rect">
            <a:avLst/>
          </a:prstGeom>
          <a:noFill/>
        </p:spPr>
        <p:txBody>
          <a:bodyPr wrap="square" lIns="0" tIns="0" rIns="0" bIns="0" anchor="t">
            <a:normAutofit/>
          </a:bodyPr>
          <a:lstStyle/>
          <a:p>
            <a:pPr algn="l">
              <a:lnSpc>
                <a:spcPct val="115000"/>
              </a:lnSpc>
              <a:spcAft>
                <a:spcPts val="400"/>
              </a:spcAft>
            </a:pPr>
            <a:r>
              <a:rPr sz="1600" b="1">
                <a:solidFill>
                  <a:srgbClr val="0B4F71"/>
                </a:solidFill>
                <a:latin typeface="Segoe UI"/>
              </a:rPr>
              <a:t>Cadrage</a:t>
            </a:r>
          </a:p>
        </p:txBody>
      </p:sp>
      <p:sp>
        <p:nvSpPr>
          <p:cNvPr id="12" name="TextBox 11"/>
          <p:cNvSpPr txBox="1"/>
          <p:nvPr/>
        </p:nvSpPr>
        <p:spPr>
          <a:xfrm>
            <a:off x="1508760" y="1527048"/>
            <a:ext cx="7772400" cy="292608"/>
          </a:xfrm>
          <a:prstGeom prst="rect">
            <a:avLst/>
          </a:prstGeom>
          <a:noFill/>
        </p:spPr>
        <p:txBody>
          <a:bodyPr wrap="square" lIns="0" tIns="0" rIns="0" bIns="0" anchor="t">
            <a:normAutofit/>
          </a:bodyPr>
          <a:lstStyle/>
          <a:p>
            <a:pPr algn="l">
              <a:lnSpc>
                <a:spcPct val="115000"/>
              </a:lnSpc>
              <a:spcAft>
                <a:spcPts val="400"/>
              </a:spcAft>
            </a:pPr>
            <a:r>
              <a:rPr sz="1150" b="0">
                <a:solidFill>
                  <a:srgbClr val="33444F"/>
                </a:solidFill>
                <a:latin typeface="Segoe UI"/>
              </a:rPr>
              <a:t>Le contexte, la problématique et les données</a:t>
            </a:r>
          </a:p>
        </p:txBody>
      </p:sp>
      <p:sp>
        <p:nvSpPr>
          <p:cNvPr id="13" name="Rectangle 12"/>
          <p:cNvSpPr/>
          <p:nvPr/>
        </p:nvSpPr>
        <p:spPr>
          <a:xfrm>
            <a:off x="502920" y="1993392"/>
            <a:ext cx="11185855" cy="841248"/>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02920" y="1993392"/>
            <a:ext cx="68580" cy="841248"/>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2194560"/>
            <a:ext cx="548640" cy="457200"/>
          </a:xfrm>
          <a:prstGeom prst="rect">
            <a:avLst/>
          </a:prstGeom>
          <a:noFill/>
        </p:spPr>
        <p:txBody>
          <a:bodyPr wrap="square" lIns="0" tIns="0" rIns="0" bIns="0" anchor="t">
            <a:normAutofit/>
          </a:bodyPr>
          <a:lstStyle/>
          <a:p>
            <a:pPr algn="l">
              <a:lnSpc>
                <a:spcPct val="115000"/>
              </a:lnSpc>
              <a:spcAft>
                <a:spcPts val="400"/>
              </a:spcAft>
            </a:pPr>
            <a:r>
              <a:rPr sz="2600" b="1">
                <a:solidFill>
                  <a:srgbClr val="0B4F71"/>
                </a:solidFill>
                <a:latin typeface="Segoe UI"/>
              </a:rPr>
              <a:t>2</a:t>
            </a:r>
          </a:p>
        </p:txBody>
      </p:sp>
      <p:sp>
        <p:nvSpPr>
          <p:cNvPr id="16" name="TextBox 15"/>
          <p:cNvSpPr txBox="1"/>
          <p:nvPr/>
        </p:nvSpPr>
        <p:spPr>
          <a:xfrm>
            <a:off x="1508760" y="2167128"/>
            <a:ext cx="2743200" cy="320040"/>
          </a:xfrm>
          <a:prstGeom prst="rect">
            <a:avLst/>
          </a:prstGeom>
          <a:noFill/>
        </p:spPr>
        <p:txBody>
          <a:bodyPr wrap="square" lIns="0" tIns="0" rIns="0" bIns="0" anchor="t">
            <a:normAutofit/>
          </a:bodyPr>
          <a:lstStyle/>
          <a:p>
            <a:pPr algn="l">
              <a:lnSpc>
                <a:spcPct val="115000"/>
              </a:lnSpc>
              <a:spcAft>
                <a:spcPts val="400"/>
              </a:spcAft>
            </a:pPr>
            <a:r>
              <a:rPr sz="1600" b="1">
                <a:solidFill>
                  <a:srgbClr val="0B4F71"/>
                </a:solidFill>
                <a:latin typeface="Segoe UI"/>
              </a:rPr>
              <a:t>Préparation</a:t>
            </a:r>
          </a:p>
        </p:txBody>
      </p:sp>
      <p:sp>
        <p:nvSpPr>
          <p:cNvPr id="17" name="TextBox 16"/>
          <p:cNvSpPr txBox="1"/>
          <p:nvPr/>
        </p:nvSpPr>
        <p:spPr>
          <a:xfrm>
            <a:off x="1508760" y="2496312"/>
            <a:ext cx="7772400" cy="292608"/>
          </a:xfrm>
          <a:prstGeom prst="rect">
            <a:avLst/>
          </a:prstGeom>
          <a:noFill/>
        </p:spPr>
        <p:txBody>
          <a:bodyPr wrap="square" lIns="0" tIns="0" rIns="0" bIns="0" anchor="t">
            <a:normAutofit/>
          </a:bodyPr>
          <a:lstStyle/>
          <a:p>
            <a:pPr algn="l">
              <a:lnSpc>
                <a:spcPct val="115000"/>
              </a:lnSpc>
              <a:spcAft>
                <a:spcPts val="400"/>
              </a:spcAft>
            </a:pPr>
            <a:r>
              <a:rPr sz="1150" b="0">
                <a:solidFill>
                  <a:srgbClr val="33444F"/>
                </a:solidFill>
                <a:latin typeface="Segoe UI"/>
              </a:rPr>
              <a:t>Ce qui clochait dans les données, et ce que ça faussait</a:t>
            </a:r>
          </a:p>
        </p:txBody>
      </p:sp>
      <p:sp>
        <p:nvSpPr>
          <p:cNvPr id="18" name="Rectangle 17"/>
          <p:cNvSpPr/>
          <p:nvPr/>
        </p:nvSpPr>
        <p:spPr>
          <a:xfrm>
            <a:off x="502920" y="2962656"/>
            <a:ext cx="11185855" cy="841248"/>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02920" y="2962656"/>
            <a:ext cx="68580" cy="841248"/>
          </a:xfrm>
          <a:prstGeom prst="rect">
            <a:avLst/>
          </a:prstGeom>
          <a:solidFill>
            <a:srgbClr val="F2A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960" y="3163824"/>
            <a:ext cx="548640" cy="457200"/>
          </a:xfrm>
          <a:prstGeom prst="rect">
            <a:avLst/>
          </a:prstGeom>
          <a:noFill/>
        </p:spPr>
        <p:txBody>
          <a:bodyPr wrap="square" lIns="0" tIns="0" rIns="0" bIns="0" anchor="t">
            <a:normAutofit/>
          </a:bodyPr>
          <a:lstStyle/>
          <a:p>
            <a:pPr algn="l">
              <a:lnSpc>
                <a:spcPct val="115000"/>
              </a:lnSpc>
              <a:spcAft>
                <a:spcPts val="400"/>
              </a:spcAft>
            </a:pPr>
            <a:r>
              <a:rPr sz="2600" b="1">
                <a:solidFill>
                  <a:srgbClr val="F2A354"/>
                </a:solidFill>
                <a:latin typeface="Segoe UI"/>
              </a:rPr>
              <a:t>3</a:t>
            </a:r>
          </a:p>
        </p:txBody>
      </p:sp>
      <p:sp>
        <p:nvSpPr>
          <p:cNvPr id="21" name="TextBox 20"/>
          <p:cNvSpPr txBox="1"/>
          <p:nvPr/>
        </p:nvSpPr>
        <p:spPr>
          <a:xfrm>
            <a:off x="1508760" y="3136392"/>
            <a:ext cx="2743200" cy="320040"/>
          </a:xfrm>
          <a:prstGeom prst="rect">
            <a:avLst/>
          </a:prstGeom>
          <a:noFill/>
        </p:spPr>
        <p:txBody>
          <a:bodyPr wrap="square" lIns="0" tIns="0" rIns="0" bIns="0" anchor="t">
            <a:normAutofit/>
          </a:bodyPr>
          <a:lstStyle/>
          <a:p>
            <a:pPr algn="l">
              <a:lnSpc>
                <a:spcPct val="115000"/>
              </a:lnSpc>
              <a:spcAft>
                <a:spcPts val="400"/>
              </a:spcAft>
            </a:pPr>
            <a:r>
              <a:rPr sz="1600" b="1">
                <a:solidFill>
                  <a:srgbClr val="0B4F71"/>
                </a:solidFill>
                <a:latin typeface="Segoe UI"/>
              </a:rPr>
              <a:t>Analyse</a:t>
            </a:r>
          </a:p>
        </p:txBody>
      </p:sp>
      <p:sp>
        <p:nvSpPr>
          <p:cNvPr id="22" name="TextBox 21"/>
          <p:cNvSpPr txBox="1"/>
          <p:nvPr/>
        </p:nvSpPr>
        <p:spPr>
          <a:xfrm>
            <a:off x="1508760" y="3465576"/>
            <a:ext cx="7772400" cy="292608"/>
          </a:xfrm>
          <a:prstGeom prst="rect">
            <a:avLst/>
          </a:prstGeom>
          <a:noFill/>
        </p:spPr>
        <p:txBody>
          <a:bodyPr wrap="square" lIns="0" tIns="0" rIns="0" bIns="0" anchor="t">
            <a:normAutofit/>
          </a:bodyPr>
          <a:lstStyle/>
          <a:p>
            <a:pPr algn="l">
              <a:lnSpc>
                <a:spcPct val="115000"/>
              </a:lnSpc>
              <a:spcAft>
                <a:spcPts val="400"/>
              </a:spcAft>
            </a:pPr>
            <a:r>
              <a:rPr sz="1150" b="0">
                <a:solidFill>
                  <a:srgbClr val="33444F"/>
                </a:solidFill>
                <a:latin typeface="Segoe UI"/>
              </a:rPr>
              <a:t>Le coût d'acquisition, l'attribution, les tests statistiques</a:t>
            </a:r>
          </a:p>
        </p:txBody>
      </p:sp>
      <p:sp>
        <p:nvSpPr>
          <p:cNvPr id="23" name="Rectangle 22"/>
          <p:cNvSpPr/>
          <p:nvPr/>
        </p:nvSpPr>
        <p:spPr>
          <a:xfrm>
            <a:off x="502920" y="3931920"/>
            <a:ext cx="11185855" cy="841248"/>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 y="3931920"/>
            <a:ext cx="68580" cy="841248"/>
          </a:xfrm>
          <a:prstGeom prst="rect">
            <a:avLst/>
          </a:prstGeom>
          <a:solidFill>
            <a:srgbClr val="3AA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2960" y="4133088"/>
            <a:ext cx="548640" cy="457200"/>
          </a:xfrm>
          <a:prstGeom prst="rect">
            <a:avLst/>
          </a:prstGeom>
          <a:noFill/>
        </p:spPr>
        <p:txBody>
          <a:bodyPr wrap="square" lIns="0" tIns="0" rIns="0" bIns="0" anchor="t">
            <a:normAutofit/>
          </a:bodyPr>
          <a:lstStyle/>
          <a:p>
            <a:pPr algn="l">
              <a:lnSpc>
                <a:spcPct val="115000"/>
              </a:lnSpc>
              <a:spcAft>
                <a:spcPts val="400"/>
              </a:spcAft>
            </a:pPr>
            <a:r>
              <a:rPr sz="2600" b="1">
                <a:solidFill>
                  <a:srgbClr val="3AA65C"/>
                </a:solidFill>
                <a:latin typeface="Segoe UI"/>
              </a:rPr>
              <a:t>4</a:t>
            </a:r>
          </a:p>
        </p:txBody>
      </p:sp>
      <p:sp>
        <p:nvSpPr>
          <p:cNvPr id="26" name="TextBox 25"/>
          <p:cNvSpPr txBox="1"/>
          <p:nvPr/>
        </p:nvSpPr>
        <p:spPr>
          <a:xfrm>
            <a:off x="1508760" y="4105656"/>
            <a:ext cx="2743200" cy="320040"/>
          </a:xfrm>
          <a:prstGeom prst="rect">
            <a:avLst/>
          </a:prstGeom>
          <a:noFill/>
        </p:spPr>
        <p:txBody>
          <a:bodyPr wrap="square" lIns="0" tIns="0" rIns="0" bIns="0" anchor="t">
            <a:normAutofit/>
          </a:bodyPr>
          <a:lstStyle/>
          <a:p>
            <a:pPr algn="l">
              <a:lnSpc>
                <a:spcPct val="115000"/>
              </a:lnSpc>
              <a:spcAft>
                <a:spcPts val="400"/>
              </a:spcAft>
            </a:pPr>
            <a:r>
              <a:rPr sz="1600" b="1">
                <a:solidFill>
                  <a:srgbClr val="0B4F71"/>
                </a:solidFill>
                <a:latin typeface="Segoe UI"/>
              </a:rPr>
              <a:t>Restitution</a:t>
            </a:r>
          </a:p>
        </p:txBody>
      </p:sp>
      <p:sp>
        <p:nvSpPr>
          <p:cNvPr id="27" name="TextBox 26"/>
          <p:cNvSpPr txBox="1"/>
          <p:nvPr/>
        </p:nvSpPr>
        <p:spPr>
          <a:xfrm>
            <a:off x="1508760" y="4434840"/>
            <a:ext cx="7772400" cy="292608"/>
          </a:xfrm>
          <a:prstGeom prst="rect">
            <a:avLst/>
          </a:prstGeom>
          <a:noFill/>
        </p:spPr>
        <p:txBody>
          <a:bodyPr wrap="square" lIns="0" tIns="0" rIns="0" bIns="0" anchor="t">
            <a:normAutofit/>
          </a:bodyPr>
          <a:lstStyle/>
          <a:p>
            <a:pPr algn="l">
              <a:lnSpc>
                <a:spcPct val="115000"/>
              </a:lnSpc>
              <a:spcAft>
                <a:spcPts val="400"/>
              </a:spcAft>
            </a:pPr>
            <a:r>
              <a:rPr sz="1150" b="0">
                <a:solidFill>
                  <a:srgbClr val="33444F"/>
                </a:solidFill>
                <a:latin typeface="Segoe UI"/>
              </a:rPr>
              <a:t>Le dashboard Power BI livré à l'équipe acquisition</a:t>
            </a:r>
          </a:p>
        </p:txBody>
      </p:sp>
      <p:sp>
        <p:nvSpPr>
          <p:cNvPr id="28" name="Rectangle 27"/>
          <p:cNvSpPr/>
          <p:nvPr/>
        </p:nvSpPr>
        <p:spPr>
          <a:xfrm>
            <a:off x="502920" y="4901184"/>
            <a:ext cx="11185855" cy="841248"/>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02920" y="4901184"/>
            <a:ext cx="68580" cy="841248"/>
          </a:xfrm>
          <a:prstGeom prst="rect">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2960" y="5102352"/>
            <a:ext cx="548640" cy="457200"/>
          </a:xfrm>
          <a:prstGeom prst="rect">
            <a:avLst/>
          </a:prstGeom>
          <a:noFill/>
        </p:spPr>
        <p:txBody>
          <a:bodyPr wrap="square" lIns="0" tIns="0" rIns="0" bIns="0" anchor="t">
            <a:normAutofit/>
          </a:bodyPr>
          <a:lstStyle/>
          <a:p>
            <a:pPr algn="l">
              <a:lnSpc>
                <a:spcPct val="115000"/>
              </a:lnSpc>
              <a:spcAft>
                <a:spcPts val="400"/>
              </a:spcAft>
            </a:pPr>
            <a:r>
              <a:rPr sz="2600" b="1">
                <a:solidFill>
                  <a:srgbClr val="D9534F"/>
                </a:solidFill>
                <a:latin typeface="Segoe UI"/>
              </a:rPr>
              <a:t>5</a:t>
            </a:r>
          </a:p>
        </p:txBody>
      </p:sp>
      <p:sp>
        <p:nvSpPr>
          <p:cNvPr id="31" name="TextBox 30"/>
          <p:cNvSpPr txBox="1"/>
          <p:nvPr/>
        </p:nvSpPr>
        <p:spPr>
          <a:xfrm>
            <a:off x="1508760" y="5074920"/>
            <a:ext cx="2743200" cy="320040"/>
          </a:xfrm>
          <a:prstGeom prst="rect">
            <a:avLst/>
          </a:prstGeom>
          <a:noFill/>
        </p:spPr>
        <p:txBody>
          <a:bodyPr wrap="square" lIns="0" tIns="0" rIns="0" bIns="0" anchor="t">
            <a:normAutofit/>
          </a:bodyPr>
          <a:lstStyle/>
          <a:p>
            <a:pPr algn="l">
              <a:lnSpc>
                <a:spcPct val="115000"/>
              </a:lnSpc>
              <a:spcAft>
                <a:spcPts val="400"/>
              </a:spcAft>
            </a:pPr>
            <a:r>
              <a:rPr sz="1600" b="1">
                <a:solidFill>
                  <a:srgbClr val="0B4F71"/>
                </a:solidFill>
                <a:latin typeface="Segoe UI"/>
              </a:rPr>
              <a:t>Recommandations</a:t>
            </a:r>
          </a:p>
        </p:txBody>
      </p:sp>
      <p:sp>
        <p:nvSpPr>
          <p:cNvPr id="32" name="TextBox 31"/>
          <p:cNvSpPr txBox="1"/>
          <p:nvPr/>
        </p:nvSpPr>
        <p:spPr>
          <a:xfrm>
            <a:off x="1508760" y="5404104"/>
            <a:ext cx="7772400" cy="292608"/>
          </a:xfrm>
          <a:prstGeom prst="rect">
            <a:avLst/>
          </a:prstGeom>
          <a:noFill/>
        </p:spPr>
        <p:txBody>
          <a:bodyPr wrap="square" lIns="0" tIns="0" rIns="0" bIns="0" anchor="t">
            <a:normAutofit/>
          </a:bodyPr>
          <a:lstStyle/>
          <a:p>
            <a:pPr algn="l">
              <a:lnSpc>
                <a:spcPct val="115000"/>
              </a:lnSpc>
              <a:spcAft>
                <a:spcPts val="400"/>
              </a:spcAft>
            </a:pPr>
            <a:r>
              <a:rPr sz="1150" b="0">
                <a:solidFill>
                  <a:srgbClr val="33444F"/>
                </a:solidFill>
                <a:latin typeface="Segoe UI"/>
              </a:rPr>
              <a:t>Ce que Garanteo doit décider, et ce que ça rapporte</a:t>
            </a:r>
          </a:p>
        </p:txBody>
      </p:sp>
      <p:sp>
        <p:nvSpPr>
          <p:cNvPr id="33" name="TextBox 32"/>
          <p:cNvSpPr txBox="1"/>
          <p:nvPr/>
        </p:nvSpPr>
        <p:spPr>
          <a:xfrm>
            <a:off x="502920" y="6035040"/>
            <a:ext cx="11185855" cy="420624"/>
          </a:xfrm>
          <a:prstGeom prst="rect">
            <a:avLst/>
          </a:prstGeom>
          <a:noFill/>
        </p:spPr>
        <p:txBody>
          <a:bodyPr wrap="square" lIns="0" tIns="0" rIns="0" bIns="0" anchor="t">
            <a:normAutofit/>
          </a:bodyPr>
          <a:lstStyle/>
          <a:p>
            <a:pPr algn="l">
              <a:lnSpc>
                <a:spcPct val="115000"/>
              </a:lnSpc>
              <a:spcAft>
                <a:spcPts val="400"/>
              </a:spcAft>
            </a:pPr>
            <a:r>
              <a:rPr sz="1150" b="1">
                <a:solidFill>
                  <a:srgbClr val="0B4F71"/>
                </a:solidFill>
                <a:latin typeface="Segoe UI"/>
              </a:rPr>
              <a:t>Durée : 12 minutes, puis vos questions.</a:t>
            </a:r>
            <a:r>
              <a:rPr sz="1150" b="0">
                <a:solidFill>
                  <a:srgbClr val="33444F"/>
                </a:solidFill>
                <a:latin typeface="Segoe UI"/>
              </a:rPr>
              <a:t>  Les chiffres présentés sortent tous du notebook main.ipynb, qui s'exécute de bout en bout sans erreur.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1CA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0" y="2331720"/>
            <a:ext cx="1828800" cy="1463040"/>
          </a:xfrm>
          <a:prstGeom prst="rect">
            <a:avLst/>
          </a:prstGeom>
          <a:noFill/>
        </p:spPr>
        <p:txBody>
          <a:bodyPr wrap="square" lIns="0" tIns="0" rIns="0" bIns="0" anchor="t">
            <a:normAutofit/>
          </a:bodyPr>
          <a:lstStyle/>
          <a:p>
            <a:pPr algn="l">
              <a:lnSpc>
                <a:spcPct val="115000"/>
              </a:lnSpc>
              <a:spcAft>
                <a:spcPts val="400"/>
              </a:spcAft>
            </a:pPr>
            <a:r>
              <a:rPr sz="10000" b="1">
                <a:solidFill>
                  <a:srgbClr val="2E86A6"/>
                </a:solidFill>
                <a:latin typeface="Segoe UI"/>
              </a:rPr>
              <a:t>1</a:t>
            </a:r>
          </a:p>
        </p:txBody>
      </p:sp>
      <p:sp>
        <p:nvSpPr>
          <p:cNvPr id="5" name="TextBox 4"/>
          <p:cNvSpPr txBox="1"/>
          <p:nvPr/>
        </p:nvSpPr>
        <p:spPr>
          <a:xfrm>
            <a:off x="3200400" y="2606040"/>
            <a:ext cx="7863840" cy="822960"/>
          </a:xfrm>
          <a:prstGeom prst="rect">
            <a:avLst/>
          </a:prstGeom>
          <a:noFill/>
        </p:spPr>
        <p:txBody>
          <a:bodyPr wrap="square" lIns="0" tIns="0" rIns="0" bIns="0" anchor="t">
            <a:normAutofit/>
          </a:bodyPr>
          <a:lstStyle/>
          <a:p>
            <a:pPr algn="l">
              <a:lnSpc>
                <a:spcPct val="115000"/>
              </a:lnSpc>
              <a:spcAft>
                <a:spcPts val="400"/>
              </a:spcAft>
            </a:pPr>
            <a:r>
              <a:rPr sz="4000" b="1">
                <a:solidFill>
                  <a:srgbClr val="FFFFFF"/>
                </a:solidFill>
                <a:latin typeface="Segoe UI"/>
              </a:rPr>
              <a:t>Cadrage</a:t>
            </a:r>
          </a:p>
        </p:txBody>
      </p:sp>
      <p:sp>
        <p:nvSpPr>
          <p:cNvPr id="6" name="TextBox 5"/>
          <p:cNvSpPr txBox="1"/>
          <p:nvPr/>
        </p:nvSpPr>
        <p:spPr>
          <a:xfrm>
            <a:off x="3255264" y="3611880"/>
            <a:ext cx="7863840" cy="457200"/>
          </a:xfrm>
          <a:prstGeom prst="rect">
            <a:avLst/>
          </a:prstGeom>
          <a:noFill/>
        </p:spPr>
        <p:txBody>
          <a:bodyPr wrap="square" lIns="0" tIns="0" rIns="0" bIns="0" anchor="t">
            <a:normAutofit/>
          </a:bodyPr>
          <a:lstStyle/>
          <a:p>
            <a:pPr algn="l">
              <a:lnSpc>
                <a:spcPct val="115000"/>
              </a:lnSpc>
              <a:spcAft>
                <a:spcPts val="400"/>
              </a:spcAft>
            </a:pPr>
            <a:r>
              <a:rPr sz="1500" b="0">
                <a:solidFill>
                  <a:srgbClr val="A8D3E6"/>
                </a:solidFill>
                <a:latin typeface="Segoe UI"/>
              </a:rPr>
              <a:t>Le contexte, la problématique et les données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185855" cy="457200"/>
          </a:xfrm>
          <a:prstGeom prst="rect">
            <a:avLst/>
          </a:prstGeom>
          <a:noFill/>
        </p:spPr>
        <p:txBody>
          <a:bodyPr wrap="square" lIns="0" tIns="0" rIns="0" bIns="0" anchor="t">
            <a:normAutofit/>
          </a:bodyPr>
          <a:lstStyle/>
          <a:p>
            <a:pPr algn="l">
              <a:lnSpc>
                <a:spcPct val="115000"/>
              </a:lnSpc>
              <a:spcAft>
                <a:spcPts val="400"/>
              </a:spcAft>
            </a:pPr>
            <a:r>
              <a:rPr sz="2500" b="1">
                <a:solidFill>
                  <a:srgbClr val="0B4F71"/>
                </a:solidFill>
                <a:latin typeface="Segoe UI"/>
              </a:rPr>
              <a:t>Le contexte : une révision budgétaire dans 3 semaines</a:t>
            </a:r>
          </a:p>
        </p:txBody>
      </p:sp>
      <p:sp>
        <p:nvSpPr>
          <p:cNvPr id="5" name="TextBox 4"/>
          <p:cNvSpPr txBox="1"/>
          <p:nvPr/>
        </p:nvSpPr>
        <p:spPr>
          <a:xfrm>
            <a:off x="502920" y="896112"/>
            <a:ext cx="11185855" cy="457200"/>
          </a:xfrm>
          <a:prstGeom prst="rect">
            <a:avLst/>
          </a:prstGeom>
          <a:noFill/>
        </p:spPr>
        <p:txBody>
          <a:bodyPr wrap="square" lIns="0" tIns="0" rIns="0" bIns="0" anchor="t">
            <a:normAutofit/>
          </a:bodyPr>
          <a:lstStyle/>
          <a:p>
            <a:pPr algn="l">
              <a:lnSpc>
                <a:spcPct val="115000"/>
              </a:lnSpc>
              <a:spcAft>
                <a:spcPts val="0"/>
              </a:spcAft>
            </a:pPr>
            <a:r>
              <a:rPr sz="1300" b="0">
                <a:solidFill>
                  <a:srgbClr val="33444F"/>
                </a:solidFill>
                <a:latin typeface="Segoe UI"/>
              </a:rPr>
              <a:t>Garanteo, assureur français fondé en 2015, dépense 70 000 € par an en acquisition digitale sans savoir ce que ça rapporte.</a:t>
            </a:r>
          </a:p>
        </p:txBody>
      </p:sp>
      <p:sp>
        <p:nvSpPr>
          <p:cNvPr id="6" name="Rectangle 5"/>
          <p:cNvSpPr/>
          <p:nvPr/>
        </p:nvSpPr>
        <p:spPr>
          <a:xfrm>
            <a:off x="0" y="6574536"/>
            <a:ext cx="12191695" cy="18288"/>
          </a:xfrm>
          <a:prstGeom prst="rect">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620256"/>
            <a:ext cx="7315200" cy="219456"/>
          </a:xfrm>
          <a:prstGeom prst="rect">
            <a:avLst/>
          </a:prstGeom>
          <a:noFill/>
        </p:spPr>
        <p:txBody>
          <a:bodyPr wrap="square" lIns="0" tIns="0" rIns="0" bIns="0" anchor="t">
            <a:normAutofit/>
          </a:bodyPr>
          <a:lstStyle/>
          <a:p>
            <a:pPr algn="l">
              <a:lnSpc>
                <a:spcPct val="115000"/>
              </a:lnSpc>
              <a:spcAft>
                <a:spcPts val="400"/>
              </a:spcAft>
            </a:pPr>
            <a:r>
              <a:rPr sz="850" b="0">
                <a:solidFill>
                  <a:srgbClr val="8B98A5"/>
                </a:solidFill>
                <a:latin typeface="Segoe UI"/>
              </a:rPr>
              <a:t>Garanteo · Projet final DataBird · Sophie Paradon</a:t>
            </a:r>
          </a:p>
        </p:txBody>
      </p:sp>
      <p:sp>
        <p:nvSpPr>
          <p:cNvPr id="8" name="TextBox 7"/>
          <p:cNvSpPr txBox="1"/>
          <p:nvPr/>
        </p:nvSpPr>
        <p:spPr>
          <a:xfrm>
            <a:off x="8579815" y="6620256"/>
            <a:ext cx="3108960" cy="219456"/>
          </a:xfrm>
          <a:prstGeom prst="rect">
            <a:avLst/>
          </a:prstGeom>
          <a:noFill/>
        </p:spPr>
        <p:txBody>
          <a:bodyPr wrap="square" lIns="0" tIns="0" rIns="0" bIns="0" anchor="t">
            <a:normAutofit/>
          </a:bodyPr>
          <a:lstStyle/>
          <a:p>
            <a:pPr algn="r">
              <a:lnSpc>
                <a:spcPct val="115000"/>
              </a:lnSpc>
              <a:spcAft>
                <a:spcPts val="400"/>
              </a:spcAft>
            </a:pPr>
            <a:r>
              <a:rPr sz="850" b="0">
                <a:solidFill>
                  <a:srgbClr val="8B98A5"/>
                </a:solidFill>
                <a:latin typeface="Segoe UI"/>
              </a:rPr>
              <a:t>Cadrage   ·   4</a:t>
            </a:r>
          </a:p>
        </p:txBody>
      </p:sp>
      <p:sp>
        <p:nvSpPr>
          <p:cNvPr id="9" name="Rectangle 8"/>
          <p:cNvSpPr/>
          <p:nvPr/>
        </p:nvSpPr>
        <p:spPr>
          <a:xfrm>
            <a:off x="502920" y="1472184"/>
            <a:ext cx="2724912" cy="1371600"/>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 y="1472184"/>
            <a:ext cx="2724912" cy="50292"/>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1709928"/>
            <a:ext cx="2359152" cy="502920"/>
          </a:xfrm>
          <a:prstGeom prst="rect">
            <a:avLst/>
          </a:prstGeom>
          <a:noFill/>
        </p:spPr>
        <p:txBody>
          <a:bodyPr wrap="square" lIns="0" tIns="0" rIns="0" bIns="0" anchor="t">
            <a:normAutofit/>
          </a:bodyPr>
          <a:lstStyle/>
          <a:p>
            <a:pPr algn="l">
              <a:lnSpc>
                <a:spcPct val="115000"/>
              </a:lnSpc>
              <a:spcAft>
                <a:spcPts val="400"/>
              </a:spcAft>
            </a:pPr>
            <a:r>
              <a:rPr sz="2700" b="1">
                <a:solidFill>
                  <a:srgbClr val="0B4F71"/>
                </a:solidFill>
                <a:latin typeface="Segoe UI"/>
              </a:rPr>
              <a:t>70 000 €</a:t>
            </a:r>
          </a:p>
        </p:txBody>
      </p:sp>
      <p:sp>
        <p:nvSpPr>
          <p:cNvPr id="12" name="TextBox 11"/>
          <p:cNvSpPr txBox="1"/>
          <p:nvPr/>
        </p:nvSpPr>
        <p:spPr>
          <a:xfrm>
            <a:off x="685800" y="2258568"/>
            <a:ext cx="2377440" cy="237744"/>
          </a:xfrm>
          <a:prstGeom prst="rect">
            <a:avLst/>
          </a:prstGeom>
          <a:noFill/>
        </p:spPr>
        <p:txBody>
          <a:bodyPr wrap="square" lIns="0" tIns="0" rIns="0" bIns="0" anchor="t">
            <a:normAutofit/>
          </a:bodyPr>
          <a:lstStyle/>
          <a:p>
            <a:pPr algn="l">
              <a:lnSpc>
                <a:spcPct val="115000"/>
              </a:lnSpc>
              <a:spcAft>
                <a:spcPts val="0"/>
              </a:spcAft>
            </a:pPr>
            <a:r>
              <a:rPr sz="1050" b="0">
                <a:solidFill>
                  <a:srgbClr val="33444F"/>
                </a:solidFill>
                <a:latin typeface="Segoe UI"/>
              </a:rPr>
              <a:t>Budget d'acquisition 2023</a:t>
            </a:r>
          </a:p>
        </p:txBody>
      </p:sp>
      <p:sp>
        <p:nvSpPr>
          <p:cNvPr id="13" name="TextBox 12"/>
          <p:cNvSpPr txBox="1"/>
          <p:nvPr/>
        </p:nvSpPr>
        <p:spPr>
          <a:xfrm>
            <a:off x="685800" y="2514600"/>
            <a:ext cx="2377440" cy="237744"/>
          </a:xfrm>
          <a:prstGeom prst="rect">
            <a:avLst/>
          </a:prstGeom>
          <a:noFill/>
        </p:spPr>
        <p:txBody>
          <a:bodyPr wrap="square" lIns="0" tIns="0" rIns="0" bIns="0" anchor="t">
            <a:normAutofit/>
          </a:bodyPr>
          <a:lstStyle/>
          <a:p>
            <a:pPr algn="l">
              <a:lnSpc>
                <a:spcPct val="115000"/>
              </a:lnSpc>
              <a:spcAft>
                <a:spcPts val="0"/>
              </a:spcAft>
            </a:pPr>
            <a:r>
              <a:rPr sz="850" b="0">
                <a:solidFill>
                  <a:srgbClr val="8B98A5"/>
                </a:solidFill>
                <a:latin typeface="Segoe UI"/>
              </a:rPr>
              <a:t>13 campagnes payantes</a:t>
            </a:r>
          </a:p>
        </p:txBody>
      </p:sp>
      <p:sp>
        <p:nvSpPr>
          <p:cNvPr id="14" name="Rectangle 13"/>
          <p:cNvSpPr/>
          <p:nvPr/>
        </p:nvSpPr>
        <p:spPr>
          <a:xfrm>
            <a:off x="3392424" y="1472184"/>
            <a:ext cx="2724912" cy="1371600"/>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392424" y="1472184"/>
            <a:ext cx="2724912" cy="50292"/>
          </a:xfrm>
          <a:prstGeom prst="rect">
            <a:avLst/>
          </a:prstGeom>
          <a:solidFill>
            <a:srgbClr val="1CA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75304" y="1709928"/>
            <a:ext cx="2359152" cy="502920"/>
          </a:xfrm>
          <a:prstGeom prst="rect">
            <a:avLst/>
          </a:prstGeom>
          <a:noFill/>
        </p:spPr>
        <p:txBody>
          <a:bodyPr wrap="square" lIns="0" tIns="0" rIns="0" bIns="0" anchor="t">
            <a:normAutofit/>
          </a:bodyPr>
          <a:lstStyle/>
          <a:p>
            <a:pPr algn="l">
              <a:lnSpc>
                <a:spcPct val="115000"/>
              </a:lnSpc>
              <a:spcAft>
                <a:spcPts val="400"/>
              </a:spcAft>
            </a:pPr>
            <a:r>
              <a:rPr sz="2700" b="1">
                <a:solidFill>
                  <a:srgbClr val="1CA7C4"/>
                </a:solidFill>
                <a:latin typeface="Segoe UI"/>
              </a:rPr>
              <a:t>13</a:t>
            </a:r>
          </a:p>
        </p:txBody>
      </p:sp>
      <p:sp>
        <p:nvSpPr>
          <p:cNvPr id="17" name="TextBox 16"/>
          <p:cNvSpPr txBox="1"/>
          <p:nvPr/>
        </p:nvSpPr>
        <p:spPr>
          <a:xfrm>
            <a:off x="3575304" y="2258568"/>
            <a:ext cx="2377440" cy="237744"/>
          </a:xfrm>
          <a:prstGeom prst="rect">
            <a:avLst/>
          </a:prstGeom>
          <a:noFill/>
        </p:spPr>
        <p:txBody>
          <a:bodyPr wrap="square" lIns="0" tIns="0" rIns="0" bIns="0" anchor="t">
            <a:normAutofit/>
          </a:bodyPr>
          <a:lstStyle/>
          <a:p>
            <a:pPr algn="l">
              <a:lnSpc>
                <a:spcPct val="115000"/>
              </a:lnSpc>
              <a:spcAft>
                <a:spcPts val="0"/>
              </a:spcAft>
            </a:pPr>
            <a:r>
              <a:rPr sz="1050" b="0">
                <a:solidFill>
                  <a:srgbClr val="33444F"/>
                </a:solidFill>
                <a:latin typeface="Segoe UI"/>
              </a:rPr>
              <a:t>Campagnes à comparer</a:t>
            </a:r>
          </a:p>
        </p:txBody>
      </p:sp>
      <p:sp>
        <p:nvSpPr>
          <p:cNvPr id="18" name="TextBox 17"/>
          <p:cNvSpPr txBox="1"/>
          <p:nvPr/>
        </p:nvSpPr>
        <p:spPr>
          <a:xfrm>
            <a:off x="3575304" y="2514600"/>
            <a:ext cx="2377440" cy="237744"/>
          </a:xfrm>
          <a:prstGeom prst="rect">
            <a:avLst/>
          </a:prstGeom>
          <a:noFill/>
        </p:spPr>
        <p:txBody>
          <a:bodyPr wrap="square" lIns="0" tIns="0" rIns="0" bIns="0" anchor="t">
            <a:normAutofit/>
          </a:bodyPr>
          <a:lstStyle/>
          <a:p>
            <a:pPr algn="l">
              <a:lnSpc>
                <a:spcPct val="115000"/>
              </a:lnSpc>
              <a:spcAft>
                <a:spcPts val="0"/>
              </a:spcAft>
            </a:pPr>
            <a:r>
              <a:rPr sz="850" b="0">
                <a:solidFill>
                  <a:srgbClr val="8B98A5"/>
                </a:solidFill>
                <a:latin typeface="Segoe UI"/>
              </a:rPr>
              <a:t>10 Google Ads · 3 affiliation</a:t>
            </a:r>
          </a:p>
        </p:txBody>
      </p:sp>
      <p:sp>
        <p:nvSpPr>
          <p:cNvPr id="19" name="Rectangle 18"/>
          <p:cNvSpPr/>
          <p:nvPr/>
        </p:nvSpPr>
        <p:spPr>
          <a:xfrm>
            <a:off x="6281928" y="1472184"/>
            <a:ext cx="2724912" cy="1371600"/>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81928" y="1472184"/>
            <a:ext cx="2724912" cy="50292"/>
          </a:xfrm>
          <a:prstGeom prst="rect">
            <a:avLst/>
          </a:prstGeom>
          <a:solidFill>
            <a:srgbClr val="F2A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64808" y="1709928"/>
            <a:ext cx="2359152" cy="502920"/>
          </a:xfrm>
          <a:prstGeom prst="rect">
            <a:avLst/>
          </a:prstGeom>
          <a:noFill/>
        </p:spPr>
        <p:txBody>
          <a:bodyPr wrap="square" lIns="0" tIns="0" rIns="0" bIns="0" anchor="t">
            <a:normAutofit/>
          </a:bodyPr>
          <a:lstStyle/>
          <a:p>
            <a:pPr algn="l">
              <a:lnSpc>
                <a:spcPct val="115000"/>
              </a:lnSpc>
              <a:spcAft>
                <a:spcPts val="400"/>
              </a:spcAft>
            </a:pPr>
            <a:r>
              <a:rPr sz="2700" b="1">
                <a:solidFill>
                  <a:srgbClr val="F2A354"/>
                </a:solidFill>
                <a:latin typeface="Segoe UI"/>
              </a:rPr>
              <a:t>2 060</a:t>
            </a:r>
          </a:p>
        </p:txBody>
      </p:sp>
      <p:sp>
        <p:nvSpPr>
          <p:cNvPr id="22" name="TextBox 21"/>
          <p:cNvSpPr txBox="1"/>
          <p:nvPr/>
        </p:nvSpPr>
        <p:spPr>
          <a:xfrm>
            <a:off x="6464808" y="2258568"/>
            <a:ext cx="2377440" cy="237744"/>
          </a:xfrm>
          <a:prstGeom prst="rect">
            <a:avLst/>
          </a:prstGeom>
          <a:noFill/>
        </p:spPr>
        <p:txBody>
          <a:bodyPr wrap="square" lIns="0" tIns="0" rIns="0" bIns="0" anchor="t">
            <a:normAutofit/>
          </a:bodyPr>
          <a:lstStyle/>
          <a:p>
            <a:pPr algn="l">
              <a:lnSpc>
                <a:spcPct val="115000"/>
              </a:lnSpc>
              <a:spcAft>
                <a:spcPts val="0"/>
              </a:spcAft>
            </a:pPr>
            <a:r>
              <a:rPr sz="1050" b="0">
                <a:solidFill>
                  <a:srgbClr val="33444F"/>
                </a:solidFill>
                <a:latin typeface="Segoe UI"/>
              </a:rPr>
              <a:t>Prospects générés</a:t>
            </a:r>
          </a:p>
        </p:txBody>
      </p:sp>
      <p:sp>
        <p:nvSpPr>
          <p:cNvPr id="23" name="TextBox 22"/>
          <p:cNvSpPr txBox="1"/>
          <p:nvPr/>
        </p:nvSpPr>
        <p:spPr>
          <a:xfrm>
            <a:off x="6464808" y="2514600"/>
            <a:ext cx="2377440" cy="237744"/>
          </a:xfrm>
          <a:prstGeom prst="rect">
            <a:avLst/>
          </a:prstGeom>
          <a:noFill/>
        </p:spPr>
        <p:txBody>
          <a:bodyPr wrap="square" lIns="0" tIns="0" rIns="0" bIns="0" anchor="t">
            <a:normAutofit/>
          </a:bodyPr>
          <a:lstStyle/>
          <a:p>
            <a:pPr algn="l">
              <a:lnSpc>
                <a:spcPct val="115000"/>
              </a:lnSpc>
              <a:spcAft>
                <a:spcPts val="0"/>
              </a:spcAft>
            </a:pPr>
            <a:r>
              <a:rPr sz="850" b="0">
                <a:solidFill>
                  <a:srgbClr val="8B98A5"/>
                </a:solidFill>
                <a:latin typeface="Segoe UI"/>
              </a:rPr>
              <a:t>après dédoublonnage</a:t>
            </a:r>
          </a:p>
        </p:txBody>
      </p:sp>
      <p:sp>
        <p:nvSpPr>
          <p:cNvPr id="24" name="Rectangle 23"/>
          <p:cNvSpPr/>
          <p:nvPr/>
        </p:nvSpPr>
        <p:spPr>
          <a:xfrm>
            <a:off x="9171432" y="1472184"/>
            <a:ext cx="2724912" cy="1371600"/>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9171432" y="1472184"/>
            <a:ext cx="2724912" cy="50292"/>
          </a:xfrm>
          <a:prstGeom prst="rect">
            <a:avLst/>
          </a:prstGeom>
          <a:solidFill>
            <a:srgbClr val="3AA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354312" y="1709928"/>
            <a:ext cx="2359152" cy="502920"/>
          </a:xfrm>
          <a:prstGeom prst="rect">
            <a:avLst/>
          </a:prstGeom>
          <a:noFill/>
        </p:spPr>
        <p:txBody>
          <a:bodyPr wrap="square" lIns="0" tIns="0" rIns="0" bIns="0" anchor="t">
            <a:normAutofit/>
          </a:bodyPr>
          <a:lstStyle/>
          <a:p>
            <a:pPr algn="l">
              <a:lnSpc>
                <a:spcPct val="115000"/>
              </a:lnSpc>
              <a:spcAft>
                <a:spcPts val="400"/>
              </a:spcAft>
            </a:pPr>
            <a:r>
              <a:rPr sz="2700" b="1">
                <a:solidFill>
                  <a:srgbClr val="3AA65C"/>
                </a:solidFill>
                <a:latin typeface="Segoe UI"/>
              </a:rPr>
              <a:t>180</a:t>
            </a:r>
          </a:p>
        </p:txBody>
      </p:sp>
      <p:sp>
        <p:nvSpPr>
          <p:cNvPr id="27" name="TextBox 26"/>
          <p:cNvSpPr txBox="1"/>
          <p:nvPr/>
        </p:nvSpPr>
        <p:spPr>
          <a:xfrm>
            <a:off x="9354312" y="2258568"/>
            <a:ext cx="2377440" cy="237744"/>
          </a:xfrm>
          <a:prstGeom prst="rect">
            <a:avLst/>
          </a:prstGeom>
          <a:noFill/>
        </p:spPr>
        <p:txBody>
          <a:bodyPr wrap="square" lIns="0" tIns="0" rIns="0" bIns="0" anchor="t">
            <a:normAutofit/>
          </a:bodyPr>
          <a:lstStyle/>
          <a:p>
            <a:pPr algn="l">
              <a:lnSpc>
                <a:spcPct val="115000"/>
              </a:lnSpc>
              <a:spcAft>
                <a:spcPts val="0"/>
              </a:spcAft>
            </a:pPr>
            <a:r>
              <a:rPr sz="1050" b="0">
                <a:solidFill>
                  <a:srgbClr val="33444F"/>
                </a:solidFill>
                <a:latin typeface="Segoe UI"/>
              </a:rPr>
              <a:t>Clients signés</a:t>
            </a:r>
          </a:p>
        </p:txBody>
      </p:sp>
      <p:sp>
        <p:nvSpPr>
          <p:cNvPr id="28" name="TextBox 27"/>
          <p:cNvSpPr txBox="1"/>
          <p:nvPr/>
        </p:nvSpPr>
        <p:spPr>
          <a:xfrm>
            <a:off x="9354312" y="2514600"/>
            <a:ext cx="2377440" cy="237744"/>
          </a:xfrm>
          <a:prstGeom prst="rect">
            <a:avLst/>
          </a:prstGeom>
          <a:noFill/>
        </p:spPr>
        <p:txBody>
          <a:bodyPr wrap="square" lIns="0" tIns="0" rIns="0" bIns="0" anchor="t">
            <a:normAutofit/>
          </a:bodyPr>
          <a:lstStyle/>
          <a:p>
            <a:pPr algn="l">
              <a:lnSpc>
                <a:spcPct val="115000"/>
              </a:lnSpc>
              <a:spcAft>
                <a:spcPts val="0"/>
              </a:spcAft>
            </a:pPr>
            <a:r>
              <a:rPr sz="850" b="0">
                <a:solidFill>
                  <a:srgbClr val="8B98A5"/>
                </a:solidFill>
                <a:latin typeface="Segoe UI"/>
              </a:rPr>
              <a:t>8,74 % des prospects</a:t>
            </a:r>
          </a:p>
        </p:txBody>
      </p:sp>
      <p:sp>
        <p:nvSpPr>
          <p:cNvPr id="29" name="Rectangle 28"/>
          <p:cNvSpPr/>
          <p:nvPr/>
        </p:nvSpPr>
        <p:spPr>
          <a:xfrm>
            <a:off x="502920" y="3054096"/>
            <a:ext cx="5486400" cy="2286000"/>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02920" y="3054096"/>
            <a:ext cx="50292" cy="2286000"/>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58952" y="3191256"/>
            <a:ext cx="5065776" cy="292608"/>
          </a:xfrm>
          <a:prstGeom prst="rect">
            <a:avLst/>
          </a:prstGeom>
          <a:noFill/>
        </p:spPr>
        <p:txBody>
          <a:bodyPr wrap="square" lIns="0" tIns="0" rIns="0" bIns="0" anchor="t">
            <a:normAutofit/>
          </a:bodyPr>
          <a:lstStyle/>
          <a:p>
            <a:pPr algn="l">
              <a:lnSpc>
                <a:spcPct val="115000"/>
              </a:lnSpc>
              <a:spcAft>
                <a:spcPts val="0"/>
              </a:spcAft>
            </a:pPr>
            <a:r>
              <a:rPr sz="1250" b="1">
                <a:solidFill>
                  <a:srgbClr val="0B4F71"/>
                </a:solidFill>
                <a:latin typeface="Segoe UI"/>
              </a:rPr>
              <a:t>Ce que le client demande</a:t>
            </a:r>
          </a:p>
        </p:txBody>
      </p:sp>
      <p:sp>
        <p:nvSpPr>
          <p:cNvPr id="32" name="TextBox 31"/>
          <p:cNvSpPr txBox="1"/>
          <p:nvPr/>
        </p:nvSpPr>
        <p:spPr>
          <a:xfrm>
            <a:off x="758952" y="3529584"/>
            <a:ext cx="5065776" cy="1664207"/>
          </a:xfrm>
          <a:prstGeom prst="rect">
            <a:avLst/>
          </a:prstGeom>
          <a:noFill/>
        </p:spPr>
        <p:txBody>
          <a:bodyPr wrap="square" lIns="0" tIns="0" rIns="0" bIns="0" anchor="t">
            <a:normAutofit/>
          </a:bodyPr>
          <a:lstStyle/>
          <a:p>
            <a:pPr algn="l">
              <a:lnSpc>
                <a:spcPct val="122000"/>
              </a:lnSpc>
              <a:spcAft>
                <a:spcPts val="600"/>
              </a:spcAft>
            </a:pPr>
            <a:r>
              <a:rPr sz="1100" b="0">
                <a:solidFill>
                  <a:srgbClr val="0B4F71"/>
                </a:solidFill>
                <a:latin typeface="Segoe UI"/>
              </a:rPr>
              <a:t>« À l'approche de la révision budgétaire de fin du premier trimestre, Garanteo cherche à affiner sa stratégie d'acquisition digitale pour renforcer sa position sur son marché. »</a:t>
            </a:r>
          </a:p>
          <a:p>
            <a:pPr algn="l">
              <a:lnSpc>
                <a:spcPct val="122000"/>
              </a:lnSpc>
              <a:spcAft>
                <a:spcPts val="600"/>
              </a:spcAft>
            </a:pPr>
            <a:r>
              <a:rPr sz="1100" b="1">
                <a:solidFill>
                  <a:srgbClr val="0B4F71"/>
                </a:solidFill>
                <a:latin typeface="Segoe UI"/>
              </a:rPr>
              <a:t>Le besoin réel : </a:t>
            </a:r>
            <a:r>
              <a:rPr sz="1100" b="0">
                <a:solidFill>
                  <a:srgbClr val="33444F"/>
                </a:solidFill>
                <a:latin typeface="Segoe UI"/>
              </a:rPr>
              <a:t>savoir où remettre les 70 000 € du prochain budget. Personne chez Garanteo ne sait aujourd'hui ce que coûte un client, campagne par campagne.</a:t>
            </a:r>
          </a:p>
        </p:txBody>
      </p:sp>
      <p:sp>
        <p:nvSpPr>
          <p:cNvPr id="33" name="Rectangle 32"/>
          <p:cNvSpPr/>
          <p:nvPr/>
        </p:nvSpPr>
        <p:spPr>
          <a:xfrm>
            <a:off x="6208776" y="3054096"/>
            <a:ext cx="5486400" cy="2286000"/>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208776" y="3054096"/>
            <a:ext cx="50292" cy="2286000"/>
          </a:xfrm>
          <a:prstGeom prst="rect">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64808" y="3191256"/>
            <a:ext cx="5065776" cy="292608"/>
          </a:xfrm>
          <a:prstGeom prst="rect">
            <a:avLst/>
          </a:prstGeom>
          <a:noFill/>
        </p:spPr>
        <p:txBody>
          <a:bodyPr wrap="square" lIns="0" tIns="0" rIns="0" bIns="0" anchor="t">
            <a:normAutofit/>
          </a:bodyPr>
          <a:lstStyle/>
          <a:p>
            <a:pPr algn="l">
              <a:lnSpc>
                <a:spcPct val="115000"/>
              </a:lnSpc>
              <a:spcAft>
                <a:spcPts val="0"/>
              </a:spcAft>
            </a:pPr>
            <a:r>
              <a:rPr sz="1250" b="1">
                <a:solidFill>
                  <a:srgbClr val="D9534F"/>
                </a:solidFill>
                <a:latin typeface="Segoe UI"/>
              </a:rPr>
              <a:t>Pourquoi ils ne le savent pas</a:t>
            </a:r>
          </a:p>
        </p:txBody>
      </p:sp>
      <p:sp>
        <p:nvSpPr>
          <p:cNvPr id="36" name="TextBox 35"/>
          <p:cNvSpPr txBox="1"/>
          <p:nvPr/>
        </p:nvSpPr>
        <p:spPr>
          <a:xfrm>
            <a:off x="6464808" y="3529584"/>
            <a:ext cx="5065776" cy="1664207"/>
          </a:xfrm>
          <a:prstGeom prst="rect">
            <a:avLst/>
          </a:prstGeom>
          <a:noFill/>
        </p:spPr>
        <p:txBody>
          <a:bodyPr wrap="square" lIns="0" tIns="0" rIns="0" bIns="0" anchor="t">
            <a:normAutofit/>
          </a:bodyPr>
          <a:lstStyle/>
          <a:p>
            <a:pPr algn="l">
              <a:lnSpc>
                <a:spcPct val="122000"/>
              </a:lnSpc>
              <a:spcAft>
                <a:spcPts val="600"/>
              </a:spcAft>
            </a:pPr>
            <a:r>
              <a:rPr sz="1100" b="1">
                <a:solidFill>
                  <a:srgbClr val="0B4F71"/>
                </a:solidFill>
                <a:latin typeface="Segoe UI"/>
              </a:rPr>
              <a:t>Les données existent, mais ne se parlent pas. </a:t>
            </a:r>
            <a:r>
              <a:rPr sz="1100" b="0">
                <a:solidFill>
                  <a:srgbClr val="33444F"/>
                </a:solidFill>
                <a:latin typeface="Segoe UI"/>
              </a:rPr>
              <a:t>Suivi web, base prospects et suivi budgétaire sont trois silos séparés.</a:t>
            </a:r>
          </a:p>
          <a:p>
            <a:pPr algn="l">
              <a:lnSpc>
                <a:spcPct val="122000"/>
              </a:lnSpc>
              <a:spcAft>
                <a:spcPts val="600"/>
              </a:spcAft>
            </a:pPr>
            <a:r>
              <a:rPr sz="1100" b="1">
                <a:solidFill>
                  <a:srgbClr val="D9534F"/>
                </a:solidFill>
                <a:latin typeface="Segoe UI"/>
              </a:rPr>
              <a:t>Rien ne relie une dépense à un client. </a:t>
            </a:r>
            <a:r>
              <a:rPr sz="1100" b="0">
                <a:solidFill>
                  <a:srgbClr val="33444F"/>
                </a:solidFill>
                <a:latin typeface="Segoe UI"/>
              </a:rPr>
              <a:t>C'est la raison d'être de la mission : si le lien existait, elle n'aurait pas lieu d'être.</a:t>
            </a:r>
          </a:p>
        </p:txBody>
      </p:sp>
      <p:sp>
        <p:nvSpPr>
          <p:cNvPr id="37" name="TextBox 36"/>
          <p:cNvSpPr txBox="1"/>
          <p:nvPr/>
        </p:nvSpPr>
        <p:spPr>
          <a:xfrm>
            <a:off x="502920" y="5522976"/>
            <a:ext cx="11185855" cy="548640"/>
          </a:xfrm>
          <a:prstGeom prst="rect">
            <a:avLst/>
          </a:prstGeom>
          <a:noFill/>
        </p:spPr>
        <p:txBody>
          <a:bodyPr wrap="square" lIns="0" tIns="0" rIns="0" bIns="0" anchor="t">
            <a:normAutofit/>
          </a:bodyPr>
          <a:lstStyle/>
          <a:p>
            <a:pPr algn="l">
              <a:lnSpc>
                <a:spcPct val="115000"/>
              </a:lnSpc>
              <a:spcAft>
                <a:spcPts val="400"/>
              </a:spcAft>
            </a:pPr>
            <a:r>
              <a:rPr sz="1300" b="1">
                <a:solidFill>
                  <a:srgbClr val="0B4F71"/>
                </a:solidFill>
                <a:latin typeface="Segoe UI"/>
              </a:rPr>
              <a:t>Notre rôle : </a:t>
            </a:r>
            <a:r>
              <a:rPr sz="1300" b="0">
                <a:solidFill>
                  <a:srgbClr val="33444F"/>
                </a:solidFill>
                <a:latin typeface="Segoe UI"/>
              </a:rPr>
              <a:t>reconstruire ce lien, le chiffrer campagne par campagne, et dire lesquelles couper ou renforcer avant l'arbitrage budgétaire.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185855" cy="457200"/>
          </a:xfrm>
          <a:prstGeom prst="rect">
            <a:avLst/>
          </a:prstGeom>
          <a:noFill/>
        </p:spPr>
        <p:txBody>
          <a:bodyPr wrap="square" lIns="0" tIns="0" rIns="0" bIns="0" anchor="t">
            <a:normAutofit/>
          </a:bodyPr>
          <a:lstStyle/>
          <a:p>
            <a:pPr algn="l">
              <a:lnSpc>
                <a:spcPct val="115000"/>
              </a:lnSpc>
              <a:spcAft>
                <a:spcPts val="400"/>
              </a:spcAft>
            </a:pPr>
            <a:r>
              <a:rPr sz="2500" b="1">
                <a:solidFill>
                  <a:srgbClr val="0B4F71"/>
                </a:solidFill>
                <a:latin typeface="Segoe UI"/>
              </a:rPr>
              <a:t>La problématique, reformulée</a:t>
            </a:r>
          </a:p>
        </p:txBody>
      </p:sp>
      <p:sp>
        <p:nvSpPr>
          <p:cNvPr id="5" name="TextBox 4"/>
          <p:cNvSpPr txBox="1"/>
          <p:nvPr/>
        </p:nvSpPr>
        <p:spPr>
          <a:xfrm>
            <a:off x="502920" y="896112"/>
            <a:ext cx="11185855" cy="457200"/>
          </a:xfrm>
          <a:prstGeom prst="rect">
            <a:avLst/>
          </a:prstGeom>
          <a:noFill/>
        </p:spPr>
        <p:txBody>
          <a:bodyPr wrap="square" lIns="0" tIns="0" rIns="0" bIns="0" anchor="t">
            <a:normAutofit/>
          </a:bodyPr>
          <a:lstStyle/>
          <a:p>
            <a:pPr algn="l">
              <a:lnSpc>
                <a:spcPct val="115000"/>
              </a:lnSpc>
              <a:spcAft>
                <a:spcPts val="0"/>
              </a:spcAft>
            </a:pPr>
            <a:r>
              <a:rPr sz="1300" b="0">
                <a:solidFill>
                  <a:srgbClr val="33444F"/>
                </a:solidFill>
                <a:latin typeface="Segoe UI"/>
              </a:rPr>
              <a:t>Méthode des 5 pourquoi : de la demande du client à la cause racine.</a:t>
            </a:r>
          </a:p>
        </p:txBody>
      </p:sp>
      <p:sp>
        <p:nvSpPr>
          <p:cNvPr id="6" name="Rectangle 5"/>
          <p:cNvSpPr/>
          <p:nvPr/>
        </p:nvSpPr>
        <p:spPr>
          <a:xfrm>
            <a:off x="0" y="6574536"/>
            <a:ext cx="12191695" cy="18288"/>
          </a:xfrm>
          <a:prstGeom prst="rect">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620256"/>
            <a:ext cx="7315200" cy="219456"/>
          </a:xfrm>
          <a:prstGeom prst="rect">
            <a:avLst/>
          </a:prstGeom>
          <a:noFill/>
        </p:spPr>
        <p:txBody>
          <a:bodyPr wrap="square" lIns="0" tIns="0" rIns="0" bIns="0" anchor="t">
            <a:normAutofit/>
          </a:bodyPr>
          <a:lstStyle/>
          <a:p>
            <a:pPr algn="l">
              <a:lnSpc>
                <a:spcPct val="115000"/>
              </a:lnSpc>
              <a:spcAft>
                <a:spcPts val="400"/>
              </a:spcAft>
            </a:pPr>
            <a:r>
              <a:rPr sz="850" b="0">
                <a:solidFill>
                  <a:srgbClr val="8B98A5"/>
                </a:solidFill>
                <a:latin typeface="Segoe UI"/>
              </a:rPr>
              <a:t>Garanteo · Projet final DataBird · Sophie Paradon</a:t>
            </a:r>
          </a:p>
        </p:txBody>
      </p:sp>
      <p:sp>
        <p:nvSpPr>
          <p:cNvPr id="8" name="TextBox 7"/>
          <p:cNvSpPr txBox="1"/>
          <p:nvPr/>
        </p:nvSpPr>
        <p:spPr>
          <a:xfrm>
            <a:off x="8579815" y="6620256"/>
            <a:ext cx="3108960" cy="219456"/>
          </a:xfrm>
          <a:prstGeom prst="rect">
            <a:avLst/>
          </a:prstGeom>
          <a:noFill/>
        </p:spPr>
        <p:txBody>
          <a:bodyPr wrap="square" lIns="0" tIns="0" rIns="0" bIns="0" anchor="t">
            <a:normAutofit/>
          </a:bodyPr>
          <a:lstStyle/>
          <a:p>
            <a:pPr algn="r">
              <a:lnSpc>
                <a:spcPct val="115000"/>
              </a:lnSpc>
              <a:spcAft>
                <a:spcPts val="400"/>
              </a:spcAft>
            </a:pPr>
            <a:r>
              <a:rPr sz="850" b="0">
                <a:solidFill>
                  <a:srgbClr val="8B98A5"/>
                </a:solidFill>
                <a:latin typeface="Segoe UI"/>
              </a:rPr>
              <a:t>Cadrage   ·   5</a:t>
            </a:r>
          </a:p>
        </p:txBody>
      </p:sp>
      <p:sp>
        <p:nvSpPr>
          <p:cNvPr id="9" name="Rectangle 8"/>
          <p:cNvSpPr/>
          <p:nvPr/>
        </p:nvSpPr>
        <p:spPr>
          <a:xfrm>
            <a:off x="502920" y="1444752"/>
            <a:ext cx="5532120" cy="493776"/>
          </a:xfrm>
          <a:prstGeom prst="rect">
            <a:avLst/>
          </a:prstGeom>
          <a:solidFill>
            <a:srgbClr val="FFFFFF"/>
          </a:solidFill>
          <a:ln w="889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7512" y="1490472"/>
            <a:ext cx="320040" cy="365760"/>
          </a:xfrm>
          <a:prstGeom prst="rect">
            <a:avLst/>
          </a:prstGeom>
          <a:noFill/>
        </p:spPr>
        <p:txBody>
          <a:bodyPr wrap="square" lIns="0" tIns="0" rIns="0" bIns="0" anchor="t">
            <a:normAutofit/>
          </a:bodyPr>
          <a:lstStyle/>
          <a:p>
            <a:pPr algn="l">
              <a:lnSpc>
                <a:spcPct val="115000"/>
              </a:lnSpc>
              <a:spcAft>
                <a:spcPts val="400"/>
              </a:spcAft>
            </a:pPr>
            <a:r>
              <a:rPr sz="1300" b="1">
                <a:solidFill>
                  <a:srgbClr val="1CA7C4"/>
                </a:solidFill>
                <a:latin typeface="Segoe UI"/>
              </a:rPr>
              <a:t>1</a:t>
            </a:r>
          </a:p>
        </p:txBody>
      </p:sp>
      <p:sp>
        <p:nvSpPr>
          <p:cNvPr id="11" name="TextBox 10"/>
          <p:cNvSpPr txBox="1"/>
          <p:nvPr/>
        </p:nvSpPr>
        <p:spPr>
          <a:xfrm>
            <a:off x="1033271" y="1481328"/>
            <a:ext cx="4846320" cy="201168"/>
          </a:xfrm>
          <a:prstGeom prst="rect">
            <a:avLst/>
          </a:prstGeom>
          <a:noFill/>
        </p:spPr>
        <p:txBody>
          <a:bodyPr wrap="square" lIns="0" tIns="0" rIns="0" bIns="0" anchor="t">
            <a:normAutofit/>
          </a:bodyPr>
          <a:lstStyle/>
          <a:p>
            <a:pPr algn="l">
              <a:lnSpc>
                <a:spcPct val="115000"/>
              </a:lnSpc>
              <a:spcAft>
                <a:spcPts val="400"/>
              </a:spcAft>
            </a:pPr>
            <a:r>
              <a:rPr sz="950" b="1">
                <a:solidFill>
                  <a:srgbClr val="8B98A5"/>
                </a:solidFill>
                <a:latin typeface="Segoe UI"/>
              </a:rPr>
              <a:t>Pourquoi affiner la stratégie d'acquisition ?</a:t>
            </a:r>
          </a:p>
        </p:txBody>
      </p:sp>
      <p:sp>
        <p:nvSpPr>
          <p:cNvPr id="12" name="TextBox 11"/>
          <p:cNvSpPr txBox="1"/>
          <p:nvPr/>
        </p:nvSpPr>
        <p:spPr>
          <a:xfrm>
            <a:off x="1033271" y="1682496"/>
            <a:ext cx="4846320" cy="237744"/>
          </a:xfrm>
          <a:prstGeom prst="rect">
            <a:avLst/>
          </a:prstGeom>
          <a:noFill/>
        </p:spPr>
        <p:txBody>
          <a:bodyPr wrap="square" lIns="0" tIns="0" rIns="0" bIns="0" anchor="t">
            <a:normAutofit/>
          </a:bodyPr>
          <a:lstStyle/>
          <a:p>
            <a:pPr algn="l">
              <a:lnSpc>
                <a:spcPct val="115000"/>
              </a:lnSpc>
              <a:spcAft>
                <a:spcPts val="400"/>
              </a:spcAft>
            </a:pPr>
            <a:r>
              <a:rPr sz="1050" b="0">
                <a:solidFill>
                  <a:srgbClr val="33444F"/>
                </a:solidFill>
                <a:latin typeface="Segoe UI"/>
              </a:rPr>
              <a:t>Pour mieux dépenser les 70 000 € à la prochaine révision budgétaire.</a:t>
            </a:r>
          </a:p>
        </p:txBody>
      </p:sp>
      <p:sp>
        <p:nvSpPr>
          <p:cNvPr id="13" name="Rectangle 12"/>
          <p:cNvSpPr/>
          <p:nvPr/>
        </p:nvSpPr>
        <p:spPr>
          <a:xfrm>
            <a:off x="502920" y="2011680"/>
            <a:ext cx="5532120" cy="493776"/>
          </a:xfrm>
          <a:prstGeom prst="rect">
            <a:avLst/>
          </a:prstGeom>
          <a:solidFill>
            <a:srgbClr val="FFFFFF"/>
          </a:solidFill>
          <a:ln w="889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7512" y="2057400"/>
            <a:ext cx="320040" cy="365760"/>
          </a:xfrm>
          <a:prstGeom prst="rect">
            <a:avLst/>
          </a:prstGeom>
          <a:noFill/>
        </p:spPr>
        <p:txBody>
          <a:bodyPr wrap="square" lIns="0" tIns="0" rIns="0" bIns="0" anchor="t">
            <a:normAutofit/>
          </a:bodyPr>
          <a:lstStyle/>
          <a:p>
            <a:pPr algn="l">
              <a:lnSpc>
                <a:spcPct val="115000"/>
              </a:lnSpc>
              <a:spcAft>
                <a:spcPts val="400"/>
              </a:spcAft>
            </a:pPr>
            <a:r>
              <a:rPr sz="1300" b="1">
                <a:solidFill>
                  <a:srgbClr val="1CA7C4"/>
                </a:solidFill>
                <a:latin typeface="Segoe UI"/>
              </a:rPr>
              <a:t>2</a:t>
            </a:r>
          </a:p>
        </p:txBody>
      </p:sp>
      <p:sp>
        <p:nvSpPr>
          <p:cNvPr id="15" name="TextBox 14"/>
          <p:cNvSpPr txBox="1"/>
          <p:nvPr/>
        </p:nvSpPr>
        <p:spPr>
          <a:xfrm>
            <a:off x="1033271" y="2048256"/>
            <a:ext cx="4846320" cy="201168"/>
          </a:xfrm>
          <a:prstGeom prst="rect">
            <a:avLst/>
          </a:prstGeom>
          <a:noFill/>
        </p:spPr>
        <p:txBody>
          <a:bodyPr wrap="square" lIns="0" tIns="0" rIns="0" bIns="0" anchor="t">
            <a:normAutofit/>
          </a:bodyPr>
          <a:lstStyle/>
          <a:p>
            <a:pPr algn="l">
              <a:lnSpc>
                <a:spcPct val="115000"/>
              </a:lnSpc>
              <a:spcAft>
                <a:spcPts val="400"/>
              </a:spcAft>
            </a:pPr>
            <a:r>
              <a:rPr sz="950" b="1">
                <a:solidFill>
                  <a:srgbClr val="8B98A5"/>
                </a:solidFill>
                <a:latin typeface="Segoe UI"/>
              </a:rPr>
              <a:t>Pourquoi ne sait-on pas déjà bien les dépenser ?</a:t>
            </a:r>
          </a:p>
        </p:txBody>
      </p:sp>
      <p:sp>
        <p:nvSpPr>
          <p:cNvPr id="16" name="TextBox 15"/>
          <p:cNvSpPr txBox="1"/>
          <p:nvPr/>
        </p:nvSpPr>
        <p:spPr>
          <a:xfrm>
            <a:off x="1033271" y="2249424"/>
            <a:ext cx="4846320" cy="237744"/>
          </a:xfrm>
          <a:prstGeom prst="rect">
            <a:avLst/>
          </a:prstGeom>
          <a:noFill/>
        </p:spPr>
        <p:txBody>
          <a:bodyPr wrap="square" lIns="0" tIns="0" rIns="0" bIns="0" anchor="t">
            <a:normAutofit/>
          </a:bodyPr>
          <a:lstStyle/>
          <a:p>
            <a:pPr algn="l">
              <a:lnSpc>
                <a:spcPct val="115000"/>
              </a:lnSpc>
              <a:spcAft>
                <a:spcPts val="400"/>
              </a:spcAft>
            </a:pPr>
            <a:r>
              <a:rPr sz="1050" b="0">
                <a:solidFill>
                  <a:srgbClr val="33444F"/>
                </a:solidFill>
                <a:latin typeface="Segoe UI"/>
              </a:rPr>
              <a:t>Le coût réel par client, campagne par campagne, n'est pas connu.</a:t>
            </a:r>
          </a:p>
        </p:txBody>
      </p:sp>
      <p:sp>
        <p:nvSpPr>
          <p:cNvPr id="17" name="Rectangle 16"/>
          <p:cNvSpPr/>
          <p:nvPr/>
        </p:nvSpPr>
        <p:spPr>
          <a:xfrm>
            <a:off x="502920" y="2578608"/>
            <a:ext cx="5532120" cy="493776"/>
          </a:xfrm>
          <a:prstGeom prst="rect">
            <a:avLst/>
          </a:prstGeom>
          <a:solidFill>
            <a:srgbClr val="FFFFFF"/>
          </a:solidFill>
          <a:ln w="889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7512" y="2624328"/>
            <a:ext cx="320040" cy="365760"/>
          </a:xfrm>
          <a:prstGeom prst="rect">
            <a:avLst/>
          </a:prstGeom>
          <a:noFill/>
        </p:spPr>
        <p:txBody>
          <a:bodyPr wrap="square" lIns="0" tIns="0" rIns="0" bIns="0" anchor="t">
            <a:normAutofit/>
          </a:bodyPr>
          <a:lstStyle/>
          <a:p>
            <a:pPr algn="l">
              <a:lnSpc>
                <a:spcPct val="115000"/>
              </a:lnSpc>
              <a:spcAft>
                <a:spcPts val="400"/>
              </a:spcAft>
            </a:pPr>
            <a:r>
              <a:rPr sz="1300" b="1">
                <a:solidFill>
                  <a:srgbClr val="1CA7C4"/>
                </a:solidFill>
                <a:latin typeface="Segoe UI"/>
              </a:rPr>
              <a:t>3</a:t>
            </a:r>
          </a:p>
        </p:txBody>
      </p:sp>
      <p:sp>
        <p:nvSpPr>
          <p:cNvPr id="19" name="TextBox 18"/>
          <p:cNvSpPr txBox="1"/>
          <p:nvPr/>
        </p:nvSpPr>
        <p:spPr>
          <a:xfrm>
            <a:off x="1033271" y="2615184"/>
            <a:ext cx="4846320" cy="201168"/>
          </a:xfrm>
          <a:prstGeom prst="rect">
            <a:avLst/>
          </a:prstGeom>
          <a:noFill/>
        </p:spPr>
        <p:txBody>
          <a:bodyPr wrap="square" lIns="0" tIns="0" rIns="0" bIns="0" anchor="t">
            <a:normAutofit/>
          </a:bodyPr>
          <a:lstStyle/>
          <a:p>
            <a:pPr algn="l">
              <a:lnSpc>
                <a:spcPct val="115000"/>
              </a:lnSpc>
              <a:spcAft>
                <a:spcPts val="400"/>
              </a:spcAft>
            </a:pPr>
            <a:r>
              <a:rPr sz="950" b="1">
                <a:solidFill>
                  <a:srgbClr val="8B98A5"/>
                </a:solidFill>
                <a:latin typeface="Segoe UI"/>
              </a:rPr>
              <a:t>Pourquoi n'est-il pas connu ?</a:t>
            </a:r>
          </a:p>
        </p:txBody>
      </p:sp>
      <p:sp>
        <p:nvSpPr>
          <p:cNvPr id="20" name="TextBox 19"/>
          <p:cNvSpPr txBox="1"/>
          <p:nvPr/>
        </p:nvSpPr>
        <p:spPr>
          <a:xfrm>
            <a:off x="1033271" y="2816352"/>
            <a:ext cx="4846320" cy="237744"/>
          </a:xfrm>
          <a:prstGeom prst="rect">
            <a:avLst/>
          </a:prstGeom>
          <a:noFill/>
        </p:spPr>
        <p:txBody>
          <a:bodyPr wrap="square" lIns="0" tIns="0" rIns="0" bIns="0" anchor="t">
            <a:normAutofit/>
          </a:bodyPr>
          <a:lstStyle/>
          <a:p>
            <a:pPr algn="l">
              <a:lnSpc>
                <a:spcPct val="115000"/>
              </a:lnSpc>
              <a:spcAft>
                <a:spcPts val="400"/>
              </a:spcAft>
            </a:pPr>
            <a:r>
              <a:rPr sz="1050" b="0">
                <a:solidFill>
                  <a:srgbClr val="33444F"/>
                </a:solidFill>
                <a:latin typeface="Segoe UI"/>
              </a:rPr>
              <a:t>Les 4 sources de données ne sont jamais reliées ni nettoyées.</a:t>
            </a:r>
          </a:p>
        </p:txBody>
      </p:sp>
      <p:sp>
        <p:nvSpPr>
          <p:cNvPr id="21" name="Rectangle 20"/>
          <p:cNvSpPr/>
          <p:nvPr/>
        </p:nvSpPr>
        <p:spPr>
          <a:xfrm>
            <a:off x="502920" y="3145536"/>
            <a:ext cx="5532120" cy="493776"/>
          </a:xfrm>
          <a:prstGeom prst="rect">
            <a:avLst/>
          </a:prstGeom>
          <a:solidFill>
            <a:srgbClr val="FFFFFF"/>
          </a:solidFill>
          <a:ln w="889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7512" y="3191256"/>
            <a:ext cx="320040" cy="365760"/>
          </a:xfrm>
          <a:prstGeom prst="rect">
            <a:avLst/>
          </a:prstGeom>
          <a:noFill/>
        </p:spPr>
        <p:txBody>
          <a:bodyPr wrap="square" lIns="0" tIns="0" rIns="0" bIns="0" anchor="t">
            <a:normAutofit/>
          </a:bodyPr>
          <a:lstStyle/>
          <a:p>
            <a:pPr algn="l">
              <a:lnSpc>
                <a:spcPct val="115000"/>
              </a:lnSpc>
              <a:spcAft>
                <a:spcPts val="400"/>
              </a:spcAft>
            </a:pPr>
            <a:r>
              <a:rPr sz="1300" b="1">
                <a:solidFill>
                  <a:srgbClr val="1CA7C4"/>
                </a:solidFill>
                <a:latin typeface="Segoe UI"/>
              </a:rPr>
              <a:t>4</a:t>
            </a:r>
          </a:p>
        </p:txBody>
      </p:sp>
      <p:sp>
        <p:nvSpPr>
          <p:cNvPr id="23" name="TextBox 22"/>
          <p:cNvSpPr txBox="1"/>
          <p:nvPr/>
        </p:nvSpPr>
        <p:spPr>
          <a:xfrm>
            <a:off x="1033271" y="3182112"/>
            <a:ext cx="4846320" cy="201168"/>
          </a:xfrm>
          <a:prstGeom prst="rect">
            <a:avLst/>
          </a:prstGeom>
          <a:noFill/>
        </p:spPr>
        <p:txBody>
          <a:bodyPr wrap="square" lIns="0" tIns="0" rIns="0" bIns="0" anchor="t">
            <a:normAutofit/>
          </a:bodyPr>
          <a:lstStyle/>
          <a:p>
            <a:pPr algn="l">
              <a:lnSpc>
                <a:spcPct val="115000"/>
              </a:lnSpc>
              <a:spcAft>
                <a:spcPts val="400"/>
              </a:spcAft>
            </a:pPr>
            <a:r>
              <a:rPr sz="950" b="1">
                <a:solidFill>
                  <a:srgbClr val="8B98A5"/>
                </a:solidFill>
                <a:latin typeface="Segoe UI"/>
              </a:rPr>
              <a:t>Pourquoi ne sont-elles pas reliées ?</a:t>
            </a:r>
          </a:p>
        </p:txBody>
      </p:sp>
      <p:sp>
        <p:nvSpPr>
          <p:cNvPr id="24" name="TextBox 23"/>
          <p:cNvSpPr txBox="1"/>
          <p:nvPr/>
        </p:nvSpPr>
        <p:spPr>
          <a:xfrm>
            <a:off x="1033271" y="3383280"/>
            <a:ext cx="4846320" cy="237744"/>
          </a:xfrm>
          <a:prstGeom prst="rect">
            <a:avLst/>
          </a:prstGeom>
          <a:noFill/>
        </p:spPr>
        <p:txBody>
          <a:bodyPr wrap="square" lIns="0" tIns="0" rIns="0" bIns="0" anchor="t">
            <a:normAutofit/>
          </a:bodyPr>
          <a:lstStyle/>
          <a:p>
            <a:pPr algn="l">
              <a:lnSpc>
                <a:spcPct val="115000"/>
              </a:lnSpc>
              <a:spcAft>
                <a:spcPts val="400"/>
              </a:spcAft>
            </a:pPr>
            <a:r>
              <a:rPr sz="1050" b="0">
                <a:solidFill>
                  <a:srgbClr val="33444F"/>
                </a:solidFill>
                <a:latin typeface="Segoe UI"/>
              </a:rPr>
              <a:t>Pas d'équipe data interne, pas de gouvernance qualité.</a:t>
            </a:r>
          </a:p>
        </p:txBody>
      </p:sp>
      <p:sp>
        <p:nvSpPr>
          <p:cNvPr id="25" name="Rectangle 24"/>
          <p:cNvSpPr/>
          <p:nvPr/>
        </p:nvSpPr>
        <p:spPr>
          <a:xfrm>
            <a:off x="502920" y="3712464"/>
            <a:ext cx="5532120" cy="493776"/>
          </a:xfrm>
          <a:prstGeom prst="rect">
            <a:avLst/>
          </a:prstGeom>
          <a:solidFill>
            <a:srgbClr val="FFFFFF"/>
          </a:solidFill>
          <a:ln w="889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7512" y="3758184"/>
            <a:ext cx="320040" cy="365760"/>
          </a:xfrm>
          <a:prstGeom prst="rect">
            <a:avLst/>
          </a:prstGeom>
          <a:noFill/>
        </p:spPr>
        <p:txBody>
          <a:bodyPr wrap="square" lIns="0" tIns="0" rIns="0" bIns="0" anchor="t">
            <a:normAutofit/>
          </a:bodyPr>
          <a:lstStyle/>
          <a:p>
            <a:pPr algn="l">
              <a:lnSpc>
                <a:spcPct val="115000"/>
              </a:lnSpc>
              <a:spcAft>
                <a:spcPts val="400"/>
              </a:spcAft>
            </a:pPr>
            <a:r>
              <a:rPr sz="1300" b="1">
                <a:solidFill>
                  <a:srgbClr val="D9534F"/>
                </a:solidFill>
                <a:latin typeface="Segoe UI"/>
              </a:rPr>
              <a:t>!</a:t>
            </a:r>
          </a:p>
        </p:txBody>
      </p:sp>
      <p:sp>
        <p:nvSpPr>
          <p:cNvPr id="27" name="TextBox 26"/>
          <p:cNvSpPr txBox="1"/>
          <p:nvPr/>
        </p:nvSpPr>
        <p:spPr>
          <a:xfrm>
            <a:off x="1033271" y="3749040"/>
            <a:ext cx="4846320" cy="201168"/>
          </a:xfrm>
          <a:prstGeom prst="rect">
            <a:avLst/>
          </a:prstGeom>
          <a:noFill/>
        </p:spPr>
        <p:txBody>
          <a:bodyPr wrap="square" lIns="0" tIns="0" rIns="0" bIns="0" anchor="t">
            <a:normAutofit/>
          </a:bodyPr>
          <a:lstStyle/>
          <a:p>
            <a:pPr algn="l">
              <a:lnSpc>
                <a:spcPct val="115000"/>
              </a:lnSpc>
              <a:spcAft>
                <a:spcPts val="400"/>
              </a:spcAft>
            </a:pPr>
            <a:r>
              <a:rPr sz="950" b="1">
                <a:solidFill>
                  <a:srgbClr val="8B98A5"/>
                </a:solidFill>
                <a:latin typeface="Segoe UI"/>
              </a:rPr>
              <a:t>Cause racine</a:t>
            </a:r>
          </a:p>
        </p:txBody>
      </p:sp>
      <p:sp>
        <p:nvSpPr>
          <p:cNvPr id="28" name="TextBox 27"/>
          <p:cNvSpPr txBox="1"/>
          <p:nvPr/>
        </p:nvSpPr>
        <p:spPr>
          <a:xfrm>
            <a:off x="1033271" y="3950208"/>
            <a:ext cx="4846320" cy="237744"/>
          </a:xfrm>
          <a:prstGeom prst="rect">
            <a:avLst/>
          </a:prstGeom>
          <a:noFill/>
        </p:spPr>
        <p:txBody>
          <a:bodyPr wrap="square" lIns="0" tIns="0" rIns="0" bIns="0" anchor="t">
            <a:normAutofit/>
          </a:bodyPr>
          <a:lstStyle/>
          <a:p>
            <a:pPr algn="l">
              <a:lnSpc>
                <a:spcPct val="115000"/>
              </a:lnSpc>
              <a:spcAft>
                <a:spcPts val="400"/>
              </a:spcAft>
            </a:pPr>
            <a:r>
              <a:rPr sz="1050" b="0">
                <a:solidFill>
                  <a:srgbClr val="33444F"/>
                </a:solidFill>
                <a:latin typeface="Segoe UI"/>
              </a:rPr>
              <a:t>Garanteo ne peut pas comparer objectivement ses 13 campagnes entre elles.</a:t>
            </a:r>
          </a:p>
        </p:txBody>
      </p:sp>
      <p:sp>
        <p:nvSpPr>
          <p:cNvPr id="29" name="Rectangle 28"/>
          <p:cNvSpPr/>
          <p:nvPr/>
        </p:nvSpPr>
        <p:spPr>
          <a:xfrm>
            <a:off x="6263640" y="1444752"/>
            <a:ext cx="5440680" cy="1417320"/>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263640" y="1444752"/>
            <a:ext cx="50292" cy="1417320"/>
          </a:xfrm>
          <a:prstGeom prst="rect">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519672" y="1581912"/>
            <a:ext cx="5020056" cy="292608"/>
          </a:xfrm>
          <a:prstGeom prst="rect">
            <a:avLst/>
          </a:prstGeom>
          <a:noFill/>
        </p:spPr>
        <p:txBody>
          <a:bodyPr wrap="square" lIns="0" tIns="0" rIns="0" bIns="0" anchor="t">
            <a:normAutofit/>
          </a:bodyPr>
          <a:lstStyle/>
          <a:p>
            <a:pPr algn="l">
              <a:lnSpc>
                <a:spcPct val="115000"/>
              </a:lnSpc>
              <a:spcAft>
                <a:spcPts val="0"/>
              </a:spcAft>
            </a:pPr>
            <a:r>
              <a:rPr sz="1250" b="1">
                <a:solidFill>
                  <a:srgbClr val="D9534F"/>
                </a:solidFill>
                <a:latin typeface="Segoe UI"/>
              </a:rPr>
              <a:t>La problématique retenue</a:t>
            </a:r>
          </a:p>
        </p:txBody>
      </p:sp>
      <p:sp>
        <p:nvSpPr>
          <p:cNvPr id="32" name="TextBox 31"/>
          <p:cNvSpPr txBox="1"/>
          <p:nvPr/>
        </p:nvSpPr>
        <p:spPr>
          <a:xfrm>
            <a:off x="6519672" y="1920240"/>
            <a:ext cx="5020056" cy="795528"/>
          </a:xfrm>
          <a:prstGeom prst="rect">
            <a:avLst/>
          </a:prstGeom>
          <a:noFill/>
        </p:spPr>
        <p:txBody>
          <a:bodyPr wrap="square" lIns="0" tIns="0" rIns="0" bIns="0" anchor="t">
            <a:normAutofit/>
          </a:bodyPr>
          <a:lstStyle/>
          <a:p>
            <a:pPr algn="l">
              <a:lnSpc>
                <a:spcPct val="122000"/>
              </a:lnSpc>
              <a:spcAft>
                <a:spcPts val="600"/>
              </a:spcAft>
            </a:pPr>
            <a:r>
              <a:rPr sz="1300" b="1">
                <a:solidFill>
                  <a:srgbClr val="0B4F71"/>
                </a:solidFill>
                <a:latin typeface="Segoe UI"/>
              </a:rPr>
              <a:t>Quel est le coût d'acquisition réel de chacune des 13 campagnes, et lesquelles faut-il renforcer ou couper avant la révision budgétaire ?</a:t>
            </a:r>
          </a:p>
        </p:txBody>
      </p:sp>
      <p:sp>
        <p:nvSpPr>
          <p:cNvPr id="33" name="TextBox 32"/>
          <p:cNvSpPr txBox="1"/>
          <p:nvPr/>
        </p:nvSpPr>
        <p:spPr>
          <a:xfrm>
            <a:off x="6263640" y="3026664"/>
            <a:ext cx="5440680" cy="274320"/>
          </a:xfrm>
          <a:prstGeom prst="rect">
            <a:avLst/>
          </a:prstGeom>
          <a:noFill/>
        </p:spPr>
        <p:txBody>
          <a:bodyPr wrap="square" lIns="0" tIns="0" rIns="0" bIns="0" anchor="t">
            <a:normAutofit/>
          </a:bodyPr>
          <a:lstStyle/>
          <a:p>
            <a:pPr algn="l">
              <a:lnSpc>
                <a:spcPct val="115000"/>
              </a:lnSpc>
              <a:spcAft>
                <a:spcPts val="400"/>
              </a:spcAft>
            </a:pPr>
            <a:r>
              <a:rPr sz="1250" b="1">
                <a:solidFill>
                  <a:srgbClr val="0B4F71"/>
                </a:solidFill>
                <a:latin typeface="Segoe UI"/>
              </a:rPr>
              <a:t>Les 3 sous-problématiques</a:t>
            </a:r>
          </a:p>
        </p:txBody>
      </p:sp>
      <p:sp>
        <p:nvSpPr>
          <p:cNvPr id="34" name="Rectangle 33"/>
          <p:cNvSpPr/>
          <p:nvPr/>
        </p:nvSpPr>
        <p:spPr>
          <a:xfrm>
            <a:off x="6263640" y="3364992"/>
            <a:ext cx="5440680" cy="658368"/>
          </a:xfrm>
          <a:prstGeom prst="rect">
            <a:avLst/>
          </a:prstGeom>
          <a:solidFill>
            <a:srgbClr val="FFFFFF"/>
          </a:solidFill>
          <a:ln w="889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263640" y="3364992"/>
            <a:ext cx="50292" cy="658368"/>
          </a:xfrm>
          <a:prstGeom prst="rect">
            <a:avLst/>
          </a:prstGeom>
          <a:solidFill>
            <a:srgbClr val="1CA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92240" y="3529584"/>
            <a:ext cx="274320" cy="365760"/>
          </a:xfrm>
          <a:prstGeom prst="rect">
            <a:avLst/>
          </a:prstGeom>
          <a:noFill/>
        </p:spPr>
        <p:txBody>
          <a:bodyPr wrap="square" lIns="0" tIns="0" rIns="0" bIns="0" anchor="t">
            <a:normAutofit/>
          </a:bodyPr>
          <a:lstStyle/>
          <a:p>
            <a:pPr algn="l">
              <a:lnSpc>
                <a:spcPct val="115000"/>
              </a:lnSpc>
              <a:spcAft>
                <a:spcPts val="400"/>
              </a:spcAft>
            </a:pPr>
            <a:r>
              <a:rPr sz="1500" b="1">
                <a:solidFill>
                  <a:srgbClr val="1CA7C4"/>
                </a:solidFill>
                <a:latin typeface="Segoe UI"/>
              </a:rPr>
              <a:t>1</a:t>
            </a:r>
          </a:p>
        </p:txBody>
      </p:sp>
      <p:sp>
        <p:nvSpPr>
          <p:cNvPr id="37" name="TextBox 36"/>
          <p:cNvSpPr txBox="1"/>
          <p:nvPr/>
        </p:nvSpPr>
        <p:spPr>
          <a:xfrm>
            <a:off x="6858000" y="3465576"/>
            <a:ext cx="4709160" cy="457200"/>
          </a:xfrm>
          <a:prstGeom prst="rect">
            <a:avLst/>
          </a:prstGeom>
          <a:noFill/>
        </p:spPr>
        <p:txBody>
          <a:bodyPr wrap="square" lIns="0" tIns="0" rIns="0" bIns="0" anchor="t">
            <a:normAutofit/>
          </a:bodyPr>
          <a:lstStyle/>
          <a:p>
            <a:pPr algn="l">
              <a:lnSpc>
                <a:spcPct val="120000"/>
              </a:lnSpc>
              <a:spcAft>
                <a:spcPts val="400"/>
              </a:spcAft>
            </a:pPr>
            <a:r>
              <a:rPr sz="1050" b="0">
                <a:solidFill>
                  <a:srgbClr val="33444F"/>
                </a:solidFill>
                <a:latin typeface="Segoe UI"/>
              </a:rPr>
              <a:t>Une fois les données dédoublonnées et jointes, quel est le coût d'acquisition réel de chaque campagne ?</a:t>
            </a:r>
          </a:p>
        </p:txBody>
      </p:sp>
      <p:sp>
        <p:nvSpPr>
          <p:cNvPr id="38" name="Rectangle 37"/>
          <p:cNvSpPr/>
          <p:nvPr/>
        </p:nvSpPr>
        <p:spPr>
          <a:xfrm>
            <a:off x="6263640" y="4114800"/>
            <a:ext cx="5440680" cy="658368"/>
          </a:xfrm>
          <a:prstGeom prst="rect">
            <a:avLst/>
          </a:prstGeom>
          <a:solidFill>
            <a:srgbClr val="FFFFFF"/>
          </a:solidFill>
          <a:ln w="889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263640" y="4114800"/>
            <a:ext cx="50292" cy="658368"/>
          </a:xfrm>
          <a:prstGeom prst="rect">
            <a:avLst/>
          </a:prstGeom>
          <a:solidFill>
            <a:srgbClr val="1CA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492240" y="4279392"/>
            <a:ext cx="274320" cy="365760"/>
          </a:xfrm>
          <a:prstGeom prst="rect">
            <a:avLst/>
          </a:prstGeom>
          <a:noFill/>
        </p:spPr>
        <p:txBody>
          <a:bodyPr wrap="square" lIns="0" tIns="0" rIns="0" bIns="0" anchor="t">
            <a:normAutofit/>
          </a:bodyPr>
          <a:lstStyle/>
          <a:p>
            <a:pPr algn="l">
              <a:lnSpc>
                <a:spcPct val="115000"/>
              </a:lnSpc>
              <a:spcAft>
                <a:spcPts val="400"/>
              </a:spcAft>
            </a:pPr>
            <a:r>
              <a:rPr sz="1500" b="1">
                <a:solidFill>
                  <a:srgbClr val="1CA7C4"/>
                </a:solidFill>
                <a:latin typeface="Segoe UI"/>
              </a:rPr>
              <a:t>2</a:t>
            </a:r>
          </a:p>
        </p:txBody>
      </p:sp>
      <p:sp>
        <p:nvSpPr>
          <p:cNvPr id="41" name="TextBox 40"/>
          <p:cNvSpPr txBox="1"/>
          <p:nvPr/>
        </p:nvSpPr>
        <p:spPr>
          <a:xfrm>
            <a:off x="6858000" y="4215384"/>
            <a:ext cx="4709160" cy="457200"/>
          </a:xfrm>
          <a:prstGeom prst="rect">
            <a:avLst/>
          </a:prstGeom>
          <a:noFill/>
        </p:spPr>
        <p:txBody>
          <a:bodyPr wrap="square" lIns="0" tIns="0" rIns="0" bIns="0" anchor="t">
            <a:normAutofit/>
          </a:bodyPr>
          <a:lstStyle/>
          <a:p>
            <a:pPr algn="l">
              <a:lnSpc>
                <a:spcPct val="120000"/>
              </a:lnSpc>
              <a:spcAft>
                <a:spcPts val="400"/>
              </a:spcAft>
            </a:pPr>
            <a:r>
              <a:rPr sz="1050" b="0">
                <a:solidFill>
                  <a:srgbClr val="33444F"/>
                </a:solidFill>
                <a:latin typeface="Segoe UI"/>
              </a:rPr>
              <a:t>Le classement des campagnes change-t-il selon la règle d'attribution retenue ? Laquelle recommander ?</a:t>
            </a:r>
          </a:p>
        </p:txBody>
      </p:sp>
      <p:sp>
        <p:nvSpPr>
          <p:cNvPr id="42" name="Rectangle 41"/>
          <p:cNvSpPr/>
          <p:nvPr/>
        </p:nvSpPr>
        <p:spPr>
          <a:xfrm>
            <a:off x="6263640" y="4864608"/>
            <a:ext cx="5440680" cy="658368"/>
          </a:xfrm>
          <a:prstGeom prst="rect">
            <a:avLst/>
          </a:prstGeom>
          <a:solidFill>
            <a:srgbClr val="FFFFFF"/>
          </a:solidFill>
          <a:ln w="889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6263640" y="4864608"/>
            <a:ext cx="50292" cy="658368"/>
          </a:xfrm>
          <a:prstGeom prst="rect">
            <a:avLst/>
          </a:prstGeom>
          <a:solidFill>
            <a:srgbClr val="1CA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492240" y="5029200"/>
            <a:ext cx="274320" cy="365760"/>
          </a:xfrm>
          <a:prstGeom prst="rect">
            <a:avLst/>
          </a:prstGeom>
          <a:noFill/>
        </p:spPr>
        <p:txBody>
          <a:bodyPr wrap="square" lIns="0" tIns="0" rIns="0" bIns="0" anchor="t">
            <a:normAutofit/>
          </a:bodyPr>
          <a:lstStyle/>
          <a:p>
            <a:pPr algn="l">
              <a:lnSpc>
                <a:spcPct val="115000"/>
              </a:lnSpc>
              <a:spcAft>
                <a:spcPts val="400"/>
              </a:spcAft>
            </a:pPr>
            <a:r>
              <a:rPr sz="1500" b="1">
                <a:solidFill>
                  <a:srgbClr val="1CA7C4"/>
                </a:solidFill>
                <a:latin typeface="Segoe UI"/>
              </a:rPr>
              <a:t>3</a:t>
            </a:r>
          </a:p>
        </p:txBody>
      </p:sp>
      <p:sp>
        <p:nvSpPr>
          <p:cNvPr id="45" name="TextBox 44"/>
          <p:cNvSpPr txBox="1"/>
          <p:nvPr/>
        </p:nvSpPr>
        <p:spPr>
          <a:xfrm>
            <a:off x="6858000" y="4965192"/>
            <a:ext cx="4709160" cy="457200"/>
          </a:xfrm>
          <a:prstGeom prst="rect">
            <a:avLst/>
          </a:prstGeom>
          <a:noFill/>
        </p:spPr>
        <p:txBody>
          <a:bodyPr wrap="square" lIns="0" tIns="0" rIns="0" bIns="0" anchor="t">
            <a:normAutofit/>
          </a:bodyPr>
          <a:lstStyle/>
          <a:p>
            <a:pPr algn="l">
              <a:lnSpc>
                <a:spcPct val="120000"/>
              </a:lnSpc>
              <a:spcAft>
                <a:spcPts val="400"/>
              </a:spcAft>
            </a:pPr>
            <a:r>
              <a:rPr sz="1050" b="0">
                <a:solidFill>
                  <a:srgbClr val="33444F"/>
                </a:solidFill>
                <a:latin typeface="Segoe UI"/>
              </a:rPr>
              <a:t>Le pitch téléphonique améliore-t-il réellement la conversion, ou est-ce une fausse bonne pratique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185855" cy="457200"/>
          </a:xfrm>
          <a:prstGeom prst="rect">
            <a:avLst/>
          </a:prstGeom>
          <a:noFill/>
        </p:spPr>
        <p:txBody>
          <a:bodyPr wrap="square" lIns="0" tIns="0" rIns="0" bIns="0" anchor="t">
            <a:normAutofit/>
          </a:bodyPr>
          <a:lstStyle/>
          <a:p>
            <a:pPr algn="l">
              <a:lnSpc>
                <a:spcPct val="115000"/>
              </a:lnSpc>
              <a:spcAft>
                <a:spcPts val="400"/>
              </a:spcAft>
            </a:pPr>
            <a:r>
              <a:rPr sz="2500" b="1">
                <a:solidFill>
                  <a:srgbClr val="0B4F71"/>
                </a:solidFill>
                <a:latin typeface="Segoe UI"/>
              </a:rPr>
              <a:t>Les données : 4 fichiers, 1,78 million de points</a:t>
            </a:r>
          </a:p>
        </p:txBody>
      </p:sp>
      <p:sp>
        <p:nvSpPr>
          <p:cNvPr id="5" name="TextBox 4"/>
          <p:cNvSpPr txBox="1"/>
          <p:nvPr/>
        </p:nvSpPr>
        <p:spPr>
          <a:xfrm>
            <a:off x="502920" y="896112"/>
            <a:ext cx="11185855" cy="457200"/>
          </a:xfrm>
          <a:prstGeom prst="rect">
            <a:avLst/>
          </a:prstGeom>
          <a:noFill/>
        </p:spPr>
        <p:txBody>
          <a:bodyPr wrap="square" lIns="0" tIns="0" rIns="0" bIns="0" anchor="t">
            <a:normAutofit/>
          </a:bodyPr>
          <a:lstStyle/>
          <a:p>
            <a:pPr algn="l">
              <a:lnSpc>
                <a:spcPct val="115000"/>
              </a:lnSpc>
              <a:spcAft>
                <a:spcPts val="0"/>
              </a:spcAft>
            </a:pPr>
            <a:r>
              <a:rPr sz="1300" b="0">
                <a:solidFill>
                  <a:srgbClr val="33444F"/>
                </a:solidFill>
                <a:latin typeface="Segoe UI"/>
              </a:rPr>
              <a:t>Fournis par Garanteo, couvrant l'année 2023 complète. Le minimum exigé par la consigne est de 50 000 points.</a:t>
            </a:r>
          </a:p>
        </p:txBody>
      </p:sp>
      <p:sp>
        <p:nvSpPr>
          <p:cNvPr id="6" name="Rectangle 5"/>
          <p:cNvSpPr/>
          <p:nvPr/>
        </p:nvSpPr>
        <p:spPr>
          <a:xfrm>
            <a:off x="0" y="6574536"/>
            <a:ext cx="12191695" cy="18288"/>
          </a:xfrm>
          <a:prstGeom prst="rect">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620256"/>
            <a:ext cx="7315200" cy="219456"/>
          </a:xfrm>
          <a:prstGeom prst="rect">
            <a:avLst/>
          </a:prstGeom>
          <a:noFill/>
        </p:spPr>
        <p:txBody>
          <a:bodyPr wrap="square" lIns="0" tIns="0" rIns="0" bIns="0" anchor="t">
            <a:normAutofit/>
          </a:bodyPr>
          <a:lstStyle/>
          <a:p>
            <a:pPr algn="l">
              <a:lnSpc>
                <a:spcPct val="115000"/>
              </a:lnSpc>
              <a:spcAft>
                <a:spcPts val="400"/>
              </a:spcAft>
            </a:pPr>
            <a:r>
              <a:rPr sz="850" b="0">
                <a:solidFill>
                  <a:srgbClr val="8B98A5"/>
                </a:solidFill>
                <a:latin typeface="Segoe UI"/>
              </a:rPr>
              <a:t>Garanteo · Projet final DataBird · Sophie Paradon</a:t>
            </a:r>
          </a:p>
        </p:txBody>
      </p:sp>
      <p:sp>
        <p:nvSpPr>
          <p:cNvPr id="8" name="TextBox 7"/>
          <p:cNvSpPr txBox="1"/>
          <p:nvPr/>
        </p:nvSpPr>
        <p:spPr>
          <a:xfrm>
            <a:off x="8579815" y="6620256"/>
            <a:ext cx="3108960" cy="219456"/>
          </a:xfrm>
          <a:prstGeom prst="rect">
            <a:avLst/>
          </a:prstGeom>
          <a:noFill/>
        </p:spPr>
        <p:txBody>
          <a:bodyPr wrap="square" lIns="0" tIns="0" rIns="0" bIns="0" anchor="t">
            <a:normAutofit/>
          </a:bodyPr>
          <a:lstStyle/>
          <a:p>
            <a:pPr algn="r">
              <a:lnSpc>
                <a:spcPct val="115000"/>
              </a:lnSpc>
              <a:spcAft>
                <a:spcPts val="400"/>
              </a:spcAft>
            </a:pPr>
            <a:r>
              <a:rPr sz="850" b="0">
                <a:solidFill>
                  <a:srgbClr val="8B98A5"/>
                </a:solidFill>
                <a:latin typeface="Segoe UI"/>
              </a:rPr>
              <a:t>Cadrage   ·   6</a:t>
            </a:r>
          </a:p>
        </p:txBody>
      </p:sp>
      <p:sp>
        <p:nvSpPr>
          <p:cNvPr id="9" name="Rectangle 8"/>
          <p:cNvSpPr/>
          <p:nvPr/>
        </p:nvSpPr>
        <p:spPr>
          <a:xfrm>
            <a:off x="502920" y="1426464"/>
            <a:ext cx="6858000" cy="329184"/>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499616"/>
            <a:ext cx="1371600" cy="219456"/>
          </a:xfrm>
          <a:prstGeom prst="rect">
            <a:avLst/>
          </a:prstGeom>
          <a:noFill/>
        </p:spPr>
        <p:txBody>
          <a:bodyPr wrap="square" lIns="0" tIns="0" rIns="0" bIns="0" anchor="t">
            <a:normAutofit/>
          </a:bodyPr>
          <a:lstStyle/>
          <a:p>
            <a:pPr algn="l">
              <a:lnSpc>
                <a:spcPct val="115000"/>
              </a:lnSpc>
              <a:spcAft>
                <a:spcPts val="400"/>
              </a:spcAft>
            </a:pPr>
            <a:r>
              <a:rPr sz="1000" b="1">
                <a:solidFill>
                  <a:srgbClr val="FFFFFF"/>
                </a:solidFill>
                <a:latin typeface="Segoe UI"/>
              </a:rPr>
              <a:t>Table</a:t>
            </a:r>
          </a:p>
        </p:txBody>
      </p:sp>
      <p:sp>
        <p:nvSpPr>
          <p:cNvPr id="11" name="TextBox 10"/>
          <p:cNvSpPr txBox="1"/>
          <p:nvPr/>
        </p:nvSpPr>
        <p:spPr>
          <a:xfrm>
            <a:off x="2103120" y="1499616"/>
            <a:ext cx="1005840" cy="219456"/>
          </a:xfrm>
          <a:prstGeom prst="rect">
            <a:avLst/>
          </a:prstGeom>
          <a:noFill/>
        </p:spPr>
        <p:txBody>
          <a:bodyPr wrap="square" lIns="0" tIns="0" rIns="0" bIns="0" anchor="t">
            <a:normAutofit/>
          </a:bodyPr>
          <a:lstStyle/>
          <a:p>
            <a:pPr algn="l">
              <a:lnSpc>
                <a:spcPct val="115000"/>
              </a:lnSpc>
              <a:spcAft>
                <a:spcPts val="400"/>
              </a:spcAft>
            </a:pPr>
            <a:r>
              <a:rPr sz="1000" b="1">
                <a:solidFill>
                  <a:srgbClr val="FFFFFF"/>
                </a:solidFill>
                <a:latin typeface="Segoe UI"/>
              </a:rPr>
              <a:t>Lignes</a:t>
            </a:r>
          </a:p>
        </p:txBody>
      </p:sp>
      <p:sp>
        <p:nvSpPr>
          <p:cNvPr id="12" name="TextBox 11"/>
          <p:cNvSpPr txBox="1"/>
          <p:nvPr/>
        </p:nvSpPr>
        <p:spPr>
          <a:xfrm>
            <a:off x="3200400" y="1499616"/>
            <a:ext cx="1005840" cy="219456"/>
          </a:xfrm>
          <a:prstGeom prst="rect">
            <a:avLst/>
          </a:prstGeom>
          <a:noFill/>
        </p:spPr>
        <p:txBody>
          <a:bodyPr wrap="square" lIns="0" tIns="0" rIns="0" bIns="0" anchor="t">
            <a:normAutofit/>
          </a:bodyPr>
          <a:lstStyle/>
          <a:p>
            <a:pPr algn="l">
              <a:lnSpc>
                <a:spcPct val="115000"/>
              </a:lnSpc>
              <a:spcAft>
                <a:spcPts val="400"/>
              </a:spcAft>
            </a:pPr>
            <a:r>
              <a:rPr sz="1000" b="1">
                <a:solidFill>
                  <a:srgbClr val="FFFFFF"/>
                </a:solidFill>
                <a:latin typeface="Segoe UI"/>
              </a:rPr>
              <a:t>Colonnes</a:t>
            </a:r>
          </a:p>
        </p:txBody>
      </p:sp>
      <p:sp>
        <p:nvSpPr>
          <p:cNvPr id="13" name="TextBox 12"/>
          <p:cNvSpPr txBox="1"/>
          <p:nvPr/>
        </p:nvSpPr>
        <p:spPr>
          <a:xfrm>
            <a:off x="4343400" y="1499616"/>
            <a:ext cx="2926080" cy="219456"/>
          </a:xfrm>
          <a:prstGeom prst="rect">
            <a:avLst/>
          </a:prstGeom>
          <a:noFill/>
        </p:spPr>
        <p:txBody>
          <a:bodyPr wrap="square" lIns="0" tIns="0" rIns="0" bIns="0" anchor="t">
            <a:normAutofit/>
          </a:bodyPr>
          <a:lstStyle/>
          <a:p>
            <a:pPr algn="l">
              <a:lnSpc>
                <a:spcPct val="115000"/>
              </a:lnSpc>
              <a:spcAft>
                <a:spcPts val="400"/>
              </a:spcAft>
            </a:pPr>
            <a:r>
              <a:rPr sz="1000" b="1">
                <a:solidFill>
                  <a:srgbClr val="FFFFFF"/>
                </a:solidFill>
                <a:latin typeface="Segoe UI"/>
              </a:rPr>
              <a:t>Contenu</a:t>
            </a:r>
          </a:p>
        </p:txBody>
      </p:sp>
      <p:sp>
        <p:nvSpPr>
          <p:cNvPr id="14" name="Rectangle 13"/>
          <p:cNvSpPr/>
          <p:nvPr/>
        </p:nvSpPr>
        <p:spPr>
          <a:xfrm>
            <a:off x="502920" y="1755648"/>
            <a:ext cx="6858000" cy="402336"/>
          </a:xfrm>
          <a:prstGeom prst="rect">
            <a:avLst/>
          </a:prstGeom>
          <a:solidFill>
            <a:srgbClr val="FFFFFF"/>
          </a:solidFill>
          <a:ln w="635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1856231"/>
            <a:ext cx="1371600" cy="219456"/>
          </a:xfrm>
          <a:prstGeom prst="rect">
            <a:avLst/>
          </a:prstGeom>
          <a:noFill/>
        </p:spPr>
        <p:txBody>
          <a:bodyPr wrap="square" lIns="0" tIns="0" rIns="0" bIns="0" anchor="t">
            <a:normAutofit/>
          </a:bodyPr>
          <a:lstStyle/>
          <a:p>
            <a:pPr algn="l">
              <a:lnSpc>
                <a:spcPct val="115000"/>
              </a:lnSpc>
              <a:spcAft>
                <a:spcPts val="400"/>
              </a:spcAft>
            </a:pPr>
            <a:r>
              <a:rPr sz="1050" b="1">
                <a:solidFill>
                  <a:srgbClr val="0B4F71"/>
                </a:solidFill>
                <a:latin typeface="Segoe UI"/>
              </a:rPr>
              <a:t>events</a:t>
            </a:r>
          </a:p>
        </p:txBody>
      </p:sp>
      <p:sp>
        <p:nvSpPr>
          <p:cNvPr id="16" name="TextBox 15"/>
          <p:cNvSpPr txBox="1"/>
          <p:nvPr/>
        </p:nvSpPr>
        <p:spPr>
          <a:xfrm>
            <a:off x="2103120" y="1856231"/>
            <a:ext cx="1005840" cy="219456"/>
          </a:xfrm>
          <a:prstGeom prst="rect">
            <a:avLst/>
          </a:prstGeom>
          <a:noFill/>
        </p:spPr>
        <p:txBody>
          <a:bodyPr wrap="square" lIns="0" tIns="0" rIns="0" bIns="0" anchor="t">
            <a:normAutofit/>
          </a:bodyPr>
          <a:lstStyle/>
          <a:p>
            <a:pPr algn="l">
              <a:lnSpc>
                <a:spcPct val="115000"/>
              </a:lnSpc>
              <a:spcAft>
                <a:spcPts val="400"/>
              </a:spcAft>
            </a:pPr>
            <a:r>
              <a:rPr sz="1050" b="0">
                <a:solidFill>
                  <a:srgbClr val="33444F"/>
                </a:solidFill>
                <a:latin typeface="Segoe UI"/>
              </a:rPr>
              <a:t>101 450</a:t>
            </a:r>
          </a:p>
        </p:txBody>
      </p:sp>
      <p:sp>
        <p:nvSpPr>
          <p:cNvPr id="17" name="TextBox 16"/>
          <p:cNvSpPr txBox="1"/>
          <p:nvPr/>
        </p:nvSpPr>
        <p:spPr>
          <a:xfrm>
            <a:off x="3200400" y="1856231"/>
            <a:ext cx="1005840" cy="219456"/>
          </a:xfrm>
          <a:prstGeom prst="rect">
            <a:avLst/>
          </a:prstGeom>
          <a:noFill/>
        </p:spPr>
        <p:txBody>
          <a:bodyPr wrap="square" lIns="0" tIns="0" rIns="0" bIns="0" anchor="t">
            <a:normAutofit/>
          </a:bodyPr>
          <a:lstStyle/>
          <a:p>
            <a:pPr algn="l">
              <a:lnSpc>
                <a:spcPct val="115000"/>
              </a:lnSpc>
              <a:spcAft>
                <a:spcPts val="400"/>
              </a:spcAft>
            </a:pPr>
            <a:r>
              <a:rPr sz="1050" b="0">
                <a:solidFill>
                  <a:srgbClr val="33444F"/>
                </a:solidFill>
                <a:latin typeface="Segoe UI"/>
              </a:rPr>
              <a:t>15</a:t>
            </a:r>
          </a:p>
        </p:txBody>
      </p:sp>
      <p:sp>
        <p:nvSpPr>
          <p:cNvPr id="18" name="TextBox 17"/>
          <p:cNvSpPr txBox="1"/>
          <p:nvPr/>
        </p:nvSpPr>
        <p:spPr>
          <a:xfrm>
            <a:off x="4343400" y="1856231"/>
            <a:ext cx="2926080" cy="219456"/>
          </a:xfrm>
          <a:prstGeom prst="rect">
            <a:avLst/>
          </a:prstGeom>
          <a:noFill/>
        </p:spPr>
        <p:txBody>
          <a:bodyPr wrap="square" lIns="0" tIns="0" rIns="0" bIns="0" anchor="t">
            <a:normAutofit/>
          </a:bodyPr>
          <a:lstStyle/>
          <a:p>
            <a:pPr algn="l">
              <a:lnSpc>
                <a:spcPct val="115000"/>
              </a:lnSpc>
              <a:spcAft>
                <a:spcPts val="400"/>
              </a:spcAft>
            </a:pPr>
            <a:r>
              <a:rPr sz="1000" b="0">
                <a:solidFill>
                  <a:srgbClr val="8B98A5"/>
                </a:solidFill>
                <a:latin typeface="Segoe UI"/>
              </a:rPr>
              <a:t>clics et conversions sur le site web</a:t>
            </a:r>
          </a:p>
        </p:txBody>
      </p:sp>
      <p:sp>
        <p:nvSpPr>
          <p:cNvPr id="19" name="Rectangle 18"/>
          <p:cNvSpPr/>
          <p:nvPr/>
        </p:nvSpPr>
        <p:spPr>
          <a:xfrm>
            <a:off x="502920" y="2157984"/>
            <a:ext cx="6858000" cy="402336"/>
          </a:xfrm>
          <a:prstGeom prst="rect">
            <a:avLst/>
          </a:prstGeom>
          <a:solidFill>
            <a:srgbClr val="FAFCFD"/>
          </a:solidFill>
          <a:ln w="635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2258568"/>
            <a:ext cx="1371600" cy="219456"/>
          </a:xfrm>
          <a:prstGeom prst="rect">
            <a:avLst/>
          </a:prstGeom>
          <a:noFill/>
        </p:spPr>
        <p:txBody>
          <a:bodyPr wrap="square" lIns="0" tIns="0" rIns="0" bIns="0" anchor="t">
            <a:normAutofit/>
          </a:bodyPr>
          <a:lstStyle/>
          <a:p>
            <a:pPr algn="l">
              <a:lnSpc>
                <a:spcPct val="115000"/>
              </a:lnSpc>
              <a:spcAft>
                <a:spcPts val="400"/>
              </a:spcAft>
            </a:pPr>
            <a:r>
              <a:rPr sz="1050" b="1">
                <a:solidFill>
                  <a:srgbClr val="0B4F71"/>
                </a:solidFill>
                <a:latin typeface="Segoe UI"/>
              </a:rPr>
              <a:t>sessions</a:t>
            </a:r>
          </a:p>
        </p:txBody>
      </p:sp>
      <p:sp>
        <p:nvSpPr>
          <p:cNvPr id="21" name="TextBox 20"/>
          <p:cNvSpPr txBox="1"/>
          <p:nvPr/>
        </p:nvSpPr>
        <p:spPr>
          <a:xfrm>
            <a:off x="2103120" y="2258568"/>
            <a:ext cx="1005840" cy="219456"/>
          </a:xfrm>
          <a:prstGeom prst="rect">
            <a:avLst/>
          </a:prstGeom>
          <a:noFill/>
        </p:spPr>
        <p:txBody>
          <a:bodyPr wrap="square" lIns="0" tIns="0" rIns="0" bIns="0" anchor="t">
            <a:normAutofit/>
          </a:bodyPr>
          <a:lstStyle/>
          <a:p>
            <a:pPr algn="l">
              <a:lnSpc>
                <a:spcPct val="115000"/>
              </a:lnSpc>
              <a:spcAft>
                <a:spcPts val="400"/>
              </a:spcAft>
            </a:pPr>
            <a:r>
              <a:rPr sz="1050" b="0">
                <a:solidFill>
                  <a:srgbClr val="33444F"/>
                </a:solidFill>
                <a:latin typeface="Segoe UI"/>
              </a:rPr>
              <a:t>23 823</a:t>
            </a:r>
          </a:p>
        </p:txBody>
      </p:sp>
      <p:sp>
        <p:nvSpPr>
          <p:cNvPr id="22" name="TextBox 21"/>
          <p:cNvSpPr txBox="1"/>
          <p:nvPr/>
        </p:nvSpPr>
        <p:spPr>
          <a:xfrm>
            <a:off x="3200400" y="2258568"/>
            <a:ext cx="1005840" cy="219456"/>
          </a:xfrm>
          <a:prstGeom prst="rect">
            <a:avLst/>
          </a:prstGeom>
          <a:noFill/>
        </p:spPr>
        <p:txBody>
          <a:bodyPr wrap="square" lIns="0" tIns="0" rIns="0" bIns="0" anchor="t">
            <a:normAutofit/>
          </a:bodyPr>
          <a:lstStyle/>
          <a:p>
            <a:pPr algn="l">
              <a:lnSpc>
                <a:spcPct val="115000"/>
              </a:lnSpc>
              <a:spcAft>
                <a:spcPts val="400"/>
              </a:spcAft>
            </a:pPr>
            <a:r>
              <a:rPr sz="1050" b="0">
                <a:solidFill>
                  <a:srgbClr val="33444F"/>
                </a:solidFill>
                <a:latin typeface="Segoe UI"/>
              </a:rPr>
              <a:t>10</a:t>
            </a:r>
          </a:p>
        </p:txBody>
      </p:sp>
      <p:sp>
        <p:nvSpPr>
          <p:cNvPr id="23" name="TextBox 22"/>
          <p:cNvSpPr txBox="1"/>
          <p:nvPr/>
        </p:nvSpPr>
        <p:spPr>
          <a:xfrm>
            <a:off x="4343400" y="2258568"/>
            <a:ext cx="2926080" cy="219456"/>
          </a:xfrm>
          <a:prstGeom prst="rect">
            <a:avLst/>
          </a:prstGeom>
          <a:noFill/>
        </p:spPr>
        <p:txBody>
          <a:bodyPr wrap="square" lIns="0" tIns="0" rIns="0" bIns="0" anchor="t">
            <a:normAutofit/>
          </a:bodyPr>
          <a:lstStyle/>
          <a:p>
            <a:pPr algn="l">
              <a:lnSpc>
                <a:spcPct val="115000"/>
              </a:lnSpc>
              <a:spcAft>
                <a:spcPts val="400"/>
              </a:spcAft>
            </a:pPr>
            <a:r>
              <a:rPr sz="1000" b="0">
                <a:solidFill>
                  <a:srgbClr val="8B98A5"/>
                </a:solidFill>
                <a:latin typeface="Segoe UI"/>
              </a:rPr>
              <a:t>sessions de navigation (Google Analytics)</a:t>
            </a:r>
          </a:p>
        </p:txBody>
      </p:sp>
      <p:sp>
        <p:nvSpPr>
          <p:cNvPr id="24" name="Rectangle 23"/>
          <p:cNvSpPr/>
          <p:nvPr/>
        </p:nvSpPr>
        <p:spPr>
          <a:xfrm>
            <a:off x="502920" y="2560320"/>
            <a:ext cx="6858000" cy="402336"/>
          </a:xfrm>
          <a:prstGeom prst="rect">
            <a:avLst/>
          </a:prstGeom>
          <a:solidFill>
            <a:srgbClr val="FFFFFF"/>
          </a:solidFill>
          <a:ln w="635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 y="2660903"/>
            <a:ext cx="1371600" cy="219456"/>
          </a:xfrm>
          <a:prstGeom prst="rect">
            <a:avLst/>
          </a:prstGeom>
          <a:noFill/>
        </p:spPr>
        <p:txBody>
          <a:bodyPr wrap="square" lIns="0" tIns="0" rIns="0" bIns="0" anchor="t">
            <a:normAutofit/>
          </a:bodyPr>
          <a:lstStyle/>
          <a:p>
            <a:pPr algn="l">
              <a:lnSpc>
                <a:spcPct val="115000"/>
              </a:lnSpc>
              <a:spcAft>
                <a:spcPts val="400"/>
              </a:spcAft>
            </a:pPr>
            <a:r>
              <a:rPr sz="1050" b="1">
                <a:solidFill>
                  <a:srgbClr val="0B4F71"/>
                </a:solidFill>
                <a:latin typeface="Segoe UI"/>
              </a:rPr>
              <a:t>prospects</a:t>
            </a:r>
          </a:p>
        </p:txBody>
      </p:sp>
      <p:sp>
        <p:nvSpPr>
          <p:cNvPr id="26" name="TextBox 25"/>
          <p:cNvSpPr txBox="1"/>
          <p:nvPr/>
        </p:nvSpPr>
        <p:spPr>
          <a:xfrm>
            <a:off x="2103120" y="2660903"/>
            <a:ext cx="1005840" cy="219456"/>
          </a:xfrm>
          <a:prstGeom prst="rect">
            <a:avLst/>
          </a:prstGeom>
          <a:noFill/>
        </p:spPr>
        <p:txBody>
          <a:bodyPr wrap="square" lIns="0" tIns="0" rIns="0" bIns="0" anchor="t">
            <a:normAutofit/>
          </a:bodyPr>
          <a:lstStyle/>
          <a:p>
            <a:pPr algn="l">
              <a:lnSpc>
                <a:spcPct val="115000"/>
              </a:lnSpc>
              <a:spcAft>
                <a:spcPts val="400"/>
              </a:spcAft>
            </a:pPr>
            <a:r>
              <a:rPr sz="1050" b="0">
                <a:solidFill>
                  <a:srgbClr val="33444F"/>
                </a:solidFill>
                <a:latin typeface="Segoe UI"/>
              </a:rPr>
              <a:t>2 160</a:t>
            </a:r>
          </a:p>
        </p:txBody>
      </p:sp>
      <p:sp>
        <p:nvSpPr>
          <p:cNvPr id="27" name="TextBox 26"/>
          <p:cNvSpPr txBox="1"/>
          <p:nvPr/>
        </p:nvSpPr>
        <p:spPr>
          <a:xfrm>
            <a:off x="3200400" y="2660903"/>
            <a:ext cx="1005840" cy="219456"/>
          </a:xfrm>
          <a:prstGeom prst="rect">
            <a:avLst/>
          </a:prstGeom>
          <a:noFill/>
        </p:spPr>
        <p:txBody>
          <a:bodyPr wrap="square" lIns="0" tIns="0" rIns="0" bIns="0" anchor="t">
            <a:normAutofit/>
          </a:bodyPr>
          <a:lstStyle/>
          <a:p>
            <a:pPr algn="l">
              <a:lnSpc>
                <a:spcPct val="115000"/>
              </a:lnSpc>
              <a:spcAft>
                <a:spcPts val="400"/>
              </a:spcAft>
            </a:pPr>
            <a:r>
              <a:rPr sz="1050" b="0">
                <a:solidFill>
                  <a:srgbClr val="33444F"/>
                </a:solidFill>
                <a:latin typeface="Segoe UI"/>
              </a:rPr>
              <a:t>8</a:t>
            </a:r>
          </a:p>
        </p:txBody>
      </p:sp>
      <p:sp>
        <p:nvSpPr>
          <p:cNvPr id="28" name="TextBox 27"/>
          <p:cNvSpPr txBox="1"/>
          <p:nvPr/>
        </p:nvSpPr>
        <p:spPr>
          <a:xfrm>
            <a:off x="4343400" y="2660903"/>
            <a:ext cx="2926080" cy="219456"/>
          </a:xfrm>
          <a:prstGeom prst="rect">
            <a:avLst/>
          </a:prstGeom>
          <a:noFill/>
        </p:spPr>
        <p:txBody>
          <a:bodyPr wrap="square" lIns="0" tIns="0" rIns="0" bIns="0" anchor="t">
            <a:normAutofit/>
          </a:bodyPr>
          <a:lstStyle/>
          <a:p>
            <a:pPr algn="l">
              <a:lnSpc>
                <a:spcPct val="115000"/>
              </a:lnSpc>
              <a:spcAft>
                <a:spcPts val="400"/>
              </a:spcAft>
            </a:pPr>
            <a:r>
              <a:rPr sz="1000" b="0">
                <a:solidFill>
                  <a:srgbClr val="8B98A5"/>
                </a:solidFill>
                <a:latin typeface="Segoe UI"/>
              </a:rPr>
              <a:t>personnes ayant demandé à être rappelées</a:t>
            </a:r>
          </a:p>
        </p:txBody>
      </p:sp>
      <p:sp>
        <p:nvSpPr>
          <p:cNvPr id="29" name="Rectangle 28"/>
          <p:cNvSpPr/>
          <p:nvPr/>
        </p:nvSpPr>
        <p:spPr>
          <a:xfrm>
            <a:off x="502920" y="2962656"/>
            <a:ext cx="6858000" cy="402336"/>
          </a:xfrm>
          <a:prstGeom prst="rect">
            <a:avLst/>
          </a:prstGeom>
          <a:solidFill>
            <a:srgbClr val="FAFCFD"/>
          </a:solidFill>
          <a:ln w="635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 y="3063240"/>
            <a:ext cx="1371600" cy="219456"/>
          </a:xfrm>
          <a:prstGeom prst="rect">
            <a:avLst/>
          </a:prstGeom>
          <a:noFill/>
        </p:spPr>
        <p:txBody>
          <a:bodyPr wrap="square" lIns="0" tIns="0" rIns="0" bIns="0" anchor="t">
            <a:normAutofit/>
          </a:bodyPr>
          <a:lstStyle/>
          <a:p>
            <a:pPr algn="l">
              <a:lnSpc>
                <a:spcPct val="115000"/>
              </a:lnSpc>
              <a:spcAft>
                <a:spcPts val="400"/>
              </a:spcAft>
            </a:pPr>
            <a:r>
              <a:rPr sz="1050" b="1">
                <a:solidFill>
                  <a:srgbClr val="0B4F71"/>
                </a:solidFill>
                <a:latin typeface="Segoe UI"/>
              </a:rPr>
              <a:t>campaigns</a:t>
            </a:r>
          </a:p>
        </p:txBody>
      </p:sp>
      <p:sp>
        <p:nvSpPr>
          <p:cNvPr id="31" name="TextBox 30"/>
          <p:cNvSpPr txBox="1"/>
          <p:nvPr/>
        </p:nvSpPr>
        <p:spPr>
          <a:xfrm>
            <a:off x="2103120" y="3063240"/>
            <a:ext cx="1005840" cy="219456"/>
          </a:xfrm>
          <a:prstGeom prst="rect">
            <a:avLst/>
          </a:prstGeom>
          <a:noFill/>
        </p:spPr>
        <p:txBody>
          <a:bodyPr wrap="square" lIns="0" tIns="0" rIns="0" bIns="0" anchor="t">
            <a:normAutofit/>
          </a:bodyPr>
          <a:lstStyle/>
          <a:p>
            <a:pPr algn="l">
              <a:lnSpc>
                <a:spcPct val="115000"/>
              </a:lnSpc>
              <a:spcAft>
                <a:spcPts val="400"/>
              </a:spcAft>
            </a:pPr>
            <a:r>
              <a:rPr sz="1050" b="0">
                <a:solidFill>
                  <a:srgbClr val="33444F"/>
                </a:solidFill>
                <a:latin typeface="Segoe UI"/>
              </a:rPr>
              <a:t>13</a:t>
            </a:r>
          </a:p>
        </p:txBody>
      </p:sp>
      <p:sp>
        <p:nvSpPr>
          <p:cNvPr id="32" name="TextBox 31"/>
          <p:cNvSpPr txBox="1"/>
          <p:nvPr/>
        </p:nvSpPr>
        <p:spPr>
          <a:xfrm>
            <a:off x="3200400" y="3063240"/>
            <a:ext cx="1005840" cy="219456"/>
          </a:xfrm>
          <a:prstGeom prst="rect">
            <a:avLst/>
          </a:prstGeom>
          <a:noFill/>
        </p:spPr>
        <p:txBody>
          <a:bodyPr wrap="square" lIns="0" tIns="0" rIns="0" bIns="0" anchor="t">
            <a:normAutofit/>
          </a:bodyPr>
          <a:lstStyle/>
          <a:p>
            <a:pPr algn="l">
              <a:lnSpc>
                <a:spcPct val="115000"/>
              </a:lnSpc>
              <a:spcAft>
                <a:spcPts val="400"/>
              </a:spcAft>
            </a:pPr>
            <a:r>
              <a:rPr sz="1050" b="0">
                <a:solidFill>
                  <a:srgbClr val="33444F"/>
                </a:solidFill>
                <a:latin typeface="Segoe UI"/>
              </a:rPr>
              <a:t>6</a:t>
            </a:r>
          </a:p>
        </p:txBody>
      </p:sp>
      <p:sp>
        <p:nvSpPr>
          <p:cNvPr id="33" name="TextBox 32"/>
          <p:cNvSpPr txBox="1"/>
          <p:nvPr/>
        </p:nvSpPr>
        <p:spPr>
          <a:xfrm>
            <a:off x="4343400" y="3063240"/>
            <a:ext cx="2926080" cy="219456"/>
          </a:xfrm>
          <a:prstGeom prst="rect">
            <a:avLst/>
          </a:prstGeom>
          <a:noFill/>
        </p:spPr>
        <p:txBody>
          <a:bodyPr wrap="square" lIns="0" tIns="0" rIns="0" bIns="0" anchor="t">
            <a:normAutofit/>
          </a:bodyPr>
          <a:lstStyle/>
          <a:p>
            <a:pPr algn="l">
              <a:lnSpc>
                <a:spcPct val="115000"/>
              </a:lnSpc>
              <a:spcAft>
                <a:spcPts val="400"/>
              </a:spcAft>
            </a:pPr>
            <a:r>
              <a:rPr sz="1000" b="0">
                <a:solidFill>
                  <a:srgbClr val="8B98A5"/>
                </a:solidFill>
                <a:latin typeface="Segoe UI"/>
              </a:rPr>
              <a:t>budget et type de chaque campagne</a:t>
            </a:r>
          </a:p>
        </p:txBody>
      </p:sp>
      <p:sp>
        <p:nvSpPr>
          <p:cNvPr id="34" name="Rectangle 33"/>
          <p:cNvSpPr/>
          <p:nvPr/>
        </p:nvSpPr>
        <p:spPr>
          <a:xfrm>
            <a:off x="502920" y="3364992"/>
            <a:ext cx="6858000" cy="384048"/>
          </a:xfrm>
          <a:prstGeom prst="rect">
            <a:avLst/>
          </a:prstGeom>
          <a:solidFill>
            <a:srgbClr val="E8F1F6"/>
          </a:solidFill>
          <a:ln w="9525">
            <a:solidFill>
              <a:srgbClr val="0B4F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0080" y="3456432"/>
            <a:ext cx="6583680" cy="237744"/>
          </a:xfrm>
          <a:prstGeom prst="rect">
            <a:avLst/>
          </a:prstGeom>
          <a:noFill/>
        </p:spPr>
        <p:txBody>
          <a:bodyPr wrap="square" lIns="0" tIns="0" rIns="0" bIns="0" anchor="t">
            <a:normAutofit/>
          </a:bodyPr>
          <a:lstStyle/>
          <a:p>
            <a:pPr algn="l">
              <a:lnSpc>
                <a:spcPct val="115000"/>
              </a:lnSpc>
              <a:spcAft>
                <a:spcPts val="400"/>
              </a:spcAft>
            </a:pPr>
            <a:r>
              <a:rPr sz="1150" b="1">
                <a:solidFill>
                  <a:srgbClr val="0B4F71"/>
                </a:solidFill>
                <a:latin typeface="Segoe UI"/>
              </a:rPr>
              <a:t>Total : 1 777 338 points de données</a:t>
            </a:r>
            <a:r>
              <a:rPr sz="1150" b="0">
                <a:solidFill>
                  <a:srgbClr val="33444F"/>
                </a:solidFill>
                <a:latin typeface="Segoe UI"/>
              </a:rPr>
              <a:t>, soit 35 fois le minimum demandé</a:t>
            </a:r>
          </a:p>
        </p:txBody>
      </p:sp>
      <p:sp>
        <p:nvSpPr>
          <p:cNvPr id="36" name="Rectangle 35"/>
          <p:cNvSpPr/>
          <p:nvPr/>
        </p:nvSpPr>
        <p:spPr>
          <a:xfrm>
            <a:off x="7680960" y="1426464"/>
            <a:ext cx="4023360" cy="2322576"/>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7680960" y="1426464"/>
            <a:ext cx="50292" cy="2322576"/>
          </a:xfrm>
          <a:prstGeom prst="rect">
            <a:avLst/>
          </a:prstGeom>
          <a:solidFill>
            <a:srgbClr val="3AA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936992" y="1563624"/>
            <a:ext cx="3602736" cy="292608"/>
          </a:xfrm>
          <a:prstGeom prst="rect">
            <a:avLst/>
          </a:prstGeom>
          <a:noFill/>
        </p:spPr>
        <p:txBody>
          <a:bodyPr wrap="square" lIns="0" tIns="0" rIns="0" bIns="0" anchor="t">
            <a:normAutofit/>
          </a:bodyPr>
          <a:lstStyle/>
          <a:p>
            <a:pPr algn="l">
              <a:lnSpc>
                <a:spcPct val="115000"/>
              </a:lnSpc>
              <a:spcAft>
                <a:spcPts val="0"/>
              </a:spcAft>
            </a:pPr>
            <a:r>
              <a:rPr sz="1250" b="1">
                <a:solidFill>
                  <a:srgbClr val="3AA65C"/>
                </a:solidFill>
                <a:latin typeface="Segoe UI"/>
              </a:rPr>
              <a:t>Ai-je besoin de plus de données ?</a:t>
            </a:r>
          </a:p>
        </p:txBody>
      </p:sp>
      <p:sp>
        <p:nvSpPr>
          <p:cNvPr id="39" name="TextBox 38"/>
          <p:cNvSpPr txBox="1"/>
          <p:nvPr/>
        </p:nvSpPr>
        <p:spPr>
          <a:xfrm>
            <a:off x="7936992" y="1901952"/>
            <a:ext cx="3602736" cy="1700784"/>
          </a:xfrm>
          <a:prstGeom prst="rect">
            <a:avLst/>
          </a:prstGeom>
          <a:noFill/>
        </p:spPr>
        <p:txBody>
          <a:bodyPr wrap="square" lIns="0" tIns="0" rIns="0" bIns="0" anchor="t">
            <a:normAutofit/>
          </a:bodyPr>
          <a:lstStyle/>
          <a:p>
            <a:pPr algn="l">
              <a:lnSpc>
                <a:spcPct val="122000"/>
              </a:lnSpc>
              <a:spcAft>
                <a:spcPts val="600"/>
              </a:spcAft>
            </a:pPr>
            <a:r>
              <a:rPr sz="1100" b="1">
                <a:solidFill>
                  <a:srgbClr val="3AA65C"/>
                </a:solidFill>
                <a:latin typeface="Segoe UI"/>
              </a:rPr>
              <a:t>Non. </a:t>
            </a:r>
            <a:r>
              <a:rPr sz="1100" b="0">
                <a:solidFill>
                  <a:srgbClr val="33444F"/>
                </a:solidFill>
                <a:latin typeface="Segoe UI"/>
              </a:rPr>
              <a:t>Les 4 fichiers suffisent à calculer le CAC par campagne et à tracer l'entonnoir jusqu'au client.</a:t>
            </a:r>
          </a:p>
          <a:p>
            <a:pPr algn="l">
              <a:lnSpc>
                <a:spcPct val="122000"/>
              </a:lnSpc>
              <a:spcAft>
                <a:spcPts val="600"/>
              </a:spcAft>
            </a:pPr>
            <a:r>
              <a:rPr sz="1100" b="1">
                <a:solidFill>
                  <a:srgbClr val="D9534F"/>
                </a:solidFill>
                <a:latin typeface="Segoe UI"/>
              </a:rPr>
              <a:t>Une limite actée d'entrée : </a:t>
            </a:r>
            <a:r>
              <a:rPr sz="1100" b="0">
                <a:solidFill>
                  <a:srgbClr val="33444F"/>
                </a:solidFill>
                <a:latin typeface="Segoe UI"/>
              </a:rPr>
              <a:t>les URLs sont anonymisées (page1 à page6). La segmentation par page a été écartée dès le cadrage (Won't).</a:t>
            </a:r>
          </a:p>
        </p:txBody>
      </p:sp>
      <p:sp>
        <p:nvSpPr>
          <p:cNvPr id="40" name="Rectangle 39"/>
          <p:cNvSpPr/>
          <p:nvPr/>
        </p:nvSpPr>
        <p:spPr>
          <a:xfrm>
            <a:off x="502920" y="3931920"/>
            <a:ext cx="11201400" cy="1463040"/>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502920" y="3931920"/>
            <a:ext cx="50292" cy="1463040"/>
          </a:xfrm>
          <a:prstGeom prst="rect">
            <a:avLst/>
          </a:prstGeom>
          <a:solidFill>
            <a:srgbClr val="3AA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58952" y="4069080"/>
            <a:ext cx="10780776" cy="292608"/>
          </a:xfrm>
          <a:prstGeom prst="rect">
            <a:avLst/>
          </a:prstGeom>
          <a:noFill/>
        </p:spPr>
        <p:txBody>
          <a:bodyPr wrap="square" lIns="0" tIns="0" rIns="0" bIns="0" anchor="t">
            <a:normAutofit/>
          </a:bodyPr>
          <a:lstStyle/>
          <a:p>
            <a:pPr algn="l">
              <a:lnSpc>
                <a:spcPct val="115000"/>
              </a:lnSpc>
              <a:spcAft>
                <a:spcPts val="0"/>
              </a:spcAft>
            </a:pPr>
            <a:r>
              <a:rPr sz="1250" b="1">
                <a:solidFill>
                  <a:srgbClr val="3AA65C"/>
                </a:solidFill>
                <a:latin typeface="Segoe UI"/>
              </a:rPr>
              <a:t>L'intégrité relationnelle, vérifiée avant toute jointure</a:t>
            </a:r>
          </a:p>
        </p:txBody>
      </p:sp>
      <p:sp>
        <p:nvSpPr>
          <p:cNvPr id="43" name="TextBox 42"/>
          <p:cNvSpPr txBox="1"/>
          <p:nvPr/>
        </p:nvSpPr>
        <p:spPr>
          <a:xfrm>
            <a:off x="758952" y="4407408"/>
            <a:ext cx="10780776" cy="841248"/>
          </a:xfrm>
          <a:prstGeom prst="rect">
            <a:avLst/>
          </a:prstGeom>
          <a:noFill/>
        </p:spPr>
        <p:txBody>
          <a:bodyPr wrap="square" lIns="0" tIns="0" rIns="0" bIns="0" anchor="t">
            <a:normAutofit/>
          </a:bodyPr>
          <a:lstStyle/>
          <a:p>
            <a:pPr algn="l">
              <a:lnSpc>
                <a:spcPct val="122000"/>
              </a:lnSpc>
              <a:spcAft>
                <a:spcPts val="590"/>
              </a:spcAft>
            </a:pPr>
            <a:r>
              <a:rPr sz="1080" b="1">
                <a:solidFill>
                  <a:srgbClr val="3AA65C"/>
                </a:solidFill>
                <a:latin typeface="Segoe UI"/>
              </a:rPr>
              <a:t>Zéro orphelin sur les 4 contrôles. </a:t>
            </a:r>
            <a:r>
              <a:rPr sz="1080" b="0">
                <a:solidFill>
                  <a:srgbClr val="33444F"/>
                </a:solidFill>
                <a:latin typeface="Segoe UI"/>
              </a:rPr>
              <a:t>Les 13 campagnes sont toutes présentes dans events, tous les session_id d'events existent dans sessions, tous les user_id de prospects existent dans sessions.</a:t>
            </a:r>
          </a:p>
          <a:p>
            <a:pPr algn="l">
              <a:lnSpc>
                <a:spcPct val="122000"/>
              </a:lnSpc>
              <a:spcAft>
                <a:spcPts val="590"/>
              </a:spcAft>
            </a:pPr>
            <a:r>
              <a:rPr sz="1080" b="1">
                <a:solidFill>
                  <a:srgbClr val="0B4F71"/>
                </a:solidFill>
                <a:latin typeface="Segoe UI"/>
              </a:rPr>
              <a:t>Et un résultat qui compte : </a:t>
            </a:r>
            <a:r>
              <a:rPr sz="1080" b="0">
                <a:solidFill>
                  <a:srgbClr val="33444F"/>
                </a:solidFill>
                <a:latin typeface="Segoe UI"/>
              </a:rPr>
              <a:t>les 2 060 prospects proviennent tous d'un clic de rappel — vérifié, pas supposé. Le pipeline de collecte est bon ; c'est la gouvernance qui manque.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1CA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0" y="2331720"/>
            <a:ext cx="1828800" cy="1463040"/>
          </a:xfrm>
          <a:prstGeom prst="rect">
            <a:avLst/>
          </a:prstGeom>
          <a:noFill/>
        </p:spPr>
        <p:txBody>
          <a:bodyPr wrap="square" lIns="0" tIns="0" rIns="0" bIns="0" anchor="t">
            <a:normAutofit/>
          </a:bodyPr>
          <a:lstStyle/>
          <a:p>
            <a:pPr algn="l">
              <a:lnSpc>
                <a:spcPct val="115000"/>
              </a:lnSpc>
              <a:spcAft>
                <a:spcPts val="400"/>
              </a:spcAft>
            </a:pPr>
            <a:r>
              <a:rPr sz="10000" b="1">
                <a:solidFill>
                  <a:srgbClr val="2E86A6"/>
                </a:solidFill>
                <a:latin typeface="Segoe UI"/>
              </a:rPr>
              <a:t>2</a:t>
            </a:r>
          </a:p>
        </p:txBody>
      </p:sp>
      <p:sp>
        <p:nvSpPr>
          <p:cNvPr id="5" name="TextBox 4"/>
          <p:cNvSpPr txBox="1"/>
          <p:nvPr/>
        </p:nvSpPr>
        <p:spPr>
          <a:xfrm>
            <a:off x="3200400" y="2606040"/>
            <a:ext cx="7863840" cy="822960"/>
          </a:xfrm>
          <a:prstGeom prst="rect">
            <a:avLst/>
          </a:prstGeom>
          <a:noFill/>
        </p:spPr>
        <p:txBody>
          <a:bodyPr wrap="square" lIns="0" tIns="0" rIns="0" bIns="0" anchor="t">
            <a:normAutofit/>
          </a:bodyPr>
          <a:lstStyle/>
          <a:p>
            <a:pPr algn="l">
              <a:lnSpc>
                <a:spcPct val="115000"/>
              </a:lnSpc>
              <a:spcAft>
                <a:spcPts val="400"/>
              </a:spcAft>
            </a:pPr>
            <a:r>
              <a:rPr sz="4000" b="1">
                <a:solidFill>
                  <a:srgbClr val="FFFFFF"/>
                </a:solidFill>
                <a:latin typeface="Segoe UI"/>
              </a:rPr>
              <a:t>Préparation</a:t>
            </a:r>
          </a:p>
        </p:txBody>
      </p:sp>
      <p:sp>
        <p:nvSpPr>
          <p:cNvPr id="6" name="TextBox 5"/>
          <p:cNvSpPr txBox="1"/>
          <p:nvPr/>
        </p:nvSpPr>
        <p:spPr>
          <a:xfrm>
            <a:off x="3255264" y="3611880"/>
            <a:ext cx="7863840" cy="457200"/>
          </a:xfrm>
          <a:prstGeom prst="rect">
            <a:avLst/>
          </a:prstGeom>
          <a:noFill/>
        </p:spPr>
        <p:txBody>
          <a:bodyPr wrap="square" lIns="0" tIns="0" rIns="0" bIns="0" anchor="t">
            <a:normAutofit/>
          </a:bodyPr>
          <a:lstStyle/>
          <a:p>
            <a:pPr algn="l">
              <a:lnSpc>
                <a:spcPct val="115000"/>
              </a:lnSpc>
              <a:spcAft>
                <a:spcPts val="400"/>
              </a:spcAft>
            </a:pPr>
            <a:r>
              <a:rPr sz="1500" b="0">
                <a:solidFill>
                  <a:srgbClr val="A8D3E6"/>
                </a:solidFill>
                <a:latin typeface="Segoe UI"/>
              </a:rPr>
              <a:t>Ce qui clochait, et ce que ça faussait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185855" cy="457200"/>
          </a:xfrm>
          <a:prstGeom prst="rect">
            <a:avLst/>
          </a:prstGeom>
          <a:noFill/>
        </p:spPr>
        <p:txBody>
          <a:bodyPr wrap="square" lIns="0" tIns="0" rIns="0" bIns="0" anchor="t">
            <a:normAutofit/>
          </a:bodyPr>
          <a:lstStyle/>
          <a:p>
            <a:pPr algn="l">
              <a:lnSpc>
                <a:spcPct val="115000"/>
              </a:lnSpc>
              <a:spcAft>
                <a:spcPts val="400"/>
              </a:spcAft>
            </a:pPr>
            <a:r>
              <a:rPr sz="2500" b="1">
                <a:solidFill>
                  <a:srgbClr val="0B4F71"/>
                </a:solidFill>
                <a:latin typeface="Segoe UI"/>
              </a:rPr>
              <a:t>Le nettoyage : ce qu'on corrige, ce qu'on refuse de corriger</a:t>
            </a:r>
          </a:p>
        </p:txBody>
      </p:sp>
      <p:sp>
        <p:nvSpPr>
          <p:cNvPr id="5" name="TextBox 4"/>
          <p:cNvSpPr txBox="1"/>
          <p:nvPr/>
        </p:nvSpPr>
        <p:spPr>
          <a:xfrm>
            <a:off x="502920" y="896112"/>
            <a:ext cx="11185855" cy="457200"/>
          </a:xfrm>
          <a:prstGeom prst="rect">
            <a:avLst/>
          </a:prstGeom>
          <a:noFill/>
        </p:spPr>
        <p:txBody>
          <a:bodyPr wrap="square" lIns="0" tIns="0" rIns="0" bIns="0" anchor="t">
            <a:normAutofit/>
          </a:bodyPr>
          <a:lstStyle/>
          <a:p>
            <a:pPr algn="l">
              <a:lnSpc>
                <a:spcPct val="115000"/>
              </a:lnSpc>
              <a:spcAft>
                <a:spcPts val="0"/>
              </a:spcAft>
            </a:pPr>
            <a:r>
              <a:rPr sz="1300" b="0">
                <a:solidFill>
                  <a:srgbClr val="33444F"/>
                </a:solidFill>
                <a:latin typeface="Segoe UI"/>
              </a:rPr>
              <a:t>Règle de conduite : on ne modifie que ce qu'on peut justifier. Une colonne vide à 38 % ne se remplit pas au hasard.</a:t>
            </a:r>
          </a:p>
        </p:txBody>
      </p:sp>
      <p:sp>
        <p:nvSpPr>
          <p:cNvPr id="6" name="Rectangle 5"/>
          <p:cNvSpPr/>
          <p:nvPr/>
        </p:nvSpPr>
        <p:spPr>
          <a:xfrm>
            <a:off x="0" y="6574536"/>
            <a:ext cx="12191695" cy="18288"/>
          </a:xfrm>
          <a:prstGeom prst="rect">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620256"/>
            <a:ext cx="7315200" cy="219456"/>
          </a:xfrm>
          <a:prstGeom prst="rect">
            <a:avLst/>
          </a:prstGeom>
          <a:noFill/>
        </p:spPr>
        <p:txBody>
          <a:bodyPr wrap="square" lIns="0" tIns="0" rIns="0" bIns="0" anchor="t">
            <a:normAutofit/>
          </a:bodyPr>
          <a:lstStyle/>
          <a:p>
            <a:pPr algn="l">
              <a:lnSpc>
                <a:spcPct val="115000"/>
              </a:lnSpc>
              <a:spcAft>
                <a:spcPts val="400"/>
              </a:spcAft>
            </a:pPr>
            <a:r>
              <a:rPr sz="850" b="0">
                <a:solidFill>
                  <a:srgbClr val="8B98A5"/>
                </a:solidFill>
                <a:latin typeface="Segoe UI"/>
              </a:rPr>
              <a:t>Garanteo · Projet final DataBird · Sophie Paradon</a:t>
            </a:r>
          </a:p>
        </p:txBody>
      </p:sp>
      <p:sp>
        <p:nvSpPr>
          <p:cNvPr id="8" name="TextBox 7"/>
          <p:cNvSpPr txBox="1"/>
          <p:nvPr/>
        </p:nvSpPr>
        <p:spPr>
          <a:xfrm>
            <a:off x="8579815" y="6620256"/>
            <a:ext cx="3108960" cy="219456"/>
          </a:xfrm>
          <a:prstGeom prst="rect">
            <a:avLst/>
          </a:prstGeom>
          <a:noFill/>
        </p:spPr>
        <p:txBody>
          <a:bodyPr wrap="square" lIns="0" tIns="0" rIns="0" bIns="0" anchor="t">
            <a:normAutofit/>
          </a:bodyPr>
          <a:lstStyle/>
          <a:p>
            <a:pPr algn="r">
              <a:lnSpc>
                <a:spcPct val="115000"/>
              </a:lnSpc>
              <a:spcAft>
                <a:spcPts val="400"/>
              </a:spcAft>
            </a:pPr>
            <a:r>
              <a:rPr sz="850" b="0">
                <a:solidFill>
                  <a:srgbClr val="8B98A5"/>
                </a:solidFill>
                <a:latin typeface="Segoe UI"/>
              </a:rPr>
              <a:t>Préparation   ·   8</a:t>
            </a:r>
          </a:p>
        </p:txBody>
      </p:sp>
      <p:sp>
        <p:nvSpPr>
          <p:cNvPr id="9" name="Rectangle 8"/>
          <p:cNvSpPr/>
          <p:nvPr/>
        </p:nvSpPr>
        <p:spPr>
          <a:xfrm>
            <a:off x="502920" y="1426464"/>
            <a:ext cx="5486400" cy="3017520"/>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 y="1426464"/>
            <a:ext cx="50292" cy="3017520"/>
          </a:xfrm>
          <a:prstGeom prst="rect">
            <a:avLst/>
          </a:prstGeom>
          <a:solidFill>
            <a:srgbClr val="3AA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58952" y="1563624"/>
            <a:ext cx="5065776" cy="292608"/>
          </a:xfrm>
          <a:prstGeom prst="rect">
            <a:avLst/>
          </a:prstGeom>
          <a:noFill/>
        </p:spPr>
        <p:txBody>
          <a:bodyPr wrap="square" lIns="0" tIns="0" rIns="0" bIns="0" anchor="t">
            <a:normAutofit/>
          </a:bodyPr>
          <a:lstStyle/>
          <a:p>
            <a:pPr algn="l">
              <a:lnSpc>
                <a:spcPct val="115000"/>
              </a:lnSpc>
              <a:spcAft>
                <a:spcPts val="0"/>
              </a:spcAft>
            </a:pPr>
            <a:r>
              <a:rPr sz="1250" b="1">
                <a:solidFill>
                  <a:srgbClr val="3AA65C"/>
                </a:solidFill>
                <a:latin typeface="Segoe UI"/>
              </a:rPr>
              <a:t>Corrigé, et pourquoi</a:t>
            </a:r>
          </a:p>
        </p:txBody>
      </p:sp>
      <p:sp>
        <p:nvSpPr>
          <p:cNvPr id="12" name="TextBox 11"/>
          <p:cNvSpPr txBox="1"/>
          <p:nvPr/>
        </p:nvSpPr>
        <p:spPr>
          <a:xfrm>
            <a:off x="758952" y="1901952"/>
            <a:ext cx="5065776" cy="2395727"/>
          </a:xfrm>
          <a:prstGeom prst="rect">
            <a:avLst/>
          </a:prstGeom>
          <a:noFill/>
        </p:spPr>
        <p:txBody>
          <a:bodyPr wrap="square" lIns="0" tIns="0" rIns="0" bIns="0" anchor="t">
            <a:normAutofit/>
          </a:bodyPr>
          <a:lstStyle/>
          <a:p>
            <a:pPr algn="l">
              <a:lnSpc>
                <a:spcPct val="122000"/>
              </a:lnSpc>
              <a:spcAft>
                <a:spcPts val="600"/>
              </a:spcAft>
            </a:pPr>
            <a:r>
              <a:rPr sz="1100" b="1">
                <a:solidFill>
                  <a:srgbClr val="0B4F71"/>
                </a:solidFill>
                <a:latin typeface="Segoe UI"/>
              </a:rPr>
              <a:t>100 prospect_id en double, </a:t>
            </a:r>
            <a:r>
              <a:rPr sz="1100" b="0">
                <a:solidFill>
                  <a:srgbClr val="33444F"/>
                </a:solidFill>
                <a:latin typeface="Segoe UI"/>
              </a:rPr>
              <a:t>dont 39 avec un âge divergent → règle retenue : garder la 1re occurrence</a:t>
            </a:r>
          </a:p>
          <a:p>
            <a:pPr algn="l">
              <a:lnSpc>
                <a:spcPct val="122000"/>
              </a:lnSpc>
              <a:spcAft>
                <a:spcPts val="600"/>
              </a:spcAft>
            </a:pPr>
            <a:r>
              <a:rPr sz="1100" b="1">
                <a:solidFill>
                  <a:srgbClr val="0B4F71"/>
                </a:solidFill>
                <a:latin typeface="Segoe UI"/>
              </a:rPr>
              <a:t>850 doublons stricts dans sessions </a:t>
            </a:r>
            <a:r>
              <a:rPr sz="1100" b="0">
                <a:solidFill>
                  <a:srgbClr val="33444F"/>
                </a:solidFill>
                <a:latin typeface="Segoe UI"/>
              </a:rPr>
              <a:t>→ suppression simple, rien à arbitrer</a:t>
            </a:r>
          </a:p>
          <a:p>
            <a:pPr algn="l">
              <a:lnSpc>
                <a:spcPct val="122000"/>
              </a:lnSpc>
              <a:spcAft>
                <a:spcPts val="600"/>
              </a:spcAft>
            </a:pPr>
            <a:r>
              <a:rPr sz="1100" b="1">
                <a:solidFill>
                  <a:srgbClr val="0B4F71"/>
                </a:solidFill>
                <a:latin typeface="Segoe UI"/>
              </a:rPr>
              <a:t>11 014 events sans user_id ni horodatage </a:t>
            </a:r>
            <a:r>
              <a:rPr sz="1100" b="0">
                <a:solidFill>
                  <a:srgbClr val="33444F"/>
                </a:solidFill>
                <a:latin typeface="Segoe UI"/>
              </a:rPr>
              <a:t>→ non rattachables à un prospect</a:t>
            </a:r>
          </a:p>
          <a:p>
            <a:pPr algn="l">
              <a:lnSpc>
                <a:spcPct val="122000"/>
              </a:lnSpc>
              <a:spcAft>
                <a:spcPts val="600"/>
              </a:spcAft>
            </a:pPr>
            <a:r>
              <a:rPr sz="1100" b="1">
                <a:solidFill>
                  <a:srgbClr val="0B4F71"/>
                </a:solidFill>
                <a:latin typeface="Segoe UI"/>
              </a:rPr>
              <a:t>gender = « 123 » sur 70 lignes </a:t>
            </a:r>
            <a:r>
              <a:rPr sz="1100" b="0">
                <a:solidFill>
                  <a:srgbClr val="33444F"/>
                </a:solidFill>
                <a:latin typeface="Segoe UI"/>
              </a:rPr>
              <a:t>→ recodé en valeur manquante</a:t>
            </a:r>
          </a:p>
          <a:p>
            <a:pPr algn="l">
              <a:lnSpc>
                <a:spcPct val="122000"/>
              </a:lnSpc>
              <a:spcAft>
                <a:spcPts val="600"/>
              </a:spcAft>
            </a:pPr>
            <a:r>
              <a:rPr sz="1100" b="1">
                <a:solidFill>
                  <a:srgbClr val="0B4F71"/>
                </a:solidFill>
                <a:latin typeface="Segoe UI"/>
              </a:rPr>
              <a:t>Code pays « SP » </a:t>
            </a:r>
            <a:r>
              <a:rPr sz="1100" b="0">
                <a:solidFill>
                  <a:srgbClr val="33444F"/>
                </a:solidFill>
                <a:latin typeface="Segoe UI"/>
              </a:rPr>
              <a:t>→ « ES », le code ISO de l'Espagne</a:t>
            </a:r>
          </a:p>
          <a:p>
            <a:pPr algn="l">
              <a:lnSpc>
                <a:spcPct val="122000"/>
              </a:lnSpc>
              <a:spcAft>
                <a:spcPts val="600"/>
              </a:spcAft>
            </a:pPr>
            <a:r>
              <a:rPr sz="1100" b="1">
                <a:solidFill>
                  <a:srgbClr val="0B4F71"/>
                </a:solidFill>
                <a:latin typeface="Segoe UI"/>
              </a:rPr>
              <a:t>device_browser </a:t>
            </a:r>
            <a:r>
              <a:rPr sz="1100" b="0">
                <a:solidFill>
                  <a:srgbClr val="33444F"/>
                </a:solidFill>
                <a:latin typeface="Segoe UI"/>
              </a:rPr>
              <a:t>→ renommée search_engine : que des moteurs de recherche, jamais un navigateur</a:t>
            </a:r>
          </a:p>
        </p:txBody>
      </p:sp>
      <p:sp>
        <p:nvSpPr>
          <p:cNvPr id="13" name="Rectangle 12"/>
          <p:cNvSpPr/>
          <p:nvPr/>
        </p:nvSpPr>
        <p:spPr>
          <a:xfrm>
            <a:off x="6208776" y="1426464"/>
            <a:ext cx="5486400" cy="3017520"/>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08776" y="1426464"/>
            <a:ext cx="50292" cy="3017520"/>
          </a:xfrm>
          <a:prstGeom prst="rect">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64808" y="1563624"/>
            <a:ext cx="5065776" cy="292608"/>
          </a:xfrm>
          <a:prstGeom prst="rect">
            <a:avLst/>
          </a:prstGeom>
          <a:noFill/>
        </p:spPr>
        <p:txBody>
          <a:bodyPr wrap="square" lIns="0" tIns="0" rIns="0" bIns="0" anchor="t">
            <a:normAutofit/>
          </a:bodyPr>
          <a:lstStyle/>
          <a:p>
            <a:pPr algn="l">
              <a:lnSpc>
                <a:spcPct val="115000"/>
              </a:lnSpc>
              <a:spcAft>
                <a:spcPts val="0"/>
              </a:spcAft>
            </a:pPr>
            <a:r>
              <a:rPr sz="1250" b="1">
                <a:solidFill>
                  <a:srgbClr val="D9534F"/>
                </a:solidFill>
                <a:latin typeface="Segoe UI"/>
              </a:rPr>
              <a:t>Volontairement NON corrigé, et pourquoi</a:t>
            </a:r>
          </a:p>
        </p:txBody>
      </p:sp>
      <p:sp>
        <p:nvSpPr>
          <p:cNvPr id="16" name="TextBox 15"/>
          <p:cNvSpPr txBox="1"/>
          <p:nvPr/>
        </p:nvSpPr>
        <p:spPr>
          <a:xfrm>
            <a:off x="6464808" y="1901952"/>
            <a:ext cx="5065776" cy="2395727"/>
          </a:xfrm>
          <a:prstGeom prst="rect">
            <a:avLst/>
          </a:prstGeom>
          <a:noFill/>
        </p:spPr>
        <p:txBody>
          <a:bodyPr wrap="square" lIns="0" tIns="0" rIns="0" bIns="0" anchor="t">
            <a:normAutofit/>
          </a:bodyPr>
          <a:lstStyle/>
          <a:p>
            <a:pPr algn="l">
              <a:lnSpc>
                <a:spcPct val="122000"/>
              </a:lnSpc>
              <a:spcAft>
                <a:spcPts val="600"/>
              </a:spcAft>
            </a:pPr>
            <a:r>
              <a:rPr sz="1100" b="1">
                <a:solidFill>
                  <a:srgbClr val="D9534F"/>
                </a:solidFill>
                <a:latin typeface="Segoe UI"/>
              </a:rPr>
              <a:t>device_operating_system et device_language vides à 38 % </a:t>
            </a:r>
            <a:r>
              <a:rPr sz="1100" b="0">
                <a:solidFill>
                  <a:srgbClr val="33444F"/>
                </a:solidFill>
                <a:latin typeface="Segoe UI"/>
              </a:rPr>
              <a:t>→ un remplissage arbitraire créerait de fausses catégories</a:t>
            </a:r>
          </a:p>
          <a:p>
            <a:pPr algn="l">
              <a:lnSpc>
                <a:spcPct val="122000"/>
              </a:lnSpc>
              <a:spcAft>
                <a:spcPts val="600"/>
              </a:spcAft>
            </a:pPr>
            <a:r>
              <a:rPr sz="1100" b="1">
                <a:solidFill>
                  <a:srgbClr val="D9534F"/>
                </a:solidFill>
                <a:latin typeface="Segoe UI"/>
              </a:rPr>
              <a:t>Durée plafonnée à 60,0 minutes pile </a:t>
            </a:r>
            <a:r>
              <a:rPr sz="1100" b="0">
                <a:solidFill>
                  <a:srgbClr val="33444F"/>
                </a:solidFill>
                <a:latin typeface="Segoe UI"/>
              </a:rPr>
              <a:t>→ un maximum rond n'arrive pas par hasard : c'est un timeout de l'outil, pas une erreur. À signaler, pas à corriger.</a:t>
            </a:r>
          </a:p>
          <a:p>
            <a:pPr algn="l">
              <a:lnSpc>
                <a:spcPct val="122000"/>
              </a:lnSpc>
              <a:spcAft>
                <a:spcPts val="600"/>
              </a:spcAft>
            </a:pPr>
            <a:r>
              <a:rPr sz="1100" b="1">
                <a:solidFill>
                  <a:srgbClr val="D9534F"/>
                </a:solidFill>
                <a:latin typeface="Segoe UI"/>
              </a:rPr>
              <a:t>campaign_id absent sur 80 % des events </a:t>
            </a:r>
            <a:r>
              <a:rPr sz="1100" b="0">
                <a:solidFill>
                  <a:srgbClr val="33444F"/>
                </a:solidFill>
                <a:latin typeface="Segoe UI"/>
              </a:rPr>
              <a:t>→ normal : la navigation interne ne porte pas de campagne</a:t>
            </a:r>
          </a:p>
          <a:p>
            <a:pPr algn="l">
              <a:lnSpc>
                <a:spcPct val="122000"/>
              </a:lnSpc>
              <a:spcAft>
                <a:spcPts val="600"/>
              </a:spcAft>
            </a:pPr>
            <a:r>
              <a:rPr sz="1100" b="1">
                <a:solidFill>
                  <a:srgbClr val="D9534F"/>
                </a:solidFill>
                <a:latin typeface="Segoe UI"/>
              </a:rPr>
              <a:t>381 events sans event_type </a:t>
            </a:r>
            <a:r>
              <a:rPr sz="1100" b="0">
                <a:solidFill>
                  <a:srgbClr val="33444F"/>
                </a:solidFill>
                <a:latin typeface="Segoe UI"/>
              </a:rPr>
              <a:t>→ impact borné à +10,8 % sur une seule étape, chiffré et documenté</a:t>
            </a:r>
          </a:p>
        </p:txBody>
      </p:sp>
      <p:sp>
        <p:nvSpPr>
          <p:cNvPr id="17" name="Rectangle 16"/>
          <p:cNvSpPr/>
          <p:nvPr/>
        </p:nvSpPr>
        <p:spPr>
          <a:xfrm>
            <a:off x="502920" y="4626864"/>
            <a:ext cx="11201400" cy="658368"/>
          </a:xfrm>
          <a:prstGeom prst="rect">
            <a:avLst/>
          </a:prstGeom>
          <a:solidFill>
            <a:srgbClr val="E8F1F6"/>
          </a:solidFill>
          <a:ln w="9525">
            <a:solidFill>
              <a:srgbClr val="0B4F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04088" y="4736592"/>
            <a:ext cx="10881360" cy="457200"/>
          </a:xfrm>
          <a:prstGeom prst="rect">
            <a:avLst/>
          </a:prstGeom>
          <a:noFill/>
        </p:spPr>
        <p:txBody>
          <a:bodyPr wrap="square" lIns="0" tIns="0" rIns="0" bIns="0" anchor="t">
            <a:normAutofit/>
          </a:bodyPr>
          <a:lstStyle/>
          <a:p>
            <a:pPr algn="l">
              <a:lnSpc>
                <a:spcPct val="115000"/>
              </a:lnSpc>
              <a:spcAft>
                <a:spcPts val="400"/>
              </a:spcAft>
            </a:pPr>
            <a:r>
              <a:rPr sz="1200" b="1">
                <a:solidFill>
                  <a:srgbClr val="0B4F71"/>
                </a:solidFill>
                <a:latin typeface="Segoe UI"/>
              </a:rPr>
              <a:t>Bilan : 11 964 lignes supprimées, toutes justifiées ligne par ligne dans le notebook. </a:t>
            </a:r>
            <a:r>
              <a:rPr sz="1200" b="0">
                <a:solidFill>
                  <a:srgbClr val="33444F"/>
                </a:solidFill>
                <a:latin typeface="Segoe UI"/>
              </a:rPr>
              <a:t>Aucune valeur inventée, aucun remplissage arbitraire. Le jeu nettoyé est gelé dans 01_Donnees/propre/.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185855" cy="457200"/>
          </a:xfrm>
          <a:prstGeom prst="rect">
            <a:avLst/>
          </a:prstGeom>
          <a:noFill/>
        </p:spPr>
        <p:txBody>
          <a:bodyPr wrap="square" lIns="0" tIns="0" rIns="0" bIns="0" anchor="t">
            <a:normAutofit/>
          </a:bodyPr>
          <a:lstStyle/>
          <a:p>
            <a:pPr algn="l">
              <a:lnSpc>
                <a:spcPct val="115000"/>
              </a:lnSpc>
              <a:spcAft>
                <a:spcPts val="400"/>
              </a:spcAft>
            </a:pPr>
            <a:r>
              <a:rPr sz="2500" b="1">
                <a:solidFill>
                  <a:srgbClr val="0B4F71"/>
                </a:solidFill>
                <a:latin typeface="Segoe UI"/>
              </a:rPr>
              <a:t>Ce que 100 doublons faussaient</a:t>
            </a:r>
          </a:p>
        </p:txBody>
      </p:sp>
      <p:sp>
        <p:nvSpPr>
          <p:cNvPr id="5" name="TextBox 4"/>
          <p:cNvSpPr txBox="1"/>
          <p:nvPr/>
        </p:nvSpPr>
        <p:spPr>
          <a:xfrm>
            <a:off x="502920" y="896112"/>
            <a:ext cx="11185855" cy="457200"/>
          </a:xfrm>
          <a:prstGeom prst="rect">
            <a:avLst/>
          </a:prstGeom>
          <a:noFill/>
        </p:spPr>
        <p:txBody>
          <a:bodyPr wrap="square" lIns="0" tIns="0" rIns="0" bIns="0" anchor="t">
            <a:normAutofit/>
          </a:bodyPr>
          <a:lstStyle/>
          <a:p>
            <a:pPr algn="l">
              <a:lnSpc>
                <a:spcPct val="115000"/>
              </a:lnSpc>
              <a:spcAft>
                <a:spcPts val="0"/>
              </a:spcAft>
            </a:pPr>
            <a:r>
              <a:rPr sz="1300" b="0">
                <a:solidFill>
                  <a:srgbClr val="33444F"/>
                </a:solidFill>
                <a:latin typeface="Segoe UI"/>
              </a:rPr>
              <a:t>Garanteo croit payer 372 € par client alors qu'elle en paie 389 : un coût réel supérieur de 4,4 % à ce qu'affichent ses données brutes — et un budget arbitré sur des chiffres faux.</a:t>
            </a:r>
          </a:p>
        </p:txBody>
      </p:sp>
      <p:sp>
        <p:nvSpPr>
          <p:cNvPr id="6" name="Rectangle 5"/>
          <p:cNvSpPr/>
          <p:nvPr/>
        </p:nvSpPr>
        <p:spPr>
          <a:xfrm>
            <a:off x="0" y="6574536"/>
            <a:ext cx="12191695" cy="18288"/>
          </a:xfrm>
          <a:prstGeom prst="rect">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620256"/>
            <a:ext cx="7315200" cy="219456"/>
          </a:xfrm>
          <a:prstGeom prst="rect">
            <a:avLst/>
          </a:prstGeom>
          <a:noFill/>
        </p:spPr>
        <p:txBody>
          <a:bodyPr wrap="square" lIns="0" tIns="0" rIns="0" bIns="0" anchor="t">
            <a:normAutofit/>
          </a:bodyPr>
          <a:lstStyle/>
          <a:p>
            <a:pPr algn="l">
              <a:lnSpc>
                <a:spcPct val="115000"/>
              </a:lnSpc>
              <a:spcAft>
                <a:spcPts val="400"/>
              </a:spcAft>
            </a:pPr>
            <a:r>
              <a:rPr sz="850" b="0">
                <a:solidFill>
                  <a:srgbClr val="8B98A5"/>
                </a:solidFill>
                <a:latin typeface="Segoe UI"/>
              </a:rPr>
              <a:t>Garanteo · Projet final DataBird · Sophie Paradon</a:t>
            </a:r>
          </a:p>
        </p:txBody>
      </p:sp>
      <p:sp>
        <p:nvSpPr>
          <p:cNvPr id="8" name="TextBox 7"/>
          <p:cNvSpPr txBox="1"/>
          <p:nvPr/>
        </p:nvSpPr>
        <p:spPr>
          <a:xfrm>
            <a:off x="8579815" y="6620256"/>
            <a:ext cx="3108960" cy="219456"/>
          </a:xfrm>
          <a:prstGeom prst="rect">
            <a:avLst/>
          </a:prstGeom>
          <a:noFill/>
        </p:spPr>
        <p:txBody>
          <a:bodyPr wrap="square" lIns="0" tIns="0" rIns="0" bIns="0" anchor="t">
            <a:normAutofit/>
          </a:bodyPr>
          <a:lstStyle/>
          <a:p>
            <a:pPr algn="r">
              <a:lnSpc>
                <a:spcPct val="115000"/>
              </a:lnSpc>
              <a:spcAft>
                <a:spcPts val="400"/>
              </a:spcAft>
            </a:pPr>
            <a:r>
              <a:rPr sz="850" b="0">
                <a:solidFill>
                  <a:srgbClr val="8B98A5"/>
                </a:solidFill>
                <a:latin typeface="Segoe UI"/>
              </a:rPr>
              <a:t>Préparation   ·   9</a:t>
            </a:r>
          </a:p>
        </p:txBody>
      </p:sp>
      <p:sp>
        <p:nvSpPr>
          <p:cNvPr id="10" name="Rectangle 9"/>
          <p:cNvSpPr/>
          <p:nvPr/>
        </p:nvSpPr>
        <p:spPr>
          <a:xfrm>
            <a:off x="7818120" y="1517904"/>
            <a:ext cx="3429000" cy="1298448"/>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818120" y="1517904"/>
            <a:ext cx="3429000" cy="50292"/>
          </a:xfrm>
          <a:prstGeom prst="rect">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01000" y="1755648"/>
            <a:ext cx="3063240" cy="502920"/>
          </a:xfrm>
          <a:prstGeom prst="rect">
            <a:avLst/>
          </a:prstGeom>
          <a:noFill/>
        </p:spPr>
        <p:txBody>
          <a:bodyPr wrap="square" lIns="0" tIns="0" rIns="0" bIns="0" anchor="t">
            <a:normAutofit/>
          </a:bodyPr>
          <a:lstStyle/>
          <a:p>
            <a:pPr algn="l">
              <a:lnSpc>
                <a:spcPct val="115000"/>
              </a:lnSpc>
              <a:spcAft>
                <a:spcPts val="400"/>
              </a:spcAft>
            </a:pPr>
            <a:r>
              <a:rPr sz="2700" b="1">
                <a:solidFill>
                  <a:srgbClr val="D9534F"/>
                </a:solidFill>
                <a:latin typeface="Segoe UI"/>
              </a:rPr>
              <a:t>372 € → 389 €</a:t>
            </a:r>
          </a:p>
        </p:txBody>
      </p:sp>
      <p:sp>
        <p:nvSpPr>
          <p:cNvPr id="13" name="TextBox 12"/>
          <p:cNvSpPr txBox="1"/>
          <p:nvPr/>
        </p:nvSpPr>
        <p:spPr>
          <a:xfrm>
            <a:off x="8001000" y="2304288"/>
            <a:ext cx="3081528" cy="237744"/>
          </a:xfrm>
          <a:prstGeom prst="rect">
            <a:avLst/>
          </a:prstGeom>
          <a:noFill/>
        </p:spPr>
        <p:txBody>
          <a:bodyPr wrap="square" lIns="0" tIns="0" rIns="0" bIns="0" anchor="t">
            <a:normAutofit/>
          </a:bodyPr>
          <a:lstStyle/>
          <a:p>
            <a:pPr algn="l">
              <a:lnSpc>
                <a:spcPct val="115000"/>
              </a:lnSpc>
              <a:spcAft>
                <a:spcPts val="0"/>
              </a:spcAft>
            </a:pPr>
            <a:r>
              <a:rPr sz="1050" b="0">
                <a:solidFill>
                  <a:srgbClr val="33444F"/>
                </a:solidFill>
                <a:latin typeface="Segoe UI"/>
              </a:rPr>
              <a:t>Coût d'acquisition réel par client</a:t>
            </a:r>
          </a:p>
        </p:txBody>
      </p:sp>
      <p:sp>
        <p:nvSpPr>
          <p:cNvPr id="14" name="TextBox 13"/>
          <p:cNvSpPr txBox="1"/>
          <p:nvPr/>
        </p:nvSpPr>
        <p:spPr>
          <a:xfrm>
            <a:off x="8001000" y="2560320"/>
            <a:ext cx="3081528" cy="237744"/>
          </a:xfrm>
          <a:prstGeom prst="rect">
            <a:avLst/>
          </a:prstGeom>
          <a:noFill/>
        </p:spPr>
        <p:txBody>
          <a:bodyPr wrap="square" lIns="0" tIns="0" rIns="0" bIns="0" anchor="t">
            <a:normAutofit/>
          </a:bodyPr>
          <a:lstStyle/>
          <a:p>
            <a:pPr algn="l">
              <a:lnSpc>
                <a:spcPct val="115000"/>
              </a:lnSpc>
              <a:spcAft>
                <a:spcPts val="0"/>
              </a:spcAft>
            </a:pPr>
            <a:r>
              <a:rPr sz="850" b="0">
                <a:solidFill>
                  <a:srgbClr val="8B98A5"/>
                </a:solidFill>
                <a:latin typeface="Segoe UI"/>
              </a:rPr>
              <a:t>soit 17 € sous-estimés par client</a:t>
            </a:r>
          </a:p>
        </p:txBody>
      </p:sp>
      <p:sp>
        <p:nvSpPr>
          <p:cNvPr id="15" name="Rectangle 14"/>
          <p:cNvSpPr/>
          <p:nvPr/>
        </p:nvSpPr>
        <p:spPr>
          <a:xfrm>
            <a:off x="7818120" y="2907792"/>
            <a:ext cx="3429000" cy="2377440"/>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818120" y="2907792"/>
            <a:ext cx="50292" cy="2377440"/>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74152" y="3044952"/>
            <a:ext cx="3008376" cy="292608"/>
          </a:xfrm>
          <a:prstGeom prst="rect">
            <a:avLst/>
          </a:prstGeom>
          <a:noFill/>
        </p:spPr>
        <p:txBody>
          <a:bodyPr wrap="square" lIns="0" tIns="0" rIns="0" bIns="0" anchor="t">
            <a:normAutofit/>
          </a:bodyPr>
          <a:lstStyle/>
          <a:p>
            <a:pPr algn="l">
              <a:lnSpc>
                <a:spcPct val="115000"/>
              </a:lnSpc>
              <a:spcAft>
                <a:spcPts val="0"/>
              </a:spcAft>
            </a:pPr>
            <a:r>
              <a:rPr sz="1250" b="1">
                <a:solidFill>
                  <a:srgbClr val="0B4F71"/>
                </a:solidFill>
                <a:latin typeface="Segoe UI"/>
              </a:rPr>
              <a:t>Pourquoi c'est le point de départ</a:t>
            </a:r>
          </a:p>
        </p:txBody>
      </p:sp>
      <p:sp>
        <p:nvSpPr>
          <p:cNvPr id="18" name="TextBox 17"/>
          <p:cNvSpPr txBox="1"/>
          <p:nvPr/>
        </p:nvSpPr>
        <p:spPr>
          <a:xfrm>
            <a:off x="8074152" y="3383280"/>
            <a:ext cx="3008376" cy="1755648"/>
          </a:xfrm>
          <a:prstGeom prst="rect">
            <a:avLst/>
          </a:prstGeom>
          <a:noFill/>
        </p:spPr>
        <p:txBody>
          <a:bodyPr wrap="square" lIns="0" tIns="0" rIns="0" bIns="0" anchor="t">
            <a:normAutofit/>
          </a:bodyPr>
          <a:lstStyle/>
          <a:p>
            <a:pPr algn="l">
              <a:lnSpc>
                <a:spcPct val="122000"/>
              </a:lnSpc>
              <a:spcAft>
                <a:spcPts val="600"/>
              </a:spcAft>
            </a:pPr>
            <a:r>
              <a:rPr sz="1100" b="1">
                <a:solidFill>
                  <a:srgbClr val="0B4F71"/>
                </a:solidFill>
                <a:latin typeface="Segoe UI"/>
              </a:rPr>
              <a:t>8 clients comptés deux fois</a:t>
            </a:r>
            <a:r>
              <a:rPr sz="1100" b="0">
                <a:solidFill>
                  <a:srgbClr val="33444F"/>
                </a:solidFill>
                <a:latin typeface="Segoe UI"/>
              </a:rPr>
              <a:t> suffisent à déplacer le coût d'acquisition de 17 €.</a:t>
            </a:r>
          </a:p>
          <a:p>
            <a:pPr algn="l">
              <a:lnSpc>
                <a:spcPct val="122000"/>
              </a:lnSpc>
              <a:spcAft>
                <a:spcPts val="600"/>
              </a:spcAft>
            </a:pPr>
            <a:r>
              <a:rPr sz="1100" b="1">
                <a:solidFill>
                  <a:srgbClr val="D9534F"/>
                </a:solidFill>
                <a:latin typeface="Segoe UI"/>
              </a:rPr>
              <a:t>Pas un simple drop_duplicates : </a:t>
            </a:r>
            <a:r>
              <a:rPr sz="1100" b="0">
                <a:solidFill>
                  <a:srgbClr val="33444F"/>
                </a:solidFill>
                <a:latin typeface="Segoe UI"/>
              </a:rPr>
              <a:t>39 paires sur 100 ont un âge divergent. Il fallait trancher une règle.</a:t>
            </a:r>
          </a:p>
          <a:p>
            <a:pPr algn="l">
              <a:lnSpc>
                <a:spcPct val="122000"/>
              </a:lnSpc>
              <a:spcAft>
                <a:spcPts val="600"/>
              </a:spcAft>
            </a:pPr>
            <a:r>
              <a:rPr sz="1100" b="1">
                <a:solidFill>
                  <a:srgbClr val="3AA65C"/>
                </a:solidFill>
                <a:latin typeface="Segoe UI"/>
              </a:rPr>
              <a:t>Et j'ai vérifié qu'elle ne change rien : </a:t>
            </a:r>
            <a:r>
              <a:rPr sz="1100" b="0">
                <a:solidFill>
                  <a:srgbClr val="33444F"/>
                </a:solidFill>
                <a:latin typeface="Segoe UI"/>
              </a:rPr>
              <a:t>les deux règles opposées donnent le même CAC de 388,89 €.</a:t>
            </a:r>
          </a:p>
        </p:txBody>
      </p:sp>
      <p:pic>
        <p:nvPicPr>
          <p:cNvPr id="19" name="Picture 18" descr="09_qualite.png"/>
          <p:cNvPicPr>
            <a:picLocks noChangeAspect="1"/>
          </p:cNvPicPr>
          <p:nvPr/>
        </p:nvPicPr>
        <p:blipFill>
          <a:blip r:embed="rId4"/>
          <a:stretch>
            <a:fillRect/>
          </a:stretch>
        </p:blipFill>
        <p:spPr>
          <a:xfrm>
            <a:off x="279013" y="1426464"/>
            <a:ext cx="7415541" cy="391363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1CA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0" y="2331720"/>
            <a:ext cx="1828800" cy="1463040"/>
          </a:xfrm>
          <a:prstGeom prst="rect">
            <a:avLst/>
          </a:prstGeom>
          <a:noFill/>
        </p:spPr>
        <p:txBody>
          <a:bodyPr wrap="square" lIns="0" tIns="0" rIns="0" bIns="0" anchor="t">
            <a:normAutofit/>
          </a:bodyPr>
          <a:lstStyle/>
          <a:p>
            <a:pPr algn="l">
              <a:lnSpc>
                <a:spcPct val="115000"/>
              </a:lnSpc>
              <a:spcAft>
                <a:spcPts val="400"/>
              </a:spcAft>
            </a:pPr>
            <a:r>
              <a:rPr sz="10000" b="1">
                <a:solidFill>
                  <a:srgbClr val="2E86A6"/>
                </a:solidFill>
                <a:latin typeface="Segoe UI"/>
              </a:rPr>
              <a:t>3</a:t>
            </a:r>
          </a:p>
        </p:txBody>
      </p:sp>
      <p:sp>
        <p:nvSpPr>
          <p:cNvPr id="5" name="TextBox 4"/>
          <p:cNvSpPr txBox="1"/>
          <p:nvPr/>
        </p:nvSpPr>
        <p:spPr>
          <a:xfrm>
            <a:off x="3200400" y="2606040"/>
            <a:ext cx="7863840" cy="822960"/>
          </a:xfrm>
          <a:prstGeom prst="rect">
            <a:avLst/>
          </a:prstGeom>
          <a:noFill/>
        </p:spPr>
        <p:txBody>
          <a:bodyPr wrap="square" lIns="0" tIns="0" rIns="0" bIns="0" anchor="t">
            <a:normAutofit/>
          </a:bodyPr>
          <a:lstStyle/>
          <a:p>
            <a:pPr algn="l">
              <a:lnSpc>
                <a:spcPct val="115000"/>
              </a:lnSpc>
              <a:spcAft>
                <a:spcPts val="400"/>
              </a:spcAft>
            </a:pPr>
            <a:r>
              <a:rPr sz="4000" b="1">
                <a:solidFill>
                  <a:srgbClr val="FFFFFF"/>
                </a:solidFill>
                <a:latin typeface="Segoe UI"/>
              </a:rPr>
              <a:t>Analyse</a:t>
            </a:r>
          </a:p>
        </p:txBody>
      </p:sp>
      <p:sp>
        <p:nvSpPr>
          <p:cNvPr id="6" name="TextBox 5"/>
          <p:cNvSpPr txBox="1"/>
          <p:nvPr/>
        </p:nvSpPr>
        <p:spPr>
          <a:xfrm>
            <a:off x="3255264" y="3611880"/>
            <a:ext cx="7863840" cy="457200"/>
          </a:xfrm>
          <a:prstGeom prst="rect">
            <a:avLst/>
          </a:prstGeom>
          <a:noFill/>
        </p:spPr>
        <p:txBody>
          <a:bodyPr wrap="square" lIns="0" tIns="0" rIns="0" bIns="0" anchor="t">
            <a:normAutofit/>
          </a:bodyPr>
          <a:lstStyle/>
          <a:p>
            <a:pPr algn="l">
              <a:lnSpc>
                <a:spcPct val="115000"/>
              </a:lnSpc>
              <a:spcAft>
                <a:spcPts val="400"/>
              </a:spcAft>
            </a:pPr>
            <a:r>
              <a:rPr sz="1500" b="0">
                <a:solidFill>
                  <a:srgbClr val="A8D3E6"/>
                </a:solidFill>
                <a:latin typeface="Segoe UI"/>
              </a:rPr>
              <a:t>Le coût d'acquisition, l'attribution, la statistique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185855" cy="457200"/>
          </a:xfrm>
          <a:prstGeom prst="rect">
            <a:avLst/>
          </a:prstGeom>
          <a:noFill/>
        </p:spPr>
        <p:txBody>
          <a:bodyPr wrap="square" lIns="0" tIns="0" rIns="0" bIns="0" anchor="t">
            <a:normAutofit/>
          </a:bodyPr>
          <a:lstStyle/>
          <a:p>
            <a:pPr algn="l">
              <a:lnSpc>
                <a:spcPct val="115000"/>
              </a:lnSpc>
              <a:spcAft>
                <a:spcPts val="400"/>
              </a:spcAft>
            </a:pPr>
            <a:r>
              <a:rPr sz="2500" b="1">
                <a:solidFill>
                  <a:srgbClr val="0B4F71"/>
                </a:solidFill>
                <a:latin typeface="Segoe UI"/>
              </a:rPr>
              <a:t>L'entonnoir : où Garanteo perd ses prospects</a:t>
            </a:r>
          </a:p>
        </p:txBody>
      </p:sp>
      <p:sp>
        <p:nvSpPr>
          <p:cNvPr id="5" name="TextBox 4"/>
          <p:cNvSpPr txBox="1"/>
          <p:nvPr/>
        </p:nvSpPr>
        <p:spPr>
          <a:xfrm>
            <a:off x="502920" y="896112"/>
            <a:ext cx="11185855" cy="457200"/>
          </a:xfrm>
          <a:prstGeom prst="rect">
            <a:avLst/>
          </a:prstGeom>
          <a:noFill/>
        </p:spPr>
        <p:txBody>
          <a:bodyPr wrap="square" lIns="0" tIns="0" rIns="0" bIns="0" anchor="t">
            <a:normAutofit/>
          </a:bodyPr>
          <a:lstStyle/>
          <a:p>
            <a:pPr algn="l">
              <a:lnSpc>
                <a:spcPct val="115000"/>
              </a:lnSpc>
              <a:spcAft>
                <a:spcPts val="0"/>
              </a:spcAft>
            </a:pPr>
            <a:r>
              <a:rPr sz="1300" b="0">
                <a:solidFill>
                  <a:srgbClr val="33444F"/>
                </a:solidFill>
                <a:latin typeface="Segoe UI"/>
              </a:rPr>
              <a:t>Chaque étape compte des personnes distinctes, pas des clics. Compter les 2 723 clics au lieu des 2 157 personnes surestimerait l'intérêt de 26 %.</a:t>
            </a:r>
          </a:p>
        </p:txBody>
      </p:sp>
      <p:sp>
        <p:nvSpPr>
          <p:cNvPr id="6" name="Rectangle 5"/>
          <p:cNvSpPr/>
          <p:nvPr/>
        </p:nvSpPr>
        <p:spPr>
          <a:xfrm>
            <a:off x="0" y="6574536"/>
            <a:ext cx="12191695" cy="18288"/>
          </a:xfrm>
          <a:prstGeom prst="rect">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620256"/>
            <a:ext cx="7315200" cy="219456"/>
          </a:xfrm>
          <a:prstGeom prst="rect">
            <a:avLst/>
          </a:prstGeom>
          <a:noFill/>
        </p:spPr>
        <p:txBody>
          <a:bodyPr wrap="square" lIns="0" tIns="0" rIns="0" bIns="0" anchor="t">
            <a:normAutofit/>
          </a:bodyPr>
          <a:lstStyle/>
          <a:p>
            <a:pPr algn="l">
              <a:lnSpc>
                <a:spcPct val="115000"/>
              </a:lnSpc>
              <a:spcAft>
                <a:spcPts val="400"/>
              </a:spcAft>
            </a:pPr>
            <a:r>
              <a:rPr sz="850" b="0">
                <a:solidFill>
                  <a:srgbClr val="8B98A5"/>
                </a:solidFill>
                <a:latin typeface="Segoe UI"/>
              </a:rPr>
              <a:t>Garanteo · Projet final DataBird · Sophie Paradon</a:t>
            </a:r>
          </a:p>
        </p:txBody>
      </p:sp>
      <p:sp>
        <p:nvSpPr>
          <p:cNvPr id="8" name="TextBox 7"/>
          <p:cNvSpPr txBox="1"/>
          <p:nvPr/>
        </p:nvSpPr>
        <p:spPr>
          <a:xfrm>
            <a:off x="8579815" y="6620256"/>
            <a:ext cx="3108960" cy="219456"/>
          </a:xfrm>
          <a:prstGeom prst="rect">
            <a:avLst/>
          </a:prstGeom>
          <a:noFill/>
        </p:spPr>
        <p:txBody>
          <a:bodyPr wrap="square" lIns="0" tIns="0" rIns="0" bIns="0" anchor="t">
            <a:normAutofit/>
          </a:bodyPr>
          <a:lstStyle/>
          <a:p>
            <a:pPr algn="r">
              <a:lnSpc>
                <a:spcPct val="115000"/>
              </a:lnSpc>
              <a:spcAft>
                <a:spcPts val="400"/>
              </a:spcAft>
            </a:pPr>
            <a:r>
              <a:rPr sz="850" b="0">
                <a:solidFill>
                  <a:srgbClr val="8B98A5"/>
                </a:solidFill>
                <a:latin typeface="Segoe UI"/>
              </a:rPr>
              <a:t>Analyse   ·   11</a:t>
            </a:r>
          </a:p>
        </p:txBody>
      </p:sp>
      <p:pic>
        <p:nvPicPr>
          <p:cNvPr id="9" name="Picture 8" descr="02_entonnoir.png"/>
          <p:cNvPicPr>
            <a:picLocks noChangeAspect="1"/>
          </p:cNvPicPr>
          <p:nvPr/>
        </p:nvPicPr>
        <p:blipFill>
          <a:blip r:embed="rId3"/>
          <a:stretch>
            <a:fillRect/>
          </a:stretch>
        </p:blipFill>
        <p:spPr>
          <a:xfrm>
            <a:off x="274320" y="1428750"/>
            <a:ext cx="7406640" cy="4128515"/>
          </a:xfrm>
          <a:prstGeom prst="rect">
            <a:avLst/>
          </a:prstGeom>
        </p:spPr>
      </p:pic>
      <p:sp>
        <p:nvSpPr>
          <p:cNvPr id="10" name="Rectangle 9"/>
          <p:cNvSpPr/>
          <p:nvPr/>
        </p:nvSpPr>
        <p:spPr>
          <a:xfrm>
            <a:off x="7909560" y="1444752"/>
            <a:ext cx="3383280" cy="1965960"/>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909560" y="1444752"/>
            <a:ext cx="50292" cy="1965960"/>
          </a:xfrm>
          <a:prstGeom prst="rect">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65592" y="1581912"/>
            <a:ext cx="2962656" cy="292608"/>
          </a:xfrm>
          <a:prstGeom prst="rect">
            <a:avLst/>
          </a:prstGeom>
          <a:noFill/>
        </p:spPr>
        <p:txBody>
          <a:bodyPr wrap="square" lIns="0" tIns="0" rIns="0" bIns="0" anchor="t">
            <a:normAutofit/>
          </a:bodyPr>
          <a:lstStyle/>
          <a:p>
            <a:pPr algn="l">
              <a:lnSpc>
                <a:spcPct val="115000"/>
              </a:lnSpc>
              <a:spcAft>
                <a:spcPts val="0"/>
              </a:spcAft>
            </a:pPr>
            <a:r>
              <a:rPr sz="1250" b="1">
                <a:solidFill>
                  <a:srgbClr val="D9534F"/>
                </a:solidFill>
                <a:latin typeface="Segoe UI"/>
              </a:rPr>
              <a:t>Fuite n°1 — la moins chère à corriger</a:t>
            </a:r>
          </a:p>
        </p:txBody>
      </p:sp>
      <p:sp>
        <p:nvSpPr>
          <p:cNvPr id="13" name="TextBox 12"/>
          <p:cNvSpPr txBox="1"/>
          <p:nvPr/>
        </p:nvSpPr>
        <p:spPr>
          <a:xfrm>
            <a:off x="8165592" y="1920240"/>
            <a:ext cx="2962656" cy="1344167"/>
          </a:xfrm>
          <a:prstGeom prst="rect">
            <a:avLst/>
          </a:prstGeom>
          <a:noFill/>
        </p:spPr>
        <p:txBody>
          <a:bodyPr wrap="square" lIns="0" tIns="0" rIns="0" bIns="0" anchor="t">
            <a:normAutofit/>
          </a:bodyPr>
          <a:lstStyle/>
          <a:p>
            <a:pPr algn="l">
              <a:lnSpc>
                <a:spcPct val="122000"/>
              </a:lnSpc>
              <a:spcAft>
                <a:spcPts val="600"/>
              </a:spcAft>
            </a:pPr>
            <a:r>
              <a:rPr sz="1100" b="1">
                <a:solidFill>
                  <a:srgbClr val="D9534F"/>
                </a:solidFill>
                <a:latin typeface="Segoe UI"/>
              </a:rPr>
              <a:t>97 personnes </a:t>
            </a:r>
            <a:r>
              <a:rPr sz="1100" b="0">
                <a:solidFill>
                  <a:srgbClr val="33444F"/>
                </a:solidFill>
                <a:latin typeface="Segoe UI"/>
              </a:rPr>
              <a:t>cliquent pour être rappelées sans jamais entrer dans la base prospects. 4,5 % de perte entre deux systèmes.</a:t>
            </a:r>
          </a:p>
        </p:txBody>
      </p:sp>
      <p:sp>
        <p:nvSpPr>
          <p:cNvPr id="14" name="Rectangle 13"/>
          <p:cNvSpPr/>
          <p:nvPr/>
        </p:nvSpPr>
        <p:spPr>
          <a:xfrm>
            <a:off x="7909560" y="3511296"/>
            <a:ext cx="3383280" cy="2103120"/>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909560" y="3511296"/>
            <a:ext cx="50292" cy="2103120"/>
          </a:xfrm>
          <a:prstGeom prst="rect">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65592" y="3648456"/>
            <a:ext cx="2962656" cy="292608"/>
          </a:xfrm>
          <a:prstGeom prst="rect">
            <a:avLst/>
          </a:prstGeom>
          <a:noFill/>
        </p:spPr>
        <p:txBody>
          <a:bodyPr wrap="square" lIns="0" tIns="0" rIns="0" bIns="0" anchor="t">
            <a:normAutofit/>
          </a:bodyPr>
          <a:lstStyle/>
          <a:p>
            <a:pPr algn="l">
              <a:lnSpc>
                <a:spcPct val="115000"/>
              </a:lnSpc>
              <a:spcAft>
                <a:spcPts val="0"/>
              </a:spcAft>
            </a:pPr>
            <a:r>
              <a:rPr sz="1250" b="1">
                <a:solidFill>
                  <a:srgbClr val="D9534F"/>
                </a:solidFill>
                <a:latin typeface="Segoe UI"/>
              </a:rPr>
              <a:t>Fuite n°2 — la plus grosse</a:t>
            </a:r>
          </a:p>
        </p:txBody>
      </p:sp>
      <p:sp>
        <p:nvSpPr>
          <p:cNvPr id="17" name="TextBox 16"/>
          <p:cNvSpPr txBox="1"/>
          <p:nvPr/>
        </p:nvSpPr>
        <p:spPr>
          <a:xfrm>
            <a:off x="8165592" y="3986783"/>
            <a:ext cx="2962656" cy="1481327"/>
          </a:xfrm>
          <a:prstGeom prst="rect">
            <a:avLst/>
          </a:prstGeom>
          <a:noFill/>
        </p:spPr>
        <p:txBody>
          <a:bodyPr wrap="square" lIns="0" tIns="0" rIns="0" bIns="0" anchor="t">
            <a:normAutofit/>
          </a:bodyPr>
          <a:lstStyle/>
          <a:p>
            <a:pPr algn="l">
              <a:lnSpc>
                <a:spcPct val="122000"/>
              </a:lnSpc>
              <a:spcAft>
                <a:spcPts val="600"/>
              </a:spcAft>
            </a:pPr>
            <a:r>
              <a:rPr sz="1100" b="1">
                <a:solidFill>
                  <a:srgbClr val="D9534F"/>
                </a:solidFill>
                <a:latin typeface="Segoe UI"/>
              </a:rPr>
              <a:t>68 % des prospects </a:t>
            </a:r>
            <a:r>
              <a:rPr sz="1100" b="0">
                <a:solidFill>
                  <a:srgbClr val="33444F"/>
                </a:solidFill>
                <a:latin typeface="Segoe UI"/>
              </a:rPr>
              <a:t>ne sont jamais joints : 655 pitchés sur 2 060.</a:t>
            </a:r>
          </a:p>
          <a:p>
            <a:pPr algn="l">
              <a:lnSpc>
                <a:spcPct val="122000"/>
              </a:lnSpc>
              <a:spcAft>
                <a:spcPts val="600"/>
              </a:spcAft>
            </a:pPr>
            <a:r>
              <a:rPr sz="1100" b="0">
                <a:solidFill>
                  <a:srgbClr val="33444F"/>
                </a:solidFill>
                <a:latin typeface="Segoe UI"/>
              </a:rPr>
              <a:t>Le plus gros trou de l'entonnoir. Hors périmètre de la question posée, mais il fallait le signaler.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185855" cy="457200"/>
          </a:xfrm>
          <a:prstGeom prst="rect">
            <a:avLst/>
          </a:prstGeom>
          <a:noFill/>
        </p:spPr>
        <p:txBody>
          <a:bodyPr wrap="square" lIns="0" tIns="0" rIns="0" bIns="0" anchor="t">
            <a:normAutofit/>
          </a:bodyPr>
          <a:lstStyle/>
          <a:p>
            <a:pPr algn="l">
              <a:lnSpc>
                <a:spcPct val="115000"/>
              </a:lnSpc>
              <a:spcAft>
                <a:spcPts val="400"/>
              </a:spcAft>
            </a:pPr>
            <a:r>
              <a:rPr sz="2500" b="1">
                <a:solidFill>
                  <a:srgbClr val="0B4F71"/>
                </a:solidFill>
                <a:latin typeface="Segoe UI"/>
              </a:rPr>
              <a:t>Le verrou : impossible de lire quelle campagne a converti</a:t>
            </a:r>
          </a:p>
        </p:txBody>
      </p:sp>
      <p:sp>
        <p:nvSpPr>
          <p:cNvPr id="5" name="TextBox 4"/>
          <p:cNvSpPr txBox="1"/>
          <p:nvPr/>
        </p:nvSpPr>
        <p:spPr>
          <a:xfrm>
            <a:off x="502920" y="896112"/>
            <a:ext cx="11185855" cy="457200"/>
          </a:xfrm>
          <a:prstGeom prst="rect">
            <a:avLst/>
          </a:prstGeom>
          <a:noFill/>
        </p:spPr>
        <p:txBody>
          <a:bodyPr wrap="square" lIns="0" tIns="0" rIns="0" bIns="0" anchor="t">
            <a:normAutofit/>
          </a:bodyPr>
          <a:lstStyle/>
          <a:p>
            <a:pPr algn="l">
              <a:lnSpc>
                <a:spcPct val="115000"/>
              </a:lnSpc>
              <a:spcAft>
                <a:spcPts val="0"/>
              </a:spcAft>
            </a:pPr>
            <a:r>
              <a:rPr sz="1300" b="0">
                <a:solidFill>
                  <a:srgbClr val="33444F"/>
                </a:solidFill>
                <a:latin typeface="Segoe UI"/>
              </a:rPr>
              <a:t>C'est le cœur technique du projet, et la raison pour laquelle Garanteo ne connaît pas son coût d'acquisition.</a:t>
            </a:r>
          </a:p>
        </p:txBody>
      </p:sp>
      <p:sp>
        <p:nvSpPr>
          <p:cNvPr id="6" name="Rectangle 5"/>
          <p:cNvSpPr/>
          <p:nvPr/>
        </p:nvSpPr>
        <p:spPr>
          <a:xfrm>
            <a:off x="0" y="6574536"/>
            <a:ext cx="12191695" cy="18288"/>
          </a:xfrm>
          <a:prstGeom prst="rect">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620256"/>
            <a:ext cx="7315200" cy="219456"/>
          </a:xfrm>
          <a:prstGeom prst="rect">
            <a:avLst/>
          </a:prstGeom>
          <a:noFill/>
        </p:spPr>
        <p:txBody>
          <a:bodyPr wrap="square" lIns="0" tIns="0" rIns="0" bIns="0" anchor="t">
            <a:normAutofit/>
          </a:bodyPr>
          <a:lstStyle/>
          <a:p>
            <a:pPr algn="l">
              <a:lnSpc>
                <a:spcPct val="115000"/>
              </a:lnSpc>
              <a:spcAft>
                <a:spcPts val="400"/>
              </a:spcAft>
            </a:pPr>
            <a:r>
              <a:rPr sz="850" b="0">
                <a:solidFill>
                  <a:srgbClr val="8B98A5"/>
                </a:solidFill>
                <a:latin typeface="Segoe UI"/>
              </a:rPr>
              <a:t>Garanteo · Projet final DataBird · Sophie Paradon</a:t>
            </a:r>
          </a:p>
        </p:txBody>
      </p:sp>
      <p:sp>
        <p:nvSpPr>
          <p:cNvPr id="8" name="TextBox 7"/>
          <p:cNvSpPr txBox="1"/>
          <p:nvPr/>
        </p:nvSpPr>
        <p:spPr>
          <a:xfrm>
            <a:off x="8579815" y="6620256"/>
            <a:ext cx="3108960" cy="219456"/>
          </a:xfrm>
          <a:prstGeom prst="rect">
            <a:avLst/>
          </a:prstGeom>
          <a:noFill/>
        </p:spPr>
        <p:txBody>
          <a:bodyPr wrap="square" lIns="0" tIns="0" rIns="0" bIns="0" anchor="t">
            <a:normAutofit/>
          </a:bodyPr>
          <a:lstStyle/>
          <a:p>
            <a:pPr algn="r">
              <a:lnSpc>
                <a:spcPct val="115000"/>
              </a:lnSpc>
              <a:spcAft>
                <a:spcPts val="400"/>
              </a:spcAft>
            </a:pPr>
            <a:r>
              <a:rPr sz="850" b="0">
                <a:solidFill>
                  <a:srgbClr val="8B98A5"/>
                </a:solidFill>
                <a:latin typeface="Segoe UI"/>
              </a:rPr>
              <a:t>Analyse   ·   12</a:t>
            </a:r>
          </a:p>
        </p:txBody>
      </p:sp>
      <p:sp>
        <p:nvSpPr>
          <p:cNvPr id="9" name="Rectangle 8"/>
          <p:cNvSpPr/>
          <p:nvPr/>
        </p:nvSpPr>
        <p:spPr>
          <a:xfrm>
            <a:off x="502920" y="1426464"/>
            <a:ext cx="5394960" cy="1874519"/>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 y="1426464"/>
            <a:ext cx="50292" cy="1874519"/>
          </a:xfrm>
          <a:prstGeom prst="rect">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58952" y="1563624"/>
            <a:ext cx="4974336" cy="292608"/>
          </a:xfrm>
          <a:prstGeom prst="rect">
            <a:avLst/>
          </a:prstGeom>
          <a:noFill/>
        </p:spPr>
        <p:txBody>
          <a:bodyPr wrap="square" lIns="0" tIns="0" rIns="0" bIns="0" anchor="t">
            <a:normAutofit/>
          </a:bodyPr>
          <a:lstStyle/>
          <a:p>
            <a:pPr algn="l">
              <a:lnSpc>
                <a:spcPct val="115000"/>
              </a:lnSpc>
              <a:spcAft>
                <a:spcPts val="0"/>
              </a:spcAft>
            </a:pPr>
            <a:r>
              <a:rPr sz="1250" b="1">
                <a:solidFill>
                  <a:srgbClr val="D9534F"/>
                </a:solidFill>
                <a:latin typeface="Segoe UI"/>
              </a:rPr>
              <a:t>Aucun clic de conversion n'est tagué campagne</a:t>
            </a:r>
          </a:p>
        </p:txBody>
      </p:sp>
      <p:sp>
        <p:nvSpPr>
          <p:cNvPr id="12" name="TextBox 11"/>
          <p:cNvSpPr txBox="1"/>
          <p:nvPr/>
        </p:nvSpPr>
        <p:spPr>
          <a:xfrm>
            <a:off x="758952" y="1901952"/>
            <a:ext cx="4974336" cy="1252727"/>
          </a:xfrm>
          <a:prstGeom prst="rect">
            <a:avLst/>
          </a:prstGeom>
          <a:noFill/>
        </p:spPr>
        <p:txBody>
          <a:bodyPr wrap="square" lIns="0" tIns="0" rIns="0" bIns="0" anchor="t">
            <a:normAutofit/>
          </a:bodyPr>
          <a:lstStyle/>
          <a:p>
            <a:pPr algn="l">
              <a:lnSpc>
                <a:spcPct val="122000"/>
              </a:lnSpc>
              <a:spcAft>
                <a:spcPts val="600"/>
              </a:spcAft>
            </a:pPr>
            <a:r>
              <a:rPr sz="1100" b="0">
                <a:solidFill>
                  <a:srgbClr val="33444F"/>
                </a:solidFill>
                <a:latin typeface="Segoe UI"/>
              </a:rPr>
              <a:t>Les 2 723 clics sur le bouton « être rappelé » sont tous en navigation interne : </a:t>
            </a:r>
            <a:r>
              <a:rPr sz="1100" b="1">
                <a:solidFill>
                  <a:srgbClr val="D9534F"/>
                </a:solidFill>
                <a:latin typeface="Segoe UI"/>
              </a:rPr>
              <a:t>aucun ne porte d'identifiant de campagne.</a:t>
            </a:r>
          </a:p>
          <a:p>
            <a:pPr algn="l">
              <a:lnSpc>
                <a:spcPct val="122000"/>
              </a:lnSpc>
              <a:spcAft>
                <a:spcPts val="600"/>
              </a:spcAft>
            </a:pPr>
            <a:r>
              <a:rPr sz="1100" b="1">
                <a:solidFill>
                  <a:srgbClr val="0B4F71"/>
                </a:solidFill>
                <a:latin typeface="Segoe UI"/>
              </a:rPr>
              <a:t>Le lien dépense → client n'est pas dans les données. Il doit être reconstruit.</a:t>
            </a:r>
          </a:p>
        </p:txBody>
      </p:sp>
      <p:pic>
        <p:nvPicPr>
          <p:cNvPr id="13" name="Picture 12" descr="09_multitouch.png"/>
          <p:cNvPicPr>
            <a:picLocks noChangeAspect="1"/>
          </p:cNvPicPr>
          <p:nvPr/>
        </p:nvPicPr>
        <p:blipFill>
          <a:blip r:embed="rId3"/>
          <a:stretch>
            <a:fillRect/>
          </a:stretch>
        </p:blipFill>
        <p:spPr>
          <a:xfrm>
            <a:off x="6035040" y="1426464"/>
            <a:ext cx="5230368" cy="3886200"/>
          </a:xfrm>
          <a:prstGeom prst="rect">
            <a:avLst/>
          </a:prstGeom>
        </p:spPr>
      </p:pic>
      <p:sp>
        <p:nvSpPr>
          <p:cNvPr id="14" name="Rectangle 13"/>
          <p:cNvSpPr/>
          <p:nvPr/>
        </p:nvSpPr>
        <p:spPr>
          <a:xfrm>
            <a:off x="502920" y="3438144"/>
            <a:ext cx="5394960" cy="1874519"/>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02920" y="3438144"/>
            <a:ext cx="50292" cy="1874519"/>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58952" y="3575304"/>
            <a:ext cx="4974336" cy="292608"/>
          </a:xfrm>
          <a:prstGeom prst="rect">
            <a:avLst/>
          </a:prstGeom>
          <a:noFill/>
        </p:spPr>
        <p:txBody>
          <a:bodyPr wrap="square" lIns="0" tIns="0" rIns="0" bIns="0" anchor="t">
            <a:normAutofit/>
          </a:bodyPr>
          <a:lstStyle/>
          <a:p>
            <a:pPr algn="l">
              <a:lnSpc>
                <a:spcPct val="115000"/>
              </a:lnSpc>
              <a:spcAft>
                <a:spcPts val="0"/>
              </a:spcAft>
            </a:pPr>
            <a:r>
              <a:rPr sz="1250" b="1">
                <a:solidFill>
                  <a:srgbClr val="0B4F71"/>
                </a:solidFill>
                <a:latin typeface="Segoe UI"/>
              </a:rPr>
              <a:t>D'où l'obligation de choisir une règle</a:t>
            </a:r>
          </a:p>
        </p:txBody>
      </p:sp>
      <p:sp>
        <p:nvSpPr>
          <p:cNvPr id="17" name="TextBox 16"/>
          <p:cNvSpPr txBox="1"/>
          <p:nvPr/>
        </p:nvSpPr>
        <p:spPr>
          <a:xfrm>
            <a:off x="758952" y="3913632"/>
            <a:ext cx="4974336" cy="1252727"/>
          </a:xfrm>
          <a:prstGeom prst="rect">
            <a:avLst/>
          </a:prstGeom>
          <a:noFill/>
        </p:spPr>
        <p:txBody>
          <a:bodyPr wrap="square" lIns="0" tIns="0" rIns="0" bIns="0" anchor="t">
            <a:normAutofit/>
          </a:bodyPr>
          <a:lstStyle/>
          <a:p>
            <a:pPr algn="l">
              <a:lnSpc>
                <a:spcPct val="122000"/>
              </a:lnSpc>
              <a:spcAft>
                <a:spcPts val="600"/>
              </a:spcAft>
            </a:pPr>
            <a:r>
              <a:rPr sz="1100" b="1">
                <a:solidFill>
                  <a:srgbClr val="0B4F71"/>
                </a:solidFill>
                <a:latin typeface="Segoe UI"/>
              </a:rPr>
              <a:t>91 % des prospects ont vu plusieurs campagnes</a:t>
            </a:r>
            <a:r>
              <a:rPr sz="1100" b="0">
                <a:solidFill>
                  <a:srgbClr val="33444F"/>
                </a:solidFill>
                <a:latin typeface="Segoe UI"/>
              </a:rPr>
              <a:t> — 3,91 en moyenne, jusqu'à 7.</a:t>
            </a:r>
          </a:p>
          <a:p>
            <a:pPr algn="l">
              <a:lnSpc>
                <a:spcPct val="122000"/>
              </a:lnSpc>
              <a:spcAft>
                <a:spcPts val="600"/>
              </a:spcAft>
            </a:pPr>
            <a:r>
              <a:rPr sz="1100" b="0">
                <a:solidFill>
                  <a:srgbClr val="33444F"/>
                </a:solidFill>
                <a:latin typeface="Segoe UI"/>
              </a:rPr>
              <a:t>La question « quelle campagne l'a converti ? » n'a donc pas de réponse évidente. Il faut une </a:t>
            </a:r>
            <a:r>
              <a:rPr sz="1100" b="1">
                <a:solidFill>
                  <a:srgbClr val="D9534F"/>
                </a:solidFill>
                <a:latin typeface="Segoe UI"/>
              </a:rPr>
              <a:t>règle d'attribution</a:t>
            </a:r>
            <a:r>
              <a:rPr sz="1100" b="0">
                <a:solidFill>
                  <a:srgbClr val="33444F"/>
                </a:solidFill>
                <a:latin typeface="Segoe UI"/>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185855" cy="457200"/>
          </a:xfrm>
          <a:prstGeom prst="rect">
            <a:avLst/>
          </a:prstGeom>
          <a:noFill/>
        </p:spPr>
        <p:txBody>
          <a:bodyPr wrap="square" lIns="0" tIns="0" rIns="0" bIns="0" anchor="t">
            <a:normAutofit/>
          </a:bodyPr>
          <a:lstStyle/>
          <a:p>
            <a:pPr algn="l">
              <a:lnSpc>
                <a:spcPct val="115000"/>
              </a:lnSpc>
              <a:spcAft>
                <a:spcPts val="400"/>
              </a:spcAft>
            </a:pPr>
            <a:r>
              <a:rPr sz="2500" b="1">
                <a:solidFill>
                  <a:srgbClr val="0B4F71"/>
                </a:solidFill>
                <a:latin typeface="Segoe UI"/>
              </a:rPr>
              <a:t>Le coût d'acquisition, campagne par campagne</a:t>
            </a:r>
          </a:p>
        </p:txBody>
      </p:sp>
      <p:sp>
        <p:nvSpPr>
          <p:cNvPr id="5" name="TextBox 4"/>
          <p:cNvSpPr txBox="1"/>
          <p:nvPr/>
        </p:nvSpPr>
        <p:spPr>
          <a:xfrm>
            <a:off x="502920" y="896112"/>
            <a:ext cx="11185855" cy="457200"/>
          </a:xfrm>
          <a:prstGeom prst="rect">
            <a:avLst/>
          </a:prstGeom>
          <a:noFill/>
        </p:spPr>
        <p:txBody>
          <a:bodyPr wrap="square" lIns="0" tIns="0" rIns="0" bIns="0" anchor="t">
            <a:normAutofit/>
          </a:bodyPr>
          <a:lstStyle/>
          <a:p>
            <a:pPr algn="l">
              <a:lnSpc>
                <a:spcPct val="115000"/>
              </a:lnSpc>
              <a:spcAft>
                <a:spcPts val="0"/>
              </a:spcAft>
            </a:pPr>
            <a:r>
              <a:rPr sz="1300" b="0">
                <a:solidFill>
                  <a:srgbClr val="33444F"/>
                </a:solidFill>
                <a:latin typeface="Segoe UI"/>
              </a:rPr>
              <a:t>Règle du dernier contact : on crédite la dernière campagne vue avant la demande de rappel.</a:t>
            </a:r>
          </a:p>
        </p:txBody>
      </p:sp>
      <p:sp>
        <p:nvSpPr>
          <p:cNvPr id="6" name="Rectangle 5"/>
          <p:cNvSpPr/>
          <p:nvPr/>
        </p:nvSpPr>
        <p:spPr>
          <a:xfrm>
            <a:off x="0" y="6574536"/>
            <a:ext cx="12191695" cy="18288"/>
          </a:xfrm>
          <a:prstGeom prst="rect">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620256"/>
            <a:ext cx="7315200" cy="219456"/>
          </a:xfrm>
          <a:prstGeom prst="rect">
            <a:avLst/>
          </a:prstGeom>
          <a:noFill/>
        </p:spPr>
        <p:txBody>
          <a:bodyPr wrap="square" lIns="0" tIns="0" rIns="0" bIns="0" anchor="t">
            <a:normAutofit/>
          </a:bodyPr>
          <a:lstStyle/>
          <a:p>
            <a:pPr algn="l">
              <a:lnSpc>
                <a:spcPct val="115000"/>
              </a:lnSpc>
              <a:spcAft>
                <a:spcPts val="400"/>
              </a:spcAft>
            </a:pPr>
            <a:r>
              <a:rPr sz="850" b="0">
                <a:solidFill>
                  <a:srgbClr val="8B98A5"/>
                </a:solidFill>
                <a:latin typeface="Segoe UI"/>
              </a:rPr>
              <a:t>Garanteo · Projet final DataBird · Sophie Paradon</a:t>
            </a:r>
          </a:p>
        </p:txBody>
      </p:sp>
      <p:sp>
        <p:nvSpPr>
          <p:cNvPr id="8" name="TextBox 7"/>
          <p:cNvSpPr txBox="1"/>
          <p:nvPr/>
        </p:nvSpPr>
        <p:spPr>
          <a:xfrm>
            <a:off x="8579815" y="6620256"/>
            <a:ext cx="3108960" cy="219456"/>
          </a:xfrm>
          <a:prstGeom prst="rect">
            <a:avLst/>
          </a:prstGeom>
          <a:noFill/>
        </p:spPr>
        <p:txBody>
          <a:bodyPr wrap="square" lIns="0" tIns="0" rIns="0" bIns="0" anchor="t">
            <a:normAutofit/>
          </a:bodyPr>
          <a:lstStyle/>
          <a:p>
            <a:pPr algn="r">
              <a:lnSpc>
                <a:spcPct val="115000"/>
              </a:lnSpc>
              <a:spcAft>
                <a:spcPts val="400"/>
              </a:spcAft>
            </a:pPr>
            <a:r>
              <a:rPr sz="850" b="0">
                <a:solidFill>
                  <a:srgbClr val="8B98A5"/>
                </a:solidFill>
                <a:latin typeface="Segoe UI"/>
              </a:rPr>
              <a:t>Analyse   ·   13</a:t>
            </a:r>
          </a:p>
        </p:txBody>
      </p:sp>
      <p:pic>
        <p:nvPicPr>
          <p:cNvPr id="9" name="Picture 8" descr="03_cac.png"/>
          <p:cNvPicPr>
            <a:picLocks noChangeAspect="1"/>
          </p:cNvPicPr>
          <p:nvPr/>
        </p:nvPicPr>
        <p:blipFill>
          <a:blip r:embed="rId3"/>
          <a:stretch>
            <a:fillRect/>
          </a:stretch>
        </p:blipFill>
        <p:spPr>
          <a:xfrm>
            <a:off x="274320" y="1426464"/>
            <a:ext cx="7635240" cy="4005072"/>
          </a:xfrm>
          <a:prstGeom prst="rect">
            <a:avLst/>
          </a:prstGeom>
        </p:spPr>
      </p:pic>
      <p:sp>
        <p:nvSpPr>
          <p:cNvPr id="10" name="Rectangle 9"/>
          <p:cNvSpPr/>
          <p:nvPr/>
        </p:nvSpPr>
        <p:spPr>
          <a:xfrm>
            <a:off x="8046720" y="1426464"/>
            <a:ext cx="3246120" cy="1508760"/>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046720" y="1426464"/>
            <a:ext cx="50292" cy="1508760"/>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02752" y="1563624"/>
            <a:ext cx="2825496" cy="292608"/>
          </a:xfrm>
          <a:prstGeom prst="rect">
            <a:avLst/>
          </a:prstGeom>
          <a:noFill/>
        </p:spPr>
        <p:txBody>
          <a:bodyPr wrap="square" lIns="0" tIns="0" rIns="0" bIns="0" anchor="t">
            <a:normAutofit/>
          </a:bodyPr>
          <a:lstStyle/>
          <a:p>
            <a:pPr algn="l">
              <a:lnSpc>
                <a:spcPct val="115000"/>
              </a:lnSpc>
              <a:spcAft>
                <a:spcPts val="0"/>
              </a:spcAft>
            </a:pPr>
            <a:r>
              <a:rPr sz="1250" b="1">
                <a:solidFill>
                  <a:srgbClr val="0B4F71"/>
                </a:solidFill>
                <a:latin typeface="Segoe UI"/>
              </a:rPr>
              <a:t>Réponse à la sous-question n°1</a:t>
            </a:r>
          </a:p>
        </p:txBody>
      </p:sp>
      <p:sp>
        <p:nvSpPr>
          <p:cNvPr id="13" name="TextBox 12"/>
          <p:cNvSpPr txBox="1"/>
          <p:nvPr/>
        </p:nvSpPr>
        <p:spPr>
          <a:xfrm>
            <a:off x="8302752" y="1901952"/>
            <a:ext cx="2825496" cy="886967"/>
          </a:xfrm>
          <a:prstGeom prst="rect">
            <a:avLst/>
          </a:prstGeom>
          <a:noFill/>
        </p:spPr>
        <p:txBody>
          <a:bodyPr wrap="square" lIns="0" tIns="0" rIns="0" bIns="0" anchor="t">
            <a:normAutofit/>
          </a:bodyPr>
          <a:lstStyle/>
          <a:p>
            <a:pPr algn="l">
              <a:lnSpc>
                <a:spcPct val="122000"/>
              </a:lnSpc>
              <a:spcAft>
                <a:spcPts val="600"/>
              </a:spcAft>
            </a:pPr>
            <a:r>
              <a:rPr sz="1100" b="1">
                <a:solidFill>
                  <a:srgbClr val="0B4F71"/>
                </a:solidFill>
                <a:latin typeface="Segoe UI"/>
              </a:rPr>
              <a:t>De 175 € à 583 € par client </a:t>
            </a:r>
            <a:r>
              <a:rPr sz="1100" b="0">
                <a:solidFill>
                  <a:srgbClr val="33444F"/>
                </a:solidFill>
                <a:latin typeface="Segoe UI"/>
              </a:rPr>
              <a:t>selon la campagne, un facteur 3,3. Et une campagne n'a converti </a:t>
            </a:r>
            <a:r>
              <a:rPr sz="1100" b="1">
                <a:solidFill>
                  <a:srgbClr val="D9534F"/>
                </a:solidFill>
                <a:latin typeface="Segoe UI"/>
              </a:rPr>
              <a:t>personne</a:t>
            </a:r>
            <a:r>
              <a:rPr sz="1100" b="0">
                <a:solidFill>
                  <a:srgbClr val="33444F"/>
                </a:solidFill>
                <a:latin typeface="Segoe UI"/>
              </a:rPr>
              <a:t> pour 700 €.</a:t>
            </a:r>
          </a:p>
        </p:txBody>
      </p:sp>
      <p:sp>
        <p:nvSpPr>
          <p:cNvPr id="14" name="Rectangle 13"/>
          <p:cNvSpPr/>
          <p:nvPr/>
        </p:nvSpPr>
        <p:spPr>
          <a:xfrm>
            <a:off x="8046720" y="3072384"/>
            <a:ext cx="3246120" cy="1371600"/>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46720" y="3072384"/>
            <a:ext cx="50292" cy="1371600"/>
          </a:xfrm>
          <a:prstGeom prst="rect">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02752" y="3209544"/>
            <a:ext cx="2825496" cy="292608"/>
          </a:xfrm>
          <a:prstGeom prst="rect">
            <a:avLst/>
          </a:prstGeom>
          <a:noFill/>
        </p:spPr>
        <p:txBody>
          <a:bodyPr wrap="square" lIns="0" tIns="0" rIns="0" bIns="0" anchor="t">
            <a:normAutofit/>
          </a:bodyPr>
          <a:lstStyle/>
          <a:p>
            <a:pPr algn="l">
              <a:lnSpc>
                <a:spcPct val="115000"/>
              </a:lnSpc>
              <a:spcAft>
                <a:spcPts val="0"/>
              </a:spcAft>
            </a:pPr>
            <a:r>
              <a:rPr sz="1180" b="1">
                <a:solidFill>
                  <a:srgbClr val="D9534F"/>
                </a:solidFill>
                <a:latin typeface="Segoe UI"/>
              </a:rPr>
              <a:t>5 campagnes au-dessus de la moyenne</a:t>
            </a:r>
          </a:p>
        </p:txBody>
      </p:sp>
      <p:sp>
        <p:nvSpPr>
          <p:cNvPr id="17" name="TextBox 16"/>
          <p:cNvSpPr txBox="1"/>
          <p:nvPr/>
        </p:nvSpPr>
        <p:spPr>
          <a:xfrm>
            <a:off x="8302752" y="3547872"/>
            <a:ext cx="2825496" cy="749808"/>
          </a:xfrm>
          <a:prstGeom prst="rect">
            <a:avLst/>
          </a:prstGeom>
          <a:noFill/>
        </p:spPr>
        <p:txBody>
          <a:bodyPr wrap="square" lIns="0" tIns="0" rIns="0" bIns="0" anchor="t">
            <a:normAutofit/>
          </a:bodyPr>
          <a:lstStyle/>
          <a:p>
            <a:pPr algn="l">
              <a:lnSpc>
                <a:spcPct val="122000"/>
              </a:lnSpc>
              <a:spcAft>
                <a:spcPts val="550"/>
              </a:spcAft>
            </a:pPr>
            <a:r>
              <a:rPr sz="1380" b="1">
                <a:solidFill>
                  <a:srgbClr val="D9534F"/>
                </a:solidFill>
                <a:latin typeface="Segoe UI"/>
              </a:rPr>
              <a:t>33 600 €</a:t>
            </a:r>
          </a:p>
          <a:p>
            <a:pPr algn="l">
              <a:lnSpc>
                <a:spcPct val="122000"/>
              </a:lnSpc>
              <a:spcAft>
                <a:spcPts val="550"/>
              </a:spcAft>
            </a:pPr>
            <a:r>
              <a:rPr sz="1010" b="0">
                <a:solidFill>
                  <a:srgbClr val="33444F"/>
                </a:solidFill>
                <a:latin typeface="Segoe UI"/>
              </a:rPr>
              <a:t>soit 48 % du budget, porté par des campagnes qui coûtent plus cher que le CAC global de 389 €.</a:t>
            </a:r>
          </a:p>
        </p:txBody>
      </p:sp>
      <p:sp>
        <p:nvSpPr>
          <p:cNvPr id="18" name="Rectangle 17"/>
          <p:cNvSpPr/>
          <p:nvPr/>
        </p:nvSpPr>
        <p:spPr>
          <a:xfrm>
            <a:off x="8046720" y="4425696"/>
            <a:ext cx="3246120" cy="1024128"/>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46720" y="4425696"/>
            <a:ext cx="50292" cy="1024128"/>
          </a:xfrm>
          <a:prstGeom prst="rect">
            <a:avLst/>
          </a:prstGeom>
          <a:solidFill>
            <a:srgbClr val="F2A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02752" y="4562856"/>
            <a:ext cx="2825496" cy="292608"/>
          </a:xfrm>
          <a:prstGeom prst="rect">
            <a:avLst/>
          </a:prstGeom>
          <a:noFill/>
        </p:spPr>
        <p:txBody>
          <a:bodyPr wrap="square" lIns="0" tIns="0" rIns="0" bIns="0" anchor="t">
            <a:normAutofit/>
          </a:bodyPr>
          <a:lstStyle/>
          <a:p>
            <a:pPr algn="l">
              <a:lnSpc>
                <a:spcPct val="115000"/>
              </a:lnSpc>
              <a:spcAft>
                <a:spcPts val="0"/>
              </a:spcAft>
            </a:pPr>
            <a:r>
              <a:rPr sz="1250" b="1">
                <a:solidFill>
                  <a:srgbClr val="F2A354"/>
                </a:solidFill>
                <a:latin typeface="Segoe UI"/>
              </a:rPr>
              <a:t>À lire avec prudence</a:t>
            </a:r>
          </a:p>
        </p:txBody>
      </p:sp>
      <p:sp>
        <p:nvSpPr>
          <p:cNvPr id="21" name="TextBox 20"/>
          <p:cNvSpPr txBox="1"/>
          <p:nvPr/>
        </p:nvSpPr>
        <p:spPr>
          <a:xfrm>
            <a:off x="8302752" y="4901183"/>
            <a:ext cx="2825496" cy="402336"/>
          </a:xfrm>
          <a:prstGeom prst="rect">
            <a:avLst/>
          </a:prstGeom>
          <a:noFill/>
        </p:spPr>
        <p:txBody>
          <a:bodyPr wrap="square" lIns="0" tIns="0" rIns="0" bIns="0" anchor="t">
            <a:normAutofit/>
          </a:bodyPr>
          <a:lstStyle/>
          <a:p>
            <a:pPr algn="l">
              <a:lnSpc>
                <a:spcPct val="122000"/>
              </a:lnSpc>
              <a:spcAft>
                <a:spcPts val="590"/>
              </a:spcAft>
            </a:pPr>
            <a:r>
              <a:rPr sz="1030" b="0">
                <a:solidFill>
                  <a:srgbClr val="33444F"/>
                </a:solidFill>
                <a:latin typeface="Segoe UI"/>
              </a:rPr>
              <a:t>acb1a5 affiche le meilleur CAC, mais sur 22 prospects seulement.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185855" cy="457200"/>
          </a:xfrm>
          <a:prstGeom prst="rect">
            <a:avLst/>
          </a:prstGeom>
          <a:noFill/>
        </p:spPr>
        <p:txBody>
          <a:bodyPr wrap="square" lIns="0" tIns="0" rIns="0" bIns="0" anchor="t">
            <a:normAutofit/>
          </a:bodyPr>
          <a:lstStyle/>
          <a:p>
            <a:pPr algn="l">
              <a:lnSpc>
                <a:spcPct val="115000"/>
              </a:lnSpc>
              <a:spcAft>
                <a:spcPts val="400"/>
              </a:spcAft>
            </a:pPr>
            <a:r>
              <a:rPr sz="2500" b="1">
                <a:solidFill>
                  <a:srgbClr val="0B4F71"/>
                </a:solidFill>
                <a:latin typeface="Segoe UI"/>
              </a:rPr>
              <a:t>Changer la règle d'attribution retourne le classement</a:t>
            </a:r>
          </a:p>
        </p:txBody>
      </p:sp>
      <p:sp>
        <p:nvSpPr>
          <p:cNvPr id="5" name="TextBox 4"/>
          <p:cNvSpPr txBox="1"/>
          <p:nvPr/>
        </p:nvSpPr>
        <p:spPr>
          <a:xfrm>
            <a:off x="502920" y="896112"/>
            <a:ext cx="11185855" cy="457200"/>
          </a:xfrm>
          <a:prstGeom prst="rect">
            <a:avLst/>
          </a:prstGeom>
          <a:noFill/>
        </p:spPr>
        <p:txBody>
          <a:bodyPr wrap="square" lIns="0" tIns="0" rIns="0" bIns="0" anchor="t">
            <a:normAutofit/>
          </a:bodyPr>
          <a:lstStyle/>
          <a:p>
            <a:pPr algn="l">
              <a:lnSpc>
                <a:spcPct val="115000"/>
              </a:lnSpc>
              <a:spcAft>
                <a:spcPts val="0"/>
              </a:spcAft>
            </a:pPr>
            <a:r>
              <a:rPr sz="1300" b="0">
                <a:solidFill>
                  <a:srgbClr val="33444F"/>
                </a:solidFill>
                <a:latin typeface="Segoe UI"/>
              </a:rPr>
              <a:t>Réponse à la sous-question n°2 — et c'est la conclusion méthodologique la plus importante du projet.</a:t>
            </a:r>
          </a:p>
        </p:txBody>
      </p:sp>
      <p:sp>
        <p:nvSpPr>
          <p:cNvPr id="6" name="Rectangle 5"/>
          <p:cNvSpPr/>
          <p:nvPr/>
        </p:nvSpPr>
        <p:spPr>
          <a:xfrm>
            <a:off x="0" y="6574536"/>
            <a:ext cx="12191695" cy="18288"/>
          </a:xfrm>
          <a:prstGeom prst="rect">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620256"/>
            <a:ext cx="7315200" cy="219456"/>
          </a:xfrm>
          <a:prstGeom prst="rect">
            <a:avLst/>
          </a:prstGeom>
          <a:noFill/>
        </p:spPr>
        <p:txBody>
          <a:bodyPr wrap="square" lIns="0" tIns="0" rIns="0" bIns="0" anchor="t">
            <a:normAutofit/>
          </a:bodyPr>
          <a:lstStyle/>
          <a:p>
            <a:pPr algn="l">
              <a:lnSpc>
                <a:spcPct val="115000"/>
              </a:lnSpc>
              <a:spcAft>
                <a:spcPts val="400"/>
              </a:spcAft>
            </a:pPr>
            <a:r>
              <a:rPr sz="850" b="0">
                <a:solidFill>
                  <a:srgbClr val="8B98A5"/>
                </a:solidFill>
                <a:latin typeface="Segoe UI"/>
              </a:rPr>
              <a:t>Garanteo · Projet final DataBird · Sophie Paradon</a:t>
            </a:r>
          </a:p>
        </p:txBody>
      </p:sp>
      <p:sp>
        <p:nvSpPr>
          <p:cNvPr id="8" name="TextBox 7"/>
          <p:cNvSpPr txBox="1"/>
          <p:nvPr/>
        </p:nvSpPr>
        <p:spPr>
          <a:xfrm>
            <a:off x="8579815" y="6620256"/>
            <a:ext cx="3108960" cy="219456"/>
          </a:xfrm>
          <a:prstGeom prst="rect">
            <a:avLst/>
          </a:prstGeom>
          <a:noFill/>
        </p:spPr>
        <p:txBody>
          <a:bodyPr wrap="square" lIns="0" tIns="0" rIns="0" bIns="0" anchor="t">
            <a:normAutofit/>
          </a:bodyPr>
          <a:lstStyle/>
          <a:p>
            <a:pPr algn="r">
              <a:lnSpc>
                <a:spcPct val="115000"/>
              </a:lnSpc>
              <a:spcAft>
                <a:spcPts val="400"/>
              </a:spcAft>
            </a:pPr>
            <a:r>
              <a:rPr sz="850" b="0">
                <a:solidFill>
                  <a:srgbClr val="8B98A5"/>
                </a:solidFill>
                <a:latin typeface="Segoe UI"/>
              </a:rPr>
              <a:t>Analyse   ·   14</a:t>
            </a:r>
          </a:p>
        </p:txBody>
      </p:sp>
      <p:pic>
        <p:nvPicPr>
          <p:cNvPr id="9" name="Picture 8" descr="04_attribution.png"/>
          <p:cNvPicPr>
            <a:picLocks noChangeAspect="1"/>
          </p:cNvPicPr>
          <p:nvPr/>
        </p:nvPicPr>
        <p:blipFill>
          <a:blip r:embed="rId3"/>
          <a:stretch>
            <a:fillRect/>
          </a:stretch>
        </p:blipFill>
        <p:spPr>
          <a:xfrm>
            <a:off x="228600" y="1426464"/>
            <a:ext cx="7818120" cy="4407408"/>
          </a:xfrm>
          <a:prstGeom prst="rect">
            <a:avLst/>
          </a:prstGeom>
        </p:spPr>
      </p:pic>
      <p:sp>
        <p:nvSpPr>
          <p:cNvPr id="10" name="Rectangle 9"/>
          <p:cNvSpPr/>
          <p:nvPr/>
        </p:nvSpPr>
        <p:spPr>
          <a:xfrm>
            <a:off x="8183879" y="1426464"/>
            <a:ext cx="3108960" cy="1965960"/>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183879" y="1426464"/>
            <a:ext cx="50292" cy="1965960"/>
          </a:xfrm>
          <a:prstGeom prst="rect">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39911" y="1563624"/>
            <a:ext cx="2688336" cy="292608"/>
          </a:xfrm>
          <a:prstGeom prst="rect">
            <a:avLst/>
          </a:prstGeom>
          <a:noFill/>
        </p:spPr>
        <p:txBody>
          <a:bodyPr wrap="square" lIns="0" tIns="0" rIns="0" bIns="0" anchor="t">
            <a:normAutofit/>
          </a:bodyPr>
          <a:lstStyle/>
          <a:p>
            <a:pPr algn="l">
              <a:lnSpc>
                <a:spcPct val="115000"/>
              </a:lnSpc>
              <a:spcAft>
                <a:spcPts val="0"/>
              </a:spcAft>
            </a:pPr>
            <a:r>
              <a:rPr sz="1250" b="1">
                <a:solidFill>
                  <a:srgbClr val="D9534F"/>
                </a:solidFill>
                <a:latin typeface="Segoe UI"/>
              </a:rPr>
              <a:t>Spearman = −0,49</a:t>
            </a:r>
          </a:p>
        </p:txBody>
      </p:sp>
      <p:sp>
        <p:nvSpPr>
          <p:cNvPr id="13" name="TextBox 12"/>
          <p:cNvSpPr txBox="1"/>
          <p:nvPr/>
        </p:nvSpPr>
        <p:spPr>
          <a:xfrm>
            <a:off x="8439911" y="1901952"/>
            <a:ext cx="2688336" cy="1344167"/>
          </a:xfrm>
          <a:prstGeom prst="rect">
            <a:avLst/>
          </a:prstGeom>
          <a:noFill/>
        </p:spPr>
        <p:txBody>
          <a:bodyPr wrap="square" lIns="0" tIns="0" rIns="0" bIns="0" anchor="t">
            <a:normAutofit/>
          </a:bodyPr>
          <a:lstStyle/>
          <a:p>
            <a:pPr algn="l">
              <a:lnSpc>
                <a:spcPct val="122000"/>
              </a:lnSpc>
              <a:spcAft>
                <a:spcPts val="600"/>
              </a:spcAft>
            </a:pPr>
            <a:r>
              <a:rPr sz="1100" b="0">
                <a:solidFill>
                  <a:srgbClr val="33444F"/>
                </a:solidFill>
                <a:latin typeface="Segoe UI"/>
              </a:rPr>
              <a:t>La corrélation entre les deux classements est </a:t>
            </a:r>
            <a:r>
              <a:rPr sz="1100" b="1">
                <a:solidFill>
                  <a:srgbClr val="D9534F"/>
                </a:solidFill>
                <a:latin typeface="Segoe UI"/>
              </a:rPr>
              <a:t>négative</a:t>
            </a:r>
            <a:r>
              <a:rPr sz="1100" b="0">
                <a:solidFill>
                  <a:srgbClr val="33444F"/>
                </a:solidFill>
                <a:latin typeface="Segoe UI"/>
              </a:rPr>
              <a:t> : les deux règles rangent les campagnes dans un ordre presque inversé.</a:t>
            </a:r>
          </a:p>
          <a:p>
            <a:pPr algn="l">
              <a:lnSpc>
                <a:spcPct val="122000"/>
              </a:lnSpc>
              <a:spcAft>
                <a:spcPts val="600"/>
              </a:spcAft>
            </a:pPr>
            <a:r>
              <a:rPr sz="1100" b="0">
                <a:solidFill>
                  <a:srgbClr val="33444F"/>
                </a:solidFill>
                <a:latin typeface="Segoe UI"/>
              </a:rPr>
              <a:t>Il n'existe aucun classement « vrai » indépendant de la méthode.</a:t>
            </a:r>
          </a:p>
        </p:txBody>
      </p:sp>
      <p:sp>
        <p:nvSpPr>
          <p:cNvPr id="14" name="Rectangle 13"/>
          <p:cNvSpPr/>
          <p:nvPr/>
        </p:nvSpPr>
        <p:spPr>
          <a:xfrm>
            <a:off x="8183879" y="3529584"/>
            <a:ext cx="3108960" cy="1828800"/>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83879" y="3529584"/>
            <a:ext cx="50292" cy="1828800"/>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39911" y="3666744"/>
            <a:ext cx="2688336" cy="292608"/>
          </a:xfrm>
          <a:prstGeom prst="rect">
            <a:avLst/>
          </a:prstGeom>
          <a:noFill/>
        </p:spPr>
        <p:txBody>
          <a:bodyPr wrap="square" lIns="0" tIns="0" rIns="0" bIns="0" anchor="t">
            <a:normAutofit/>
          </a:bodyPr>
          <a:lstStyle/>
          <a:p>
            <a:pPr algn="l">
              <a:lnSpc>
                <a:spcPct val="115000"/>
              </a:lnSpc>
              <a:spcAft>
                <a:spcPts val="0"/>
              </a:spcAft>
            </a:pPr>
            <a:r>
              <a:rPr sz="1200" b="1">
                <a:solidFill>
                  <a:srgbClr val="0B4F71"/>
                </a:solidFill>
                <a:latin typeface="Segoe UI"/>
              </a:rPr>
              <a:t>Exemple qui suffit à la démonstration</a:t>
            </a:r>
          </a:p>
        </p:txBody>
      </p:sp>
      <p:sp>
        <p:nvSpPr>
          <p:cNvPr id="17" name="TextBox 16"/>
          <p:cNvSpPr txBox="1"/>
          <p:nvPr/>
        </p:nvSpPr>
        <p:spPr>
          <a:xfrm>
            <a:off x="8439911" y="4005072"/>
            <a:ext cx="2688336" cy="1207007"/>
          </a:xfrm>
          <a:prstGeom prst="rect">
            <a:avLst/>
          </a:prstGeom>
          <a:noFill/>
        </p:spPr>
        <p:txBody>
          <a:bodyPr wrap="square" lIns="0" tIns="0" rIns="0" bIns="0" anchor="t">
            <a:normAutofit/>
          </a:bodyPr>
          <a:lstStyle/>
          <a:p>
            <a:pPr algn="l">
              <a:lnSpc>
                <a:spcPct val="122000"/>
              </a:lnSpc>
              <a:spcAft>
                <a:spcPts val="600"/>
              </a:spcAft>
            </a:pPr>
            <a:r>
              <a:rPr sz="1100" b="1">
                <a:solidFill>
                  <a:srgbClr val="0B4F71"/>
                </a:solidFill>
                <a:latin typeface="Segoe UI"/>
              </a:rPr>
              <a:t>acb1a5 </a:t>
            </a:r>
            <a:r>
              <a:rPr sz="1100" b="0">
                <a:solidFill>
                  <a:srgbClr val="33444F"/>
                </a:solidFill>
                <a:latin typeface="Segoe UI"/>
              </a:rPr>
              <a:t>est la plus chère du portefeuille en premier contact (700 €/client, ex æquo) et la moins chère en dernier contact (175 €).</a:t>
            </a:r>
          </a:p>
          <a:p>
            <a:pPr algn="l">
              <a:lnSpc>
                <a:spcPct val="122000"/>
              </a:lnSpc>
              <a:spcAft>
                <a:spcPts val="600"/>
              </a:spcAft>
            </a:pPr>
            <a:r>
              <a:rPr sz="1100" b="1">
                <a:solidFill>
                  <a:srgbClr val="D9534F"/>
                </a:solidFill>
                <a:latin typeface="Segoe UI"/>
              </a:rPr>
              <a:t>525 € d'écart sur le même budget, uniquement à cause de la règle.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185855" cy="457200"/>
          </a:xfrm>
          <a:prstGeom prst="rect">
            <a:avLst/>
          </a:prstGeom>
          <a:noFill/>
        </p:spPr>
        <p:txBody>
          <a:bodyPr wrap="square" lIns="0" tIns="0" rIns="0" bIns="0" anchor="t">
            <a:normAutofit/>
          </a:bodyPr>
          <a:lstStyle/>
          <a:p>
            <a:pPr algn="l">
              <a:lnSpc>
                <a:spcPct val="115000"/>
              </a:lnSpc>
              <a:spcAft>
                <a:spcPts val="400"/>
              </a:spcAft>
            </a:pPr>
            <a:r>
              <a:rPr sz="2500" b="1">
                <a:solidFill>
                  <a:srgbClr val="0B4F71"/>
                </a:solidFill>
                <a:latin typeface="Segoe UI"/>
              </a:rPr>
              <a:t>Alors sur quoi peut-on décider ? Sur ce qui résiste aux 3 règles</a:t>
            </a:r>
          </a:p>
        </p:txBody>
      </p:sp>
      <p:sp>
        <p:nvSpPr>
          <p:cNvPr id="5" name="TextBox 4"/>
          <p:cNvSpPr txBox="1"/>
          <p:nvPr/>
        </p:nvSpPr>
        <p:spPr>
          <a:xfrm>
            <a:off x="502920" y="896112"/>
            <a:ext cx="11185855" cy="457200"/>
          </a:xfrm>
          <a:prstGeom prst="rect">
            <a:avLst/>
          </a:prstGeom>
          <a:noFill/>
        </p:spPr>
        <p:txBody>
          <a:bodyPr wrap="square" lIns="0" tIns="0" rIns="0" bIns="0" anchor="t">
            <a:normAutofit/>
          </a:bodyPr>
          <a:lstStyle/>
          <a:p>
            <a:pPr algn="l">
              <a:lnSpc>
                <a:spcPct val="115000"/>
              </a:lnSpc>
              <a:spcAft>
                <a:spcPts val="0"/>
              </a:spcAft>
            </a:pPr>
            <a:r>
              <a:rPr sz="1300" b="0">
                <a:solidFill>
                  <a:srgbClr val="33444F"/>
                </a:solidFill>
                <a:latin typeface="Segoe UI"/>
              </a:rPr>
              <a:t>La méthode retenue : ne recommander que ce qui reste vrai en premier contact, en dernier contact et en multi-touch.</a:t>
            </a:r>
          </a:p>
        </p:txBody>
      </p:sp>
      <p:sp>
        <p:nvSpPr>
          <p:cNvPr id="6" name="Rectangle 5"/>
          <p:cNvSpPr/>
          <p:nvPr/>
        </p:nvSpPr>
        <p:spPr>
          <a:xfrm>
            <a:off x="0" y="6574536"/>
            <a:ext cx="12191695" cy="18288"/>
          </a:xfrm>
          <a:prstGeom prst="rect">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620256"/>
            <a:ext cx="7315200" cy="219456"/>
          </a:xfrm>
          <a:prstGeom prst="rect">
            <a:avLst/>
          </a:prstGeom>
          <a:noFill/>
        </p:spPr>
        <p:txBody>
          <a:bodyPr wrap="square" lIns="0" tIns="0" rIns="0" bIns="0" anchor="t">
            <a:normAutofit/>
          </a:bodyPr>
          <a:lstStyle/>
          <a:p>
            <a:pPr algn="l">
              <a:lnSpc>
                <a:spcPct val="115000"/>
              </a:lnSpc>
              <a:spcAft>
                <a:spcPts val="400"/>
              </a:spcAft>
            </a:pPr>
            <a:r>
              <a:rPr sz="850" b="0">
                <a:solidFill>
                  <a:srgbClr val="8B98A5"/>
                </a:solidFill>
                <a:latin typeface="Segoe UI"/>
              </a:rPr>
              <a:t>Garanteo · Projet final DataBird · Sophie Paradon</a:t>
            </a:r>
          </a:p>
        </p:txBody>
      </p:sp>
      <p:sp>
        <p:nvSpPr>
          <p:cNvPr id="8" name="TextBox 7"/>
          <p:cNvSpPr txBox="1"/>
          <p:nvPr/>
        </p:nvSpPr>
        <p:spPr>
          <a:xfrm>
            <a:off x="8579815" y="6620256"/>
            <a:ext cx="3108960" cy="219456"/>
          </a:xfrm>
          <a:prstGeom prst="rect">
            <a:avLst/>
          </a:prstGeom>
          <a:noFill/>
        </p:spPr>
        <p:txBody>
          <a:bodyPr wrap="square" lIns="0" tIns="0" rIns="0" bIns="0" anchor="t">
            <a:normAutofit/>
          </a:bodyPr>
          <a:lstStyle/>
          <a:p>
            <a:pPr algn="r">
              <a:lnSpc>
                <a:spcPct val="115000"/>
              </a:lnSpc>
              <a:spcAft>
                <a:spcPts val="400"/>
              </a:spcAft>
            </a:pPr>
            <a:r>
              <a:rPr sz="850" b="0">
                <a:solidFill>
                  <a:srgbClr val="8B98A5"/>
                </a:solidFill>
                <a:latin typeface="Segoe UI"/>
              </a:rPr>
              <a:t>Analyse   ·   15</a:t>
            </a:r>
          </a:p>
        </p:txBody>
      </p:sp>
      <p:pic>
        <p:nvPicPr>
          <p:cNvPr id="9" name="Picture 8" descr="11_rangmoyen.png"/>
          <p:cNvPicPr>
            <a:picLocks noChangeAspect="1"/>
          </p:cNvPicPr>
          <p:nvPr/>
        </p:nvPicPr>
        <p:blipFill>
          <a:blip r:embed="rId3"/>
          <a:stretch>
            <a:fillRect/>
          </a:stretch>
        </p:blipFill>
        <p:spPr>
          <a:xfrm>
            <a:off x="274320" y="1426464"/>
            <a:ext cx="7589520" cy="3931920"/>
          </a:xfrm>
          <a:prstGeom prst="rect">
            <a:avLst/>
          </a:prstGeom>
        </p:spPr>
      </p:pic>
      <p:sp>
        <p:nvSpPr>
          <p:cNvPr id="10" name="Rectangle 9"/>
          <p:cNvSpPr/>
          <p:nvPr/>
        </p:nvSpPr>
        <p:spPr>
          <a:xfrm>
            <a:off x="8001000" y="1426464"/>
            <a:ext cx="3291840" cy="1691640"/>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001000" y="1426464"/>
            <a:ext cx="50292" cy="1691640"/>
          </a:xfrm>
          <a:prstGeom prst="rect">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57031" y="1563624"/>
            <a:ext cx="2871216" cy="292608"/>
          </a:xfrm>
          <a:prstGeom prst="rect">
            <a:avLst/>
          </a:prstGeom>
          <a:noFill/>
        </p:spPr>
        <p:txBody>
          <a:bodyPr wrap="square" lIns="0" tIns="0" rIns="0" bIns="0" anchor="t">
            <a:normAutofit/>
          </a:bodyPr>
          <a:lstStyle/>
          <a:p>
            <a:pPr algn="l">
              <a:lnSpc>
                <a:spcPct val="115000"/>
              </a:lnSpc>
              <a:spcAft>
                <a:spcPts val="0"/>
              </a:spcAft>
            </a:pPr>
            <a:r>
              <a:rPr sz="1250" b="1">
                <a:solidFill>
                  <a:srgbClr val="D9534F"/>
                </a:solidFill>
                <a:latin typeface="Segoe UI"/>
              </a:rPr>
              <a:t>La seule certitude du portefeuille</a:t>
            </a:r>
          </a:p>
        </p:txBody>
      </p:sp>
      <p:sp>
        <p:nvSpPr>
          <p:cNvPr id="13" name="TextBox 12"/>
          <p:cNvSpPr txBox="1"/>
          <p:nvPr/>
        </p:nvSpPr>
        <p:spPr>
          <a:xfrm>
            <a:off x="8257031" y="1901952"/>
            <a:ext cx="2871216" cy="1069848"/>
          </a:xfrm>
          <a:prstGeom prst="rect">
            <a:avLst/>
          </a:prstGeom>
          <a:noFill/>
        </p:spPr>
        <p:txBody>
          <a:bodyPr wrap="square" lIns="0" tIns="0" rIns="0" bIns="0" anchor="t">
            <a:normAutofit/>
          </a:bodyPr>
          <a:lstStyle/>
          <a:p>
            <a:pPr algn="l">
              <a:lnSpc>
                <a:spcPct val="122000"/>
              </a:lnSpc>
              <a:spcAft>
                <a:spcPts val="600"/>
              </a:spcAft>
            </a:pPr>
            <a:r>
              <a:rPr sz="1100" b="1">
                <a:solidFill>
                  <a:srgbClr val="D9534F"/>
                </a:solidFill>
                <a:latin typeface="Segoe UI"/>
              </a:rPr>
              <a:t>ca98f07be2 est dernière sur 13 sous les trois règles</a:t>
            </a:r>
            <a:r>
              <a:rPr sz="1100" b="0">
                <a:solidFill>
                  <a:srgbClr val="33444F"/>
                </a:solidFill>
                <a:latin typeface="Segoe UI"/>
              </a:rPr>
              <a:t> — la seule dans ce cas.</a:t>
            </a:r>
          </a:p>
          <a:p>
            <a:pPr algn="l">
              <a:lnSpc>
                <a:spcPct val="122000"/>
              </a:lnSpc>
              <a:spcAft>
                <a:spcPts val="600"/>
              </a:spcAft>
            </a:pPr>
            <a:r>
              <a:rPr sz="1100" b="0">
                <a:solidFill>
                  <a:srgbClr val="33444F"/>
                </a:solidFill>
                <a:latin typeface="Segoe UI"/>
              </a:rPr>
              <a:t>La couper ne dépend donc d'aucun choix de méthode.</a:t>
            </a:r>
          </a:p>
        </p:txBody>
      </p:sp>
      <p:sp>
        <p:nvSpPr>
          <p:cNvPr id="14" name="Rectangle 13"/>
          <p:cNvSpPr/>
          <p:nvPr/>
        </p:nvSpPr>
        <p:spPr>
          <a:xfrm>
            <a:off x="8001000" y="3255264"/>
            <a:ext cx="3291840" cy="1097280"/>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01000" y="3255264"/>
            <a:ext cx="50292" cy="1097280"/>
          </a:xfrm>
          <a:prstGeom prst="rect">
            <a:avLst/>
          </a:prstGeom>
          <a:solidFill>
            <a:srgbClr val="F2A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57031" y="3392424"/>
            <a:ext cx="2871216" cy="292608"/>
          </a:xfrm>
          <a:prstGeom prst="rect">
            <a:avLst/>
          </a:prstGeom>
          <a:noFill/>
        </p:spPr>
        <p:txBody>
          <a:bodyPr wrap="square" lIns="0" tIns="0" rIns="0" bIns="0" anchor="t">
            <a:normAutofit/>
          </a:bodyPr>
          <a:lstStyle/>
          <a:p>
            <a:pPr algn="l">
              <a:lnSpc>
                <a:spcPct val="115000"/>
              </a:lnSpc>
              <a:spcAft>
                <a:spcPts val="0"/>
              </a:spcAft>
            </a:pPr>
            <a:r>
              <a:rPr sz="1250" b="1">
                <a:solidFill>
                  <a:srgbClr val="F2A354"/>
                </a:solidFill>
                <a:latin typeface="Segoe UI"/>
              </a:rPr>
              <a:t>Le vrai enjeu financier</a:t>
            </a:r>
          </a:p>
        </p:txBody>
      </p:sp>
      <p:sp>
        <p:nvSpPr>
          <p:cNvPr id="17" name="TextBox 16"/>
          <p:cNvSpPr txBox="1"/>
          <p:nvPr/>
        </p:nvSpPr>
        <p:spPr>
          <a:xfrm>
            <a:off x="8257031" y="3730752"/>
            <a:ext cx="2871216" cy="475487"/>
          </a:xfrm>
          <a:prstGeom prst="rect">
            <a:avLst/>
          </a:prstGeom>
          <a:noFill/>
        </p:spPr>
        <p:txBody>
          <a:bodyPr wrap="square" lIns="0" tIns="0" rIns="0" bIns="0" anchor="t">
            <a:normAutofit/>
          </a:bodyPr>
          <a:lstStyle/>
          <a:p>
            <a:pPr algn="l">
              <a:lnSpc>
                <a:spcPct val="122000"/>
              </a:lnSpc>
              <a:spcAft>
                <a:spcPts val="590"/>
              </a:spcAft>
            </a:pPr>
            <a:r>
              <a:rPr sz="1080" b="1">
                <a:solidFill>
                  <a:srgbClr val="D9534F"/>
                </a:solidFill>
                <a:latin typeface="Segoe UI"/>
              </a:rPr>
              <a:t>45c82b38c6 </a:t>
            </a:r>
            <a:r>
              <a:rPr sz="1080" b="0">
                <a:solidFill>
                  <a:srgbClr val="33444F"/>
                </a:solidFill>
                <a:latin typeface="Segoe UI"/>
              </a:rPr>
              <a:t>est 12e sur 13 en dernier contact et en multi-touch, pour 7 000 € — dix fois plus.</a:t>
            </a:r>
          </a:p>
        </p:txBody>
      </p:sp>
      <p:sp>
        <p:nvSpPr>
          <p:cNvPr id="18" name="Rectangle 17"/>
          <p:cNvSpPr/>
          <p:nvPr/>
        </p:nvSpPr>
        <p:spPr>
          <a:xfrm>
            <a:off x="8001000" y="4425696"/>
            <a:ext cx="3291840" cy="960120"/>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01000" y="4425696"/>
            <a:ext cx="50292" cy="960120"/>
          </a:xfrm>
          <a:prstGeom prst="rect">
            <a:avLst/>
          </a:prstGeom>
          <a:solidFill>
            <a:srgbClr val="3AA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57031" y="4562856"/>
            <a:ext cx="2871216" cy="292608"/>
          </a:xfrm>
          <a:prstGeom prst="rect">
            <a:avLst/>
          </a:prstGeom>
          <a:noFill/>
        </p:spPr>
        <p:txBody>
          <a:bodyPr wrap="square" lIns="0" tIns="0" rIns="0" bIns="0" anchor="t">
            <a:normAutofit/>
          </a:bodyPr>
          <a:lstStyle/>
          <a:p>
            <a:pPr algn="l">
              <a:lnSpc>
                <a:spcPct val="115000"/>
              </a:lnSpc>
              <a:spcAft>
                <a:spcPts val="0"/>
              </a:spcAft>
            </a:pPr>
            <a:r>
              <a:rPr sz="1250" b="1">
                <a:solidFill>
                  <a:srgbClr val="3AA65C"/>
                </a:solidFill>
                <a:latin typeface="Segoe UI"/>
              </a:rPr>
              <a:t>Le meilleur candidat au renforcement</a:t>
            </a:r>
          </a:p>
        </p:txBody>
      </p:sp>
      <p:sp>
        <p:nvSpPr>
          <p:cNvPr id="21" name="TextBox 20"/>
          <p:cNvSpPr txBox="1"/>
          <p:nvPr/>
        </p:nvSpPr>
        <p:spPr>
          <a:xfrm>
            <a:off x="8257031" y="4901183"/>
            <a:ext cx="2871216" cy="338328"/>
          </a:xfrm>
          <a:prstGeom prst="rect">
            <a:avLst/>
          </a:prstGeom>
          <a:noFill/>
        </p:spPr>
        <p:txBody>
          <a:bodyPr wrap="square" lIns="0" tIns="0" rIns="0" bIns="0" anchor="t">
            <a:normAutofit/>
          </a:bodyPr>
          <a:lstStyle/>
          <a:p>
            <a:pPr algn="l">
              <a:lnSpc>
                <a:spcPct val="122000"/>
              </a:lnSpc>
              <a:spcAft>
                <a:spcPts val="490"/>
              </a:spcAft>
            </a:pPr>
            <a:r>
              <a:rPr sz="900" b="1">
                <a:solidFill>
                  <a:srgbClr val="3AA65C"/>
                </a:solidFill>
                <a:latin typeface="Segoe UI"/>
              </a:rPr>
              <a:t>9fa01fb1a0 </a:t>
            </a:r>
            <a:r>
              <a:rPr sz="900" b="0">
                <a:solidFill>
                  <a:srgbClr val="33444F"/>
                </a:solidFill>
                <a:latin typeface="Segoe UI"/>
              </a:rPr>
              <a:t>a le meilleur rang moyen, avec un volume suffisant pour être crédible.</a:t>
            </a:r>
          </a:p>
        </p:txBody>
      </p:sp>
      <p:sp>
        <p:nvSpPr>
          <p:cNvPr id="22" name="TextBox 21"/>
          <p:cNvSpPr txBox="1"/>
          <p:nvPr/>
        </p:nvSpPr>
        <p:spPr>
          <a:xfrm>
            <a:off x="502920" y="5468112"/>
            <a:ext cx="7589520" cy="420624"/>
          </a:xfrm>
          <a:prstGeom prst="rect">
            <a:avLst/>
          </a:prstGeom>
          <a:noFill/>
        </p:spPr>
        <p:txBody>
          <a:bodyPr wrap="square" lIns="0" tIns="0" rIns="0" bIns="0" anchor="t">
            <a:normAutofit/>
          </a:bodyPr>
          <a:lstStyle/>
          <a:p>
            <a:pPr algn="l">
              <a:lnSpc>
                <a:spcPct val="115000"/>
              </a:lnSpc>
              <a:spcAft>
                <a:spcPts val="390"/>
              </a:spcAft>
            </a:pPr>
            <a:r>
              <a:rPr sz="1180" b="1">
                <a:solidFill>
                  <a:srgbClr val="0B4F71"/>
                </a:solidFill>
                <a:latin typeface="Segoe UI"/>
              </a:rPr>
              <a:t>Règle retenue pour la suite : le dernier contact. </a:t>
            </a:r>
            <a:r>
              <a:rPr sz="1180" b="0">
                <a:solidFill>
                  <a:srgbClr val="33444F"/>
                </a:solidFill>
                <a:latin typeface="Segoe UI"/>
              </a:rPr>
              <a:t>La conversion chez Garanteo est un acte ponctuel — le clic de demande de rappel — donc la dernière campagne vue est celle qui a le plus probablement déclenché cet acte.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185855" cy="457200"/>
          </a:xfrm>
          <a:prstGeom prst="rect">
            <a:avLst/>
          </a:prstGeom>
          <a:noFill/>
        </p:spPr>
        <p:txBody>
          <a:bodyPr wrap="square" lIns="0" tIns="0" rIns="0" bIns="0" anchor="t">
            <a:normAutofit/>
          </a:bodyPr>
          <a:lstStyle/>
          <a:p>
            <a:pPr algn="l">
              <a:lnSpc>
                <a:spcPct val="115000"/>
              </a:lnSpc>
              <a:spcAft>
                <a:spcPts val="400"/>
              </a:spcAft>
            </a:pPr>
            <a:r>
              <a:rPr sz="2500" b="1">
                <a:solidFill>
                  <a:srgbClr val="0B4F71"/>
                </a:solidFill>
                <a:latin typeface="Segoe UI"/>
              </a:rPr>
              <a:t>Ce qui pilote le coût d'acquisition : la conversion, pas le prix du clic</a:t>
            </a:r>
          </a:p>
        </p:txBody>
      </p:sp>
      <p:sp>
        <p:nvSpPr>
          <p:cNvPr id="5" name="TextBox 4"/>
          <p:cNvSpPr txBox="1"/>
          <p:nvPr/>
        </p:nvSpPr>
        <p:spPr>
          <a:xfrm>
            <a:off x="502920" y="896112"/>
            <a:ext cx="11185855" cy="457200"/>
          </a:xfrm>
          <a:prstGeom prst="rect">
            <a:avLst/>
          </a:prstGeom>
          <a:noFill/>
        </p:spPr>
        <p:txBody>
          <a:bodyPr wrap="square" lIns="0" tIns="0" rIns="0" bIns="0" anchor="t">
            <a:normAutofit/>
          </a:bodyPr>
          <a:lstStyle/>
          <a:p>
            <a:pPr algn="l">
              <a:lnSpc>
                <a:spcPct val="115000"/>
              </a:lnSpc>
              <a:spcAft>
                <a:spcPts val="0"/>
              </a:spcAft>
            </a:pPr>
            <a:r>
              <a:rPr sz="1300" b="0">
                <a:solidFill>
                  <a:srgbClr val="33444F"/>
                </a:solidFill>
                <a:latin typeface="Segoe UI"/>
              </a:rPr>
              <a:t>Le CAC se décompose exactement en deux facteurs : le coût par prospect, et le taux de conversion. Un seul des deux bouge.</a:t>
            </a:r>
          </a:p>
        </p:txBody>
      </p:sp>
      <p:sp>
        <p:nvSpPr>
          <p:cNvPr id="6" name="Rectangle 5"/>
          <p:cNvSpPr/>
          <p:nvPr/>
        </p:nvSpPr>
        <p:spPr>
          <a:xfrm>
            <a:off x="0" y="6574536"/>
            <a:ext cx="12191695" cy="18288"/>
          </a:xfrm>
          <a:prstGeom prst="rect">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620256"/>
            <a:ext cx="7315200" cy="219456"/>
          </a:xfrm>
          <a:prstGeom prst="rect">
            <a:avLst/>
          </a:prstGeom>
          <a:noFill/>
        </p:spPr>
        <p:txBody>
          <a:bodyPr wrap="square" lIns="0" tIns="0" rIns="0" bIns="0" anchor="t">
            <a:normAutofit/>
          </a:bodyPr>
          <a:lstStyle/>
          <a:p>
            <a:pPr algn="l">
              <a:lnSpc>
                <a:spcPct val="115000"/>
              </a:lnSpc>
              <a:spcAft>
                <a:spcPts val="400"/>
              </a:spcAft>
            </a:pPr>
            <a:r>
              <a:rPr sz="850" b="0">
                <a:solidFill>
                  <a:srgbClr val="8B98A5"/>
                </a:solidFill>
                <a:latin typeface="Segoe UI"/>
              </a:rPr>
              <a:t>Garanteo · Projet final DataBird · Sophie Paradon</a:t>
            </a:r>
          </a:p>
        </p:txBody>
      </p:sp>
      <p:sp>
        <p:nvSpPr>
          <p:cNvPr id="8" name="TextBox 7"/>
          <p:cNvSpPr txBox="1"/>
          <p:nvPr/>
        </p:nvSpPr>
        <p:spPr>
          <a:xfrm>
            <a:off x="8579815" y="6620256"/>
            <a:ext cx="3108960" cy="219456"/>
          </a:xfrm>
          <a:prstGeom prst="rect">
            <a:avLst/>
          </a:prstGeom>
          <a:noFill/>
        </p:spPr>
        <p:txBody>
          <a:bodyPr wrap="square" lIns="0" tIns="0" rIns="0" bIns="0" anchor="t">
            <a:normAutofit/>
          </a:bodyPr>
          <a:lstStyle/>
          <a:p>
            <a:pPr algn="r">
              <a:lnSpc>
                <a:spcPct val="115000"/>
              </a:lnSpc>
              <a:spcAft>
                <a:spcPts val="400"/>
              </a:spcAft>
            </a:pPr>
            <a:r>
              <a:rPr sz="850" b="0">
                <a:solidFill>
                  <a:srgbClr val="8B98A5"/>
                </a:solidFill>
                <a:latin typeface="Segoe UI"/>
              </a:rPr>
              <a:t>Analyse   ·   16</a:t>
            </a:r>
          </a:p>
        </p:txBody>
      </p:sp>
      <p:pic>
        <p:nvPicPr>
          <p:cNvPr id="9" name="Picture 8" descr="05_moteur.png"/>
          <p:cNvPicPr>
            <a:picLocks noChangeAspect="1"/>
          </p:cNvPicPr>
          <p:nvPr/>
        </p:nvPicPr>
        <p:blipFill>
          <a:blip r:embed="rId3"/>
          <a:stretch>
            <a:fillRect/>
          </a:stretch>
        </p:blipFill>
        <p:spPr>
          <a:xfrm>
            <a:off x="274320" y="1426464"/>
            <a:ext cx="8321040" cy="3931920"/>
          </a:xfrm>
          <a:prstGeom prst="rect">
            <a:avLst/>
          </a:prstGeom>
        </p:spPr>
      </p:pic>
      <p:sp>
        <p:nvSpPr>
          <p:cNvPr id="10" name="Rectangle 9"/>
          <p:cNvSpPr/>
          <p:nvPr/>
        </p:nvSpPr>
        <p:spPr>
          <a:xfrm>
            <a:off x="8732520" y="1472184"/>
            <a:ext cx="2560320" cy="1783080"/>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732520" y="1472184"/>
            <a:ext cx="50292" cy="1783080"/>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88552" y="1609344"/>
            <a:ext cx="2139696" cy="292608"/>
          </a:xfrm>
          <a:prstGeom prst="rect">
            <a:avLst/>
          </a:prstGeom>
          <a:noFill/>
        </p:spPr>
        <p:txBody>
          <a:bodyPr wrap="square" lIns="0" tIns="0" rIns="0" bIns="0" anchor="t">
            <a:normAutofit/>
          </a:bodyPr>
          <a:lstStyle/>
          <a:p>
            <a:pPr algn="l">
              <a:lnSpc>
                <a:spcPct val="115000"/>
              </a:lnSpc>
              <a:spcAft>
                <a:spcPts val="0"/>
              </a:spcAft>
            </a:pPr>
            <a:r>
              <a:rPr sz="1250" b="1">
                <a:solidFill>
                  <a:srgbClr val="0B4F71"/>
                </a:solidFill>
                <a:latin typeface="Segoe UI"/>
              </a:rPr>
              <a:t>Les amplitudes</a:t>
            </a:r>
          </a:p>
        </p:txBody>
      </p:sp>
      <p:sp>
        <p:nvSpPr>
          <p:cNvPr id="13" name="TextBox 12"/>
          <p:cNvSpPr txBox="1"/>
          <p:nvPr/>
        </p:nvSpPr>
        <p:spPr>
          <a:xfrm>
            <a:off x="8988552" y="1947672"/>
            <a:ext cx="2139696" cy="1161288"/>
          </a:xfrm>
          <a:prstGeom prst="rect">
            <a:avLst/>
          </a:prstGeom>
          <a:noFill/>
        </p:spPr>
        <p:txBody>
          <a:bodyPr wrap="square" lIns="0" tIns="0" rIns="0" bIns="0" anchor="t">
            <a:normAutofit/>
          </a:bodyPr>
          <a:lstStyle/>
          <a:p>
            <a:pPr algn="l">
              <a:lnSpc>
                <a:spcPct val="122000"/>
              </a:lnSpc>
              <a:spcAft>
                <a:spcPts val="530"/>
              </a:spcAft>
            </a:pPr>
            <a:r>
              <a:rPr sz="969" b="1">
                <a:solidFill>
                  <a:srgbClr val="8B98A5"/>
                </a:solidFill>
                <a:latin typeface="Segoe UI"/>
              </a:rPr>
              <a:t>Coût par prospect : </a:t>
            </a:r>
            <a:r>
              <a:rPr sz="969" b="1">
                <a:solidFill>
                  <a:srgbClr val="33444F"/>
                </a:solidFill>
                <a:latin typeface="Segoe UI"/>
              </a:rPr>
              <a:t>×1,56</a:t>
            </a:r>
          </a:p>
          <a:p>
            <a:pPr algn="l">
              <a:lnSpc>
                <a:spcPct val="122000"/>
              </a:lnSpc>
              <a:spcAft>
                <a:spcPts val="530"/>
              </a:spcAft>
            </a:pPr>
            <a:r>
              <a:rPr sz="969" b="1">
                <a:solidFill>
                  <a:srgbClr val="0B4F71"/>
                </a:solidFill>
                <a:latin typeface="Segoe UI"/>
              </a:rPr>
              <a:t>Taux de conversion : </a:t>
            </a:r>
            <a:r>
              <a:rPr sz="969" b="1">
                <a:solidFill>
                  <a:srgbClr val="33444F"/>
                </a:solidFill>
                <a:latin typeface="Segoe UI"/>
              </a:rPr>
              <a:t>×2,91</a:t>
            </a:r>
          </a:p>
          <a:p>
            <a:pPr algn="l">
              <a:lnSpc>
                <a:spcPct val="122000"/>
              </a:lnSpc>
              <a:spcAft>
                <a:spcPts val="530"/>
              </a:spcAft>
            </a:pPr>
            <a:r>
              <a:rPr sz="969" b="1">
                <a:solidFill>
                  <a:srgbClr val="D9534F"/>
                </a:solidFill>
                <a:latin typeface="Segoe UI"/>
              </a:rPr>
              <a:t>Coût d'acquisition : </a:t>
            </a:r>
            <a:r>
              <a:rPr sz="969" b="1">
                <a:solidFill>
                  <a:srgbClr val="33444F"/>
                </a:solidFill>
                <a:latin typeface="Segoe UI"/>
              </a:rPr>
              <a:t>×3,33</a:t>
            </a:r>
          </a:p>
          <a:p>
            <a:pPr algn="l">
              <a:lnSpc>
                <a:spcPct val="122000"/>
              </a:lnSpc>
              <a:spcAft>
                <a:spcPts val="530"/>
              </a:spcAft>
            </a:pPr>
            <a:r>
              <a:rPr sz="260" b="0">
                <a:solidFill>
                  <a:srgbClr val="33444F"/>
                </a:solidFill>
                <a:latin typeface="Segoe UI"/>
              </a:rPr>
              <a:t> </a:t>
            </a:r>
          </a:p>
          <a:p>
            <a:pPr algn="l">
              <a:lnSpc>
                <a:spcPct val="122000"/>
              </a:lnSpc>
              <a:spcAft>
                <a:spcPts val="530"/>
              </a:spcAft>
            </a:pPr>
            <a:r>
              <a:rPr sz="969" b="0">
                <a:solidFill>
                  <a:srgbClr val="33444F"/>
                </a:solidFill>
                <a:latin typeface="Segoe UI"/>
              </a:rPr>
              <a:t>Le CAC varie deux fois plus que le prix du trafic.</a:t>
            </a:r>
          </a:p>
        </p:txBody>
      </p:sp>
      <p:sp>
        <p:nvSpPr>
          <p:cNvPr id="14" name="Rectangle 13"/>
          <p:cNvSpPr/>
          <p:nvPr/>
        </p:nvSpPr>
        <p:spPr>
          <a:xfrm>
            <a:off x="8732520" y="3346704"/>
            <a:ext cx="2560320" cy="2011680"/>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732520" y="3346704"/>
            <a:ext cx="50292" cy="2011680"/>
          </a:xfrm>
          <a:prstGeom prst="rect">
            <a:avLst/>
          </a:prstGeom>
          <a:solidFill>
            <a:srgbClr val="3AA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88552" y="3483864"/>
            <a:ext cx="2139696" cy="292608"/>
          </a:xfrm>
          <a:prstGeom prst="rect">
            <a:avLst/>
          </a:prstGeom>
          <a:noFill/>
        </p:spPr>
        <p:txBody>
          <a:bodyPr wrap="square" lIns="0" tIns="0" rIns="0" bIns="0" anchor="t">
            <a:normAutofit/>
          </a:bodyPr>
          <a:lstStyle/>
          <a:p>
            <a:pPr algn="l">
              <a:lnSpc>
                <a:spcPct val="115000"/>
              </a:lnSpc>
              <a:spcAft>
                <a:spcPts val="0"/>
              </a:spcAft>
            </a:pPr>
            <a:r>
              <a:rPr sz="1070" b="1">
                <a:solidFill>
                  <a:srgbClr val="3AA65C"/>
                </a:solidFill>
                <a:latin typeface="Segoe UI"/>
              </a:rPr>
              <a:t>Ce que ça change pour Garanteo</a:t>
            </a:r>
          </a:p>
        </p:txBody>
      </p:sp>
      <p:sp>
        <p:nvSpPr>
          <p:cNvPr id="17" name="TextBox 16"/>
          <p:cNvSpPr txBox="1"/>
          <p:nvPr/>
        </p:nvSpPr>
        <p:spPr>
          <a:xfrm>
            <a:off x="8988552" y="3822191"/>
            <a:ext cx="2139696" cy="1389888"/>
          </a:xfrm>
          <a:prstGeom prst="rect">
            <a:avLst/>
          </a:prstGeom>
          <a:noFill/>
        </p:spPr>
        <p:txBody>
          <a:bodyPr wrap="square" lIns="0" tIns="0" rIns="0" bIns="0" anchor="t">
            <a:normAutofit/>
          </a:bodyPr>
          <a:lstStyle/>
          <a:p>
            <a:pPr algn="l">
              <a:lnSpc>
                <a:spcPct val="122000"/>
              </a:lnSpc>
              <a:spcAft>
                <a:spcPts val="530"/>
              </a:spcAft>
            </a:pPr>
            <a:r>
              <a:rPr sz="969" b="1">
                <a:solidFill>
                  <a:srgbClr val="D9534F"/>
                </a:solidFill>
                <a:latin typeface="Segoe UI"/>
              </a:rPr>
              <a:t>Renégocier les enchères Google Ads ne rapporterait presque rien : </a:t>
            </a:r>
            <a:r>
              <a:rPr sz="969" b="0">
                <a:solidFill>
                  <a:srgbClr val="33444F"/>
                </a:solidFill>
                <a:latin typeface="Segoe UI"/>
              </a:rPr>
              <a:t>le clic est déjà acheté au même prix partout.</a:t>
            </a:r>
          </a:p>
          <a:p>
            <a:pPr algn="l">
              <a:lnSpc>
                <a:spcPct val="122000"/>
              </a:lnSpc>
              <a:spcAft>
                <a:spcPts val="530"/>
              </a:spcAft>
            </a:pPr>
            <a:r>
              <a:rPr sz="260" b="0">
                <a:solidFill>
                  <a:srgbClr val="33444F"/>
                </a:solidFill>
                <a:latin typeface="Segoe UI"/>
              </a:rPr>
              <a:t> </a:t>
            </a:r>
          </a:p>
          <a:p>
            <a:pPr algn="l">
              <a:lnSpc>
                <a:spcPct val="122000"/>
              </a:lnSpc>
              <a:spcAft>
                <a:spcPts val="530"/>
              </a:spcAft>
            </a:pPr>
            <a:r>
              <a:rPr sz="969" b="1">
                <a:solidFill>
                  <a:srgbClr val="3AA65C"/>
                </a:solidFill>
                <a:latin typeface="Segoe UI"/>
              </a:rPr>
              <a:t>Le seul levier est de déplacer le budget vers les campagnes qui amènent du trafic qui convertit.</a:t>
            </a:r>
          </a:p>
        </p:txBody>
      </p:sp>
      <p:sp>
        <p:nvSpPr>
          <p:cNvPr id="18" name="TextBox 17"/>
          <p:cNvSpPr txBox="1"/>
          <p:nvPr/>
        </p:nvSpPr>
        <p:spPr>
          <a:xfrm>
            <a:off x="502920" y="5468112"/>
            <a:ext cx="11201400" cy="420624"/>
          </a:xfrm>
          <a:prstGeom prst="rect">
            <a:avLst/>
          </a:prstGeom>
          <a:noFill/>
        </p:spPr>
        <p:txBody>
          <a:bodyPr wrap="square" lIns="0" tIns="0" rIns="0" bIns="0" anchor="t">
            <a:normAutofit/>
          </a:bodyPr>
          <a:lstStyle/>
          <a:p>
            <a:pPr algn="l">
              <a:lnSpc>
                <a:spcPct val="115000"/>
              </a:lnSpc>
              <a:spcAft>
                <a:spcPts val="400"/>
              </a:spcAft>
            </a:pPr>
            <a:r>
              <a:rPr sz="1200" b="1">
                <a:solidFill>
                  <a:srgbClr val="0B4F71"/>
                </a:solidFill>
                <a:latin typeface="Segoe UI"/>
              </a:rPr>
              <a:t>Résultat significatif à signaler : </a:t>
            </a:r>
            <a:r>
              <a:rPr sz="1200" b="0">
                <a:solidFill>
                  <a:srgbClr val="33444F"/>
                </a:solidFill>
                <a:latin typeface="Segoe UI"/>
              </a:rPr>
              <a:t>plus une campagne a un gros budget, moins elle convertit (Spearman −0,64 ; p = 0,024). C'est un rendement décroissant — d'où des montées en budget par paliers, jamais d'un coup.</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185855" cy="457200"/>
          </a:xfrm>
          <a:prstGeom prst="rect">
            <a:avLst/>
          </a:prstGeom>
          <a:noFill/>
        </p:spPr>
        <p:txBody>
          <a:bodyPr wrap="square" lIns="0" tIns="0" rIns="0" bIns="0" anchor="t">
            <a:normAutofit/>
          </a:bodyPr>
          <a:lstStyle/>
          <a:p>
            <a:pPr algn="l">
              <a:lnSpc>
                <a:spcPct val="115000"/>
              </a:lnSpc>
              <a:spcAft>
                <a:spcPts val="400"/>
              </a:spcAft>
            </a:pPr>
            <a:r>
              <a:rPr sz="2500" b="1">
                <a:solidFill>
                  <a:srgbClr val="0B4F71"/>
                </a:solidFill>
                <a:latin typeface="Segoe UI"/>
              </a:rPr>
              <a:t>Le pitch téléphonique fait-il baisser la conversion ?</a:t>
            </a:r>
          </a:p>
        </p:txBody>
      </p:sp>
      <p:sp>
        <p:nvSpPr>
          <p:cNvPr id="5" name="TextBox 4"/>
          <p:cNvSpPr txBox="1"/>
          <p:nvPr/>
        </p:nvSpPr>
        <p:spPr>
          <a:xfrm>
            <a:off x="502920" y="896112"/>
            <a:ext cx="11185855" cy="457200"/>
          </a:xfrm>
          <a:prstGeom prst="rect">
            <a:avLst/>
          </a:prstGeom>
          <a:noFill/>
        </p:spPr>
        <p:txBody>
          <a:bodyPr wrap="square" lIns="0" tIns="0" rIns="0" bIns="0" anchor="t">
            <a:normAutofit/>
          </a:bodyPr>
          <a:lstStyle/>
          <a:p>
            <a:pPr algn="l">
              <a:lnSpc>
                <a:spcPct val="115000"/>
              </a:lnSpc>
              <a:spcAft>
                <a:spcPts val="0"/>
              </a:spcAft>
            </a:pPr>
            <a:r>
              <a:rPr sz="1300" b="0">
                <a:solidFill>
                  <a:srgbClr val="33444F"/>
                </a:solidFill>
                <a:latin typeface="Segoe UI"/>
              </a:rPr>
              <a:t>Réponse à la sous-question n°3 : une contre-intuition repérée à l'audit, qu'il fallait trancher par un test statistique.</a:t>
            </a:r>
          </a:p>
        </p:txBody>
      </p:sp>
      <p:sp>
        <p:nvSpPr>
          <p:cNvPr id="6" name="Rectangle 5"/>
          <p:cNvSpPr/>
          <p:nvPr/>
        </p:nvSpPr>
        <p:spPr>
          <a:xfrm>
            <a:off x="0" y="6574536"/>
            <a:ext cx="12191695" cy="18288"/>
          </a:xfrm>
          <a:prstGeom prst="rect">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620256"/>
            <a:ext cx="7315200" cy="219456"/>
          </a:xfrm>
          <a:prstGeom prst="rect">
            <a:avLst/>
          </a:prstGeom>
          <a:noFill/>
        </p:spPr>
        <p:txBody>
          <a:bodyPr wrap="square" lIns="0" tIns="0" rIns="0" bIns="0" anchor="t">
            <a:normAutofit/>
          </a:bodyPr>
          <a:lstStyle/>
          <a:p>
            <a:pPr algn="l">
              <a:lnSpc>
                <a:spcPct val="115000"/>
              </a:lnSpc>
              <a:spcAft>
                <a:spcPts val="400"/>
              </a:spcAft>
            </a:pPr>
            <a:r>
              <a:rPr sz="850" b="0">
                <a:solidFill>
                  <a:srgbClr val="8B98A5"/>
                </a:solidFill>
                <a:latin typeface="Segoe UI"/>
              </a:rPr>
              <a:t>Garanteo · Projet final DataBird · Sophie Paradon</a:t>
            </a:r>
          </a:p>
        </p:txBody>
      </p:sp>
      <p:sp>
        <p:nvSpPr>
          <p:cNvPr id="8" name="TextBox 7"/>
          <p:cNvSpPr txBox="1"/>
          <p:nvPr/>
        </p:nvSpPr>
        <p:spPr>
          <a:xfrm>
            <a:off x="8579815" y="6620256"/>
            <a:ext cx="3108960" cy="219456"/>
          </a:xfrm>
          <a:prstGeom prst="rect">
            <a:avLst/>
          </a:prstGeom>
          <a:noFill/>
        </p:spPr>
        <p:txBody>
          <a:bodyPr wrap="square" lIns="0" tIns="0" rIns="0" bIns="0" anchor="t">
            <a:normAutofit/>
          </a:bodyPr>
          <a:lstStyle/>
          <a:p>
            <a:pPr algn="r">
              <a:lnSpc>
                <a:spcPct val="115000"/>
              </a:lnSpc>
              <a:spcAft>
                <a:spcPts val="400"/>
              </a:spcAft>
            </a:pPr>
            <a:r>
              <a:rPr sz="850" b="0">
                <a:solidFill>
                  <a:srgbClr val="8B98A5"/>
                </a:solidFill>
                <a:latin typeface="Segoe UI"/>
              </a:rPr>
              <a:t>Analyse   ·   17</a:t>
            </a:r>
          </a:p>
        </p:txBody>
      </p:sp>
      <p:sp>
        <p:nvSpPr>
          <p:cNvPr id="10" name="Rectangle 9"/>
          <p:cNvSpPr/>
          <p:nvPr/>
        </p:nvSpPr>
        <p:spPr>
          <a:xfrm>
            <a:off x="7680960" y="1444752"/>
            <a:ext cx="3611880" cy="1965960"/>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680960" y="1444752"/>
            <a:ext cx="50292" cy="1965960"/>
          </a:xfrm>
          <a:prstGeom prst="rect">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36992" y="1581912"/>
            <a:ext cx="3191256" cy="292608"/>
          </a:xfrm>
          <a:prstGeom prst="rect">
            <a:avLst/>
          </a:prstGeom>
          <a:noFill/>
        </p:spPr>
        <p:txBody>
          <a:bodyPr wrap="square" lIns="0" tIns="0" rIns="0" bIns="0" anchor="t">
            <a:normAutofit/>
          </a:bodyPr>
          <a:lstStyle/>
          <a:p>
            <a:pPr algn="l">
              <a:lnSpc>
                <a:spcPct val="115000"/>
              </a:lnSpc>
              <a:spcAft>
                <a:spcPts val="0"/>
              </a:spcAft>
            </a:pPr>
            <a:r>
              <a:rPr sz="1250" b="1">
                <a:solidFill>
                  <a:srgbClr val="D9534F"/>
                </a:solidFill>
                <a:latin typeface="Segoe UI"/>
              </a:rPr>
              <a:t>Quatre tests, une seule conclusion</a:t>
            </a:r>
          </a:p>
        </p:txBody>
      </p:sp>
      <p:sp>
        <p:nvSpPr>
          <p:cNvPr id="13" name="TextBox 12"/>
          <p:cNvSpPr txBox="1"/>
          <p:nvPr/>
        </p:nvSpPr>
        <p:spPr>
          <a:xfrm>
            <a:off x="7936992" y="1920240"/>
            <a:ext cx="3191256" cy="1344167"/>
          </a:xfrm>
          <a:prstGeom prst="rect">
            <a:avLst/>
          </a:prstGeom>
          <a:noFill/>
        </p:spPr>
        <p:txBody>
          <a:bodyPr wrap="square" lIns="0" tIns="0" rIns="0" bIns="0" anchor="t">
            <a:normAutofit/>
          </a:bodyPr>
          <a:lstStyle/>
          <a:p>
            <a:pPr algn="l">
              <a:lnSpc>
                <a:spcPct val="122000"/>
              </a:lnSpc>
              <a:spcAft>
                <a:spcPts val="540"/>
              </a:spcAft>
            </a:pPr>
            <a:r>
              <a:rPr sz="940" b="0">
                <a:solidFill>
                  <a:srgbClr val="33444F"/>
                </a:solidFill>
                <a:latin typeface="Segoe UI"/>
              </a:rPr>
              <a:t>khi-deux : p = 0,103   ·   khi-deux sans correction : p = 0,086</a:t>
            </a:r>
          </a:p>
          <a:p>
            <a:pPr algn="l">
              <a:lnSpc>
                <a:spcPct val="122000"/>
              </a:lnSpc>
              <a:spcAft>
                <a:spcPts val="540"/>
              </a:spcAft>
            </a:pPr>
            <a:r>
              <a:rPr sz="940" b="0">
                <a:solidFill>
                  <a:srgbClr val="33444F"/>
                </a:solidFill>
                <a:latin typeface="Segoe UI"/>
              </a:rPr>
              <a:t>test t de Welch : p = 0,073   ·   Fisher exact : p = 0,094</a:t>
            </a:r>
          </a:p>
          <a:p>
            <a:pPr algn="l">
              <a:lnSpc>
                <a:spcPct val="122000"/>
              </a:lnSpc>
              <a:spcAft>
                <a:spcPts val="540"/>
              </a:spcAft>
            </a:pPr>
            <a:r>
              <a:rPr sz="270" b="0">
                <a:solidFill>
                  <a:srgbClr val="33444F"/>
                </a:solidFill>
                <a:latin typeface="Segoe UI"/>
              </a:rPr>
              <a:t> </a:t>
            </a:r>
          </a:p>
          <a:p>
            <a:pPr algn="l">
              <a:lnSpc>
                <a:spcPct val="122000"/>
              </a:lnSpc>
              <a:spcAft>
                <a:spcPts val="540"/>
              </a:spcAft>
            </a:pPr>
            <a:r>
              <a:rPr sz="990" b="1">
                <a:solidFill>
                  <a:srgbClr val="D9534F"/>
                </a:solidFill>
                <a:latin typeface="Segoe UI"/>
              </a:rPr>
              <a:t>Tous au-dessus de 0,05. </a:t>
            </a:r>
            <a:r>
              <a:rPr sz="990" b="0">
                <a:solidFill>
                  <a:srgbClr val="33444F"/>
                </a:solidFill>
                <a:latin typeface="Segoe UI"/>
              </a:rPr>
              <a:t>On ne peut pas l'affirmer. L'IC 95 % de l'écart, [−0,21 ; +4,79] points, contient zéro.</a:t>
            </a:r>
          </a:p>
        </p:txBody>
      </p:sp>
      <p:sp>
        <p:nvSpPr>
          <p:cNvPr id="14" name="Rectangle 13"/>
          <p:cNvSpPr/>
          <p:nvPr/>
        </p:nvSpPr>
        <p:spPr>
          <a:xfrm>
            <a:off x="7680960" y="3529584"/>
            <a:ext cx="3611880" cy="1828800"/>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680960" y="3529584"/>
            <a:ext cx="50292" cy="1828800"/>
          </a:xfrm>
          <a:prstGeom prst="rect">
            <a:avLst/>
          </a:prstGeom>
          <a:solidFill>
            <a:srgbClr val="1CA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936992" y="3666744"/>
            <a:ext cx="3191256" cy="292608"/>
          </a:xfrm>
          <a:prstGeom prst="rect">
            <a:avLst/>
          </a:prstGeom>
          <a:noFill/>
        </p:spPr>
        <p:txBody>
          <a:bodyPr wrap="square" lIns="0" tIns="0" rIns="0" bIns="0" anchor="t">
            <a:normAutofit/>
          </a:bodyPr>
          <a:lstStyle/>
          <a:p>
            <a:pPr algn="l">
              <a:lnSpc>
                <a:spcPct val="115000"/>
              </a:lnSpc>
              <a:spcAft>
                <a:spcPts val="0"/>
              </a:spcAft>
            </a:pPr>
            <a:r>
              <a:rPr sz="1250" b="1">
                <a:solidFill>
                  <a:srgbClr val="1CA7C4"/>
                </a:solidFill>
                <a:latin typeface="Segoe UI"/>
              </a:rPr>
              <a:t>Mais trois indices d'un effet réel</a:t>
            </a:r>
          </a:p>
        </p:txBody>
      </p:sp>
      <p:sp>
        <p:nvSpPr>
          <p:cNvPr id="17" name="TextBox 16"/>
          <p:cNvSpPr txBox="1"/>
          <p:nvPr/>
        </p:nvSpPr>
        <p:spPr>
          <a:xfrm>
            <a:off x="7936992" y="4005072"/>
            <a:ext cx="3191256" cy="1207007"/>
          </a:xfrm>
          <a:prstGeom prst="rect">
            <a:avLst/>
          </a:prstGeom>
          <a:noFill/>
        </p:spPr>
        <p:txBody>
          <a:bodyPr wrap="square" lIns="0" tIns="0" rIns="0" bIns="0" anchor="t">
            <a:normAutofit/>
          </a:bodyPr>
          <a:lstStyle/>
          <a:p>
            <a:pPr algn="l">
              <a:lnSpc>
                <a:spcPct val="122000"/>
              </a:lnSpc>
              <a:spcAft>
                <a:spcPts val="560"/>
              </a:spcAft>
            </a:pPr>
            <a:r>
              <a:rPr sz="1030" b="1">
                <a:solidFill>
                  <a:srgbClr val="1CA7C4"/>
                </a:solidFill>
                <a:latin typeface="Segoe UI"/>
              </a:rPr>
              <a:t>1. </a:t>
            </a:r>
            <a:r>
              <a:rPr sz="1030" b="0">
                <a:solidFill>
                  <a:srgbClr val="33444F"/>
                </a:solidFill>
                <a:latin typeface="Segoe UI"/>
              </a:rPr>
              <a:t>Les 4 p-values sont proches du seuil, pas franchement nulles.</a:t>
            </a:r>
          </a:p>
          <a:p>
            <a:pPr algn="l">
              <a:lnSpc>
                <a:spcPct val="122000"/>
              </a:lnSpc>
              <a:spcAft>
                <a:spcPts val="560"/>
              </a:spcAft>
            </a:pPr>
            <a:r>
              <a:rPr sz="1030" b="1">
                <a:solidFill>
                  <a:srgbClr val="1CA7C4"/>
                </a:solidFill>
                <a:latin typeface="Segoe UI"/>
              </a:rPr>
              <a:t>2. </a:t>
            </a:r>
            <a:r>
              <a:rPr sz="1030" b="0">
                <a:solidFill>
                  <a:srgbClr val="33444F"/>
                </a:solidFill>
                <a:latin typeface="Segoe UI"/>
              </a:rPr>
              <a:t>Le pitch n'est pas ciblé : genre p = 0,87, âge p = 0,12, campagne p = 0,70. Pas de biais de sélection.</a:t>
            </a:r>
          </a:p>
          <a:p>
            <a:pPr algn="l">
              <a:lnSpc>
                <a:spcPct val="122000"/>
              </a:lnSpc>
              <a:spcAft>
                <a:spcPts val="560"/>
              </a:spcAft>
            </a:pPr>
            <a:r>
              <a:rPr sz="1030" b="1">
                <a:solidFill>
                  <a:srgbClr val="1CA7C4"/>
                </a:solidFill>
                <a:latin typeface="Segoe UI"/>
              </a:rPr>
              <a:t>3. </a:t>
            </a:r>
            <a:r>
              <a:rPr sz="1030" b="0">
                <a:solidFill>
                  <a:srgbClr val="33444F"/>
                </a:solidFill>
                <a:latin typeface="Segoe UI"/>
              </a:rPr>
              <a:t>Même sens sur les 6 grosses campagnes séparément : 1,6 % de chances par hasard.</a:t>
            </a:r>
          </a:p>
        </p:txBody>
      </p:sp>
      <p:sp>
        <p:nvSpPr>
          <p:cNvPr id="18" name="TextBox 17"/>
          <p:cNvSpPr txBox="1"/>
          <p:nvPr/>
        </p:nvSpPr>
        <p:spPr>
          <a:xfrm>
            <a:off x="502920" y="5468112"/>
            <a:ext cx="11201400" cy="420624"/>
          </a:xfrm>
          <a:prstGeom prst="rect">
            <a:avLst/>
          </a:prstGeom>
          <a:noFill/>
        </p:spPr>
        <p:txBody>
          <a:bodyPr wrap="square" lIns="0" tIns="0" rIns="0" bIns="0" anchor="t">
            <a:normAutofit/>
          </a:bodyPr>
          <a:lstStyle/>
          <a:p>
            <a:pPr algn="l">
              <a:lnSpc>
                <a:spcPct val="115000"/>
              </a:lnSpc>
              <a:spcAft>
                <a:spcPts val="380"/>
              </a:spcAft>
            </a:pPr>
            <a:r>
              <a:rPr sz="1130" b="1">
                <a:solidFill>
                  <a:srgbClr val="3AA65C"/>
                </a:solidFill>
                <a:latin typeface="Segoe UI"/>
              </a:rPr>
              <a:t>Recommandation : </a:t>
            </a:r>
            <a:r>
              <a:rPr sz="1130" b="0">
                <a:solidFill>
                  <a:srgbClr val="33444F"/>
                </a:solidFill>
                <a:latin typeface="Segoe UI"/>
              </a:rPr>
              <a:t>ne pas couper le pitch sur cette base — ce serait une décision non fondée. Mais trancher proprement demanderait 2 300 prospects par groupe, soit 4 600 au total : plus de deux ans au rythme actuel de Garanteo. L'écart est trop petit pour être mesuré à ce volume — autant assumer l'incertitude et regarder le vrai levier, la joignabilité.</a:t>
            </a:r>
          </a:p>
        </p:txBody>
      </p:sp>
      <p:pic>
        <p:nvPicPr>
          <p:cNvPr id="19" name="Picture 18" descr="17_pitch.png"/>
          <p:cNvPicPr>
            <a:picLocks noChangeAspect="1"/>
          </p:cNvPicPr>
          <p:nvPr/>
        </p:nvPicPr>
        <p:blipFill>
          <a:blip r:embed="rId4"/>
          <a:stretch>
            <a:fillRect/>
          </a:stretch>
        </p:blipFill>
        <p:spPr>
          <a:xfrm>
            <a:off x="465838" y="1433090"/>
            <a:ext cx="6932164" cy="39319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185855" cy="457200"/>
          </a:xfrm>
          <a:prstGeom prst="rect">
            <a:avLst/>
          </a:prstGeom>
          <a:noFill/>
        </p:spPr>
        <p:txBody>
          <a:bodyPr wrap="square" lIns="0" tIns="0" rIns="0" bIns="0" anchor="t">
            <a:normAutofit/>
          </a:bodyPr>
          <a:lstStyle/>
          <a:p>
            <a:pPr algn="l">
              <a:lnSpc>
                <a:spcPct val="115000"/>
              </a:lnSpc>
              <a:spcAft>
                <a:spcPts val="400"/>
              </a:spcAft>
            </a:pPr>
            <a:r>
              <a:rPr sz="2500" b="1">
                <a:solidFill>
                  <a:srgbClr val="0B4F71"/>
                </a:solidFill>
                <a:latin typeface="Segoe UI"/>
              </a:rPr>
              <a:t>Ce que l'analyse ne permet PAS d'affirmer</a:t>
            </a:r>
          </a:p>
        </p:txBody>
      </p:sp>
      <p:sp>
        <p:nvSpPr>
          <p:cNvPr id="5" name="TextBox 4"/>
          <p:cNvSpPr txBox="1"/>
          <p:nvPr/>
        </p:nvSpPr>
        <p:spPr>
          <a:xfrm>
            <a:off x="502920" y="896112"/>
            <a:ext cx="11185855" cy="457200"/>
          </a:xfrm>
          <a:prstGeom prst="rect">
            <a:avLst/>
          </a:prstGeom>
          <a:noFill/>
        </p:spPr>
        <p:txBody>
          <a:bodyPr wrap="square" lIns="0" tIns="0" rIns="0" bIns="0" anchor="t">
            <a:normAutofit/>
          </a:bodyPr>
          <a:lstStyle/>
          <a:p>
            <a:pPr algn="l">
              <a:lnSpc>
                <a:spcPct val="115000"/>
              </a:lnSpc>
              <a:spcAft>
                <a:spcPts val="0"/>
              </a:spcAft>
            </a:pPr>
            <a:r>
              <a:rPr sz="1300" b="0">
                <a:solidFill>
                  <a:srgbClr val="33444F"/>
                </a:solidFill>
                <a:latin typeface="Segoe UI"/>
              </a:rPr>
              <a:t>Un test non significatif ne prouve pas l'absence d'effet : il prouve qu'on n'a pas assez de données pour trancher. La nuance change tout dans une recommandation.</a:t>
            </a:r>
          </a:p>
        </p:txBody>
      </p:sp>
      <p:sp>
        <p:nvSpPr>
          <p:cNvPr id="6" name="Rectangle 5"/>
          <p:cNvSpPr/>
          <p:nvPr/>
        </p:nvSpPr>
        <p:spPr>
          <a:xfrm>
            <a:off x="0" y="6574536"/>
            <a:ext cx="12191695" cy="18288"/>
          </a:xfrm>
          <a:prstGeom prst="rect">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620256"/>
            <a:ext cx="7315200" cy="219456"/>
          </a:xfrm>
          <a:prstGeom prst="rect">
            <a:avLst/>
          </a:prstGeom>
          <a:noFill/>
        </p:spPr>
        <p:txBody>
          <a:bodyPr wrap="square" lIns="0" tIns="0" rIns="0" bIns="0" anchor="t">
            <a:normAutofit/>
          </a:bodyPr>
          <a:lstStyle/>
          <a:p>
            <a:pPr algn="l">
              <a:lnSpc>
                <a:spcPct val="115000"/>
              </a:lnSpc>
              <a:spcAft>
                <a:spcPts val="400"/>
              </a:spcAft>
            </a:pPr>
            <a:r>
              <a:rPr sz="850" b="0">
                <a:solidFill>
                  <a:srgbClr val="8B98A5"/>
                </a:solidFill>
                <a:latin typeface="Segoe UI"/>
              </a:rPr>
              <a:t>Garanteo · Projet final DataBird · Sophie Paradon</a:t>
            </a:r>
          </a:p>
        </p:txBody>
      </p:sp>
      <p:sp>
        <p:nvSpPr>
          <p:cNvPr id="8" name="TextBox 7"/>
          <p:cNvSpPr txBox="1"/>
          <p:nvPr/>
        </p:nvSpPr>
        <p:spPr>
          <a:xfrm>
            <a:off x="8579815" y="6620256"/>
            <a:ext cx="3108960" cy="219456"/>
          </a:xfrm>
          <a:prstGeom prst="rect">
            <a:avLst/>
          </a:prstGeom>
          <a:noFill/>
        </p:spPr>
        <p:txBody>
          <a:bodyPr wrap="square" lIns="0" tIns="0" rIns="0" bIns="0" anchor="t">
            <a:normAutofit/>
          </a:bodyPr>
          <a:lstStyle/>
          <a:p>
            <a:pPr algn="r">
              <a:lnSpc>
                <a:spcPct val="115000"/>
              </a:lnSpc>
              <a:spcAft>
                <a:spcPts val="400"/>
              </a:spcAft>
            </a:pPr>
            <a:r>
              <a:rPr sz="850" b="0">
                <a:solidFill>
                  <a:srgbClr val="8B98A5"/>
                </a:solidFill>
                <a:latin typeface="Segoe UI"/>
              </a:rPr>
              <a:t>Analyse   ·   18</a:t>
            </a:r>
          </a:p>
        </p:txBody>
      </p:sp>
      <p:pic>
        <p:nvPicPr>
          <p:cNvPr id="9" name="Picture 8" descr="10_segments.png"/>
          <p:cNvPicPr>
            <a:picLocks noChangeAspect="1"/>
          </p:cNvPicPr>
          <p:nvPr/>
        </p:nvPicPr>
        <p:blipFill>
          <a:blip r:embed="rId3"/>
          <a:stretch>
            <a:fillRect/>
          </a:stretch>
        </p:blipFill>
        <p:spPr>
          <a:xfrm>
            <a:off x="365760" y="1472184"/>
            <a:ext cx="7315200" cy="3858768"/>
          </a:xfrm>
          <a:prstGeom prst="rect">
            <a:avLst/>
          </a:prstGeom>
        </p:spPr>
      </p:pic>
      <p:sp>
        <p:nvSpPr>
          <p:cNvPr id="10" name="Rectangle 9"/>
          <p:cNvSpPr/>
          <p:nvPr/>
        </p:nvSpPr>
        <p:spPr>
          <a:xfrm>
            <a:off x="7909560" y="1426464"/>
            <a:ext cx="3383280" cy="1920240"/>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909560" y="1426464"/>
            <a:ext cx="50292" cy="1920240"/>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65592" y="1563624"/>
            <a:ext cx="2962656" cy="292608"/>
          </a:xfrm>
          <a:prstGeom prst="rect">
            <a:avLst/>
          </a:prstGeom>
          <a:noFill/>
        </p:spPr>
        <p:txBody>
          <a:bodyPr wrap="square" lIns="0" tIns="0" rIns="0" bIns="0" anchor="t">
            <a:normAutofit/>
          </a:bodyPr>
          <a:lstStyle/>
          <a:p>
            <a:pPr algn="l">
              <a:lnSpc>
                <a:spcPct val="115000"/>
              </a:lnSpc>
              <a:spcAft>
                <a:spcPts val="0"/>
              </a:spcAft>
            </a:pPr>
            <a:r>
              <a:rPr sz="1250" b="1">
                <a:solidFill>
                  <a:srgbClr val="0B4F71"/>
                </a:solidFill>
                <a:latin typeface="Segoe UI"/>
              </a:rPr>
              <a:t>Aucun profil à cibler</a:t>
            </a:r>
          </a:p>
        </p:txBody>
      </p:sp>
      <p:sp>
        <p:nvSpPr>
          <p:cNvPr id="13" name="TextBox 12"/>
          <p:cNvSpPr txBox="1"/>
          <p:nvPr/>
        </p:nvSpPr>
        <p:spPr>
          <a:xfrm>
            <a:off x="8165592" y="1901952"/>
            <a:ext cx="2962656" cy="1298448"/>
          </a:xfrm>
          <a:prstGeom prst="rect">
            <a:avLst/>
          </a:prstGeom>
          <a:noFill/>
        </p:spPr>
        <p:txBody>
          <a:bodyPr wrap="square" lIns="0" tIns="0" rIns="0" bIns="0" anchor="t">
            <a:normAutofit/>
          </a:bodyPr>
          <a:lstStyle/>
          <a:p>
            <a:pPr algn="l">
              <a:lnSpc>
                <a:spcPct val="122000"/>
              </a:lnSpc>
              <a:spcAft>
                <a:spcPts val="530"/>
              </a:spcAft>
            </a:pPr>
            <a:r>
              <a:rPr sz="969" b="1">
                <a:solidFill>
                  <a:srgbClr val="0B4F71"/>
                </a:solidFill>
                <a:latin typeface="Segoe UI"/>
              </a:rPr>
              <a:t>Sept tests, sept fois non significatif. </a:t>
            </a:r>
            <a:r>
              <a:rPr sz="969" b="0">
                <a:solidFill>
                  <a:srgbClr val="33444F"/>
                </a:solidFill>
                <a:latin typeface="Segoe UI"/>
              </a:rPr>
              <a:t>Ni le canal, ni l'appareil, ni le pays, ni le genre, ni l'âge, ni le comportement de navigation ne distingue un futur client.</a:t>
            </a:r>
          </a:p>
          <a:p>
            <a:pPr algn="l">
              <a:lnSpc>
                <a:spcPct val="122000"/>
              </a:lnSpc>
              <a:spcAft>
                <a:spcPts val="530"/>
              </a:spcAft>
            </a:pPr>
            <a:r>
              <a:rPr sz="969" b="1">
                <a:solidFill>
                  <a:srgbClr val="3AA65C"/>
                </a:solidFill>
                <a:latin typeface="Segoe UI"/>
              </a:rPr>
              <a:t>Bonne nouvelle : </a:t>
            </a:r>
            <a:r>
              <a:rPr sz="969" b="0">
                <a:solidFill>
                  <a:srgbClr val="33444F"/>
                </a:solidFill>
                <a:latin typeface="Segoe UI"/>
              </a:rPr>
              <a:t>ça écarte une piste et concentre l'action sur le seul levier identifiable, le budget par campagne.</a:t>
            </a:r>
          </a:p>
        </p:txBody>
      </p:sp>
      <p:sp>
        <p:nvSpPr>
          <p:cNvPr id="14" name="Rectangle 13"/>
          <p:cNvSpPr/>
          <p:nvPr/>
        </p:nvSpPr>
        <p:spPr>
          <a:xfrm>
            <a:off x="7909560" y="3483864"/>
            <a:ext cx="3383280" cy="1874519"/>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909560" y="3483864"/>
            <a:ext cx="50292" cy="1874519"/>
          </a:xfrm>
          <a:prstGeom prst="rect">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65592" y="3621024"/>
            <a:ext cx="2962656" cy="292608"/>
          </a:xfrm>
          <a:prstGeom prst="rect">
            <a:avLst/>
          </a:prstGeom>
          <a:noFill/>
        </p:spPr>
        <p:txBody>
          <a:bodyPr wrap="square" lIns="0" tIns="0" rIns="0" bIns="0" anchor="t">
            <a:normAutofit/>
          </a:bodyPr>
          <a:lstStyle/>
          <a:p>
            <a:pPr algn="l">
              <a:lnSpc>
                <a:spcPct val="115000"/>
              </a:lnSpc>
              <a:spcAft>
                <a:spcPts val="0"/>
              </a:spcAft>
            </a:pPr>
            <a:r>
              <a:rPr sz="1250" b="1">
                <a:solidFill>
                  <a:srgbClr val="D9534F"/>
                </a:solidFill>
                <a:latin typeface="Segoe UI"/>
              </a:rPr>
              <a:t>Et les campagnes entre elles ?</a:t>
            </a:r>
          </a:p>
        </p:txBody>
      </p:sp>
      <p:sp>
        <p:nvSpPr>
          <p:cNvPr id="17" name="TextBox 16"/>
          <p:cNvSpPr txBox="1"/>
          <p:nvPr/>
        </p:nvSpPr>
        <p:spPr>
          <a:xfrm>
            <a:off x="8165592" y="3959352"/>
            <a:ext cx="2962656" cy="1252727"/>
          </a:xfrm>
          <a:prstGeom prst="rect">
            <a:avLst/>
          </a:prstGeom>
          <a:noFill/>
        </p:spPr>
        <p:txBody>
          <a:bodyPr wrap="square" lIns="0" tIns="0" rIns="0" bIns="0" anchor="t">
            <a:normAutofit/>
          </a:bodyPr>
          <a:lstStyle/>
          <a:p>
            <a:pPr algn="l">
              <a:lnSpc>
                <a:spcPct val="122000"/>
              </a:lnSpc>
              <a:spcAft>
                <a:spcPts val="500"/>
              </a:spcAft>
            </a:pPr>
            <a:r>
              <a:rPr sz="919" b="1">
                <a:solidFill>
                  <a:srgbClr val="D9534F"/>
                </a:solidFill>
                <a:latin typeface="Segoe UI"/>
              </a:rPr>
              <a:t>Khi-deux global campagne × conversion : p = 0,38 </a:t>
            </a:r>
            <a:r>
              <a:rPr sz="919" b="0">
                <a:solidFill>
                  <a:srgbClr val="33444F"/>
                </a:solidFill>
                <a:latin typeface="Segoe UI"/>
              </a:rPr>
              <a:t>(p = 0,70 après regroupement des petites campagnes).</a:t>
            </a:r>
          </a:p>
          <a:p>
            <a:pPr algn="l">
              <a:lnSpc>
                <a:spcPct val="122000"/>
              </a:lnSpc>
              <a:spcAft>
                <a:spcPts val="500"/>
              </a:spcAft>
            </a:pPr>
            <a:r>
              <a:rPr sz="250" b="0">
                <a:solidFill>
                  <a:srgbClr val="33444F"/>
                </a:solidFill>
                <a:latin typeface="Segoe UI"/>
              </a:rPr>
              <a:t> </a:t>
            </a:r>
          </a:p>
          <a:p>
            <a:pPr algn="l">
              <a:lnSpc>
                <a:spcPct val="122000"/>
              </a:lnSpc>
              <a:spcAft>
                <a:spcPts val="500"/>
              </a:spcAft>
            </a:pPr>
            <a:r>
              <a:rPr sz="919" b="0">
                <a:solidFill>
                  <a:srgbClr val="33444F"/>
                </a:solidFill>
                <a:latin typeface="Segoe UI"/>
              </a:rPr>
              <a:t>180 clients sur 13 campagnes : effectifs trop faibles. Mes recommandations sont </a:t>
            </a:r>
            <a:r>
              <a:rPr sz="919" b="1">
                <a:solidFill>
                  <a:srgbClr val="0B4F71"/>
                </a:solidFill>
                <a:latin typeface="Segoe UI"/>
              </a:rPr>
              <a:t>les meilleures décisions sous incertitude</a:t>
            </a:r>
            <a:r>
              <a:rPr sz="919" b="0">
                <a:solidFill>
                  <a:srgbClr val="33444F"/>
                </a:solidFill>
                <a:latin typeface="Segoe UI"/>
              </a:rPr>
              <a:t>, pas des vérités démontrées. D'où le dashboard : les effectifs grandiront.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1CA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0" y="2331720"/>
            <a:ext cx="1828800" cy="1463040"/>
          </a:xfrm>
          <a:prstGeom prst="rect">
            <a:avLst/>
          </a:prstGeom>
          <a:noFill/>
        </p:spPr>
        <p:txBody>
          <a:bodyPr wrap="square" lIns="0" tIns="0" rIns="0" bIns="0" anchor="t">
            <a:normAutofit/>
          </a:bodyPr>
          <a:lstStyle/>
          <a:p>
            <a:pPr algn="l">
              <a:lnSpc>
                <a:spcPct val="115000"/>
              </a:lnSpc>
              <a:spcAft>
                <a:spcPts val="400"/>
              </a:spcAft>
            </a:pPr>
            <a:r>
              <a:rPr sz="10000" b="1">
                <a:solidFill>
                  <a:srgbClr val="2E86A6"/>
                </a:solidFill>
                <a:latin typeface="Segoe UI"/>
              </a:rPr>
              <a:t>4</a:t>
            </a:r>
          </a:p>
        </p:txBody>
      </p:sp>
      <p:sp>
        <p:nvSpPr>
          <p:cNvPr id="5" name="TextBox 4"/>
          <p:cNvSpPr txBox="1"/>
          <p:nvPr/>
        </p:nvSpPr>
        <p:spPr>
          <a:xfrm>
            <a:off x="3200400" y="2606040"/>
            <a:ext cx="7863840" cy="822960"/>
          </a:xfrm>
          <a:prstGeom prst="rect">
            <a:avLst/>
          </a:prstGeom>
          <a:noFill/>
        </p:spPr>
        <p:txBody>
          <a:bodyPr wrap="square" lIns="0" tIns="0" rIns="0" bIns="0" anchor="t">
            <a:normAutofit/>
          </a:bodyPr>
          <a:lstStyle/>
          <a:p>
            <a:pPr algn="l">
              <a:lnSpc>
                <a:spcPct val="115000"/>
              </a:lnSpc>
              <a:spcAft>
                <a:spcPts val="400"/>
              </a:spcAft>
            </a:pPr>
            <a:r>
              <a:rPr sz="4000" b="1">
                <a:solidFill>
                  <a:srgbClr val="FFFFFF"/>
                </a:solidFill>
                <a:latin typeface="Segoe UI"/>
              </a:rPr>
              <a:t>Restitution</a:t>
            </a:r>
          </a:p>
        </p:txBody>
      </p:sp>
      <p:sp>
        <p:nvSpPr>
          <p:cNvPr id="6" name="TextBox 5"/>
          <p:cNvSpPr txBox="1"/>
          <p:nvPr/>
        </p:nvSpPr>
        <p:spPr>
          <a:xfrm>
            <a:off x="3255264" y="3611880"/>
            <a:ext cx="7863840" cy="457200"/>
          </a:xfrm>
          <a:prstGeom prst="rect">
            <a:avLst/>
          </a:prstGeom>
          <a:noFill/>
        </p:spPr>
        <p:txBody>
          <a:bodyPr wrap="square" lIns="0" tIns="0" rIns="0" bIns="0" anchor="t">
            <a:normAutofit/>
          </a:bodyPr>
          <a:lstStyle/>
          <a:p>
            <a:pPr algn="l">
              <a:lnSpc>
                <a:spcPct val="115000"/>
              </a:lnSpc>
              <a:spcAft>
                <a:spcPts val="400"/>
              </a:spcAft>
            </a:pPr>
            <a:r>
              <a:rPr sz="1500" b="0">
                <a:solidFill>
                  <a:srgbClr val="A8D3E6"/>
                </a:solidFill>
                <a:latin typeface="Segoe UI"/>
              </a:rPr>
              <a:t>Le dashboard livré à l'équipe acquisition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185855" cy="457200"/>
          </a:xfrm>
          <a:prstGeom prst="rect">
            <a:avLst/>
          </a:prstGeom>
          <a:noFill/>
        </p:spPr>
        <p:txBody>
          <a:bodyPr wrap="square" lIns="0" tIns="0" rIns="0" bIns="0" anchor="t">
            <a:normAutofit/>
          </a:bodyPr>
          <a:lstStyle/>
          <a:p>
            <a:pPr algn="l">
              <a:lnSpc>
                <a:spcPct val="115000"/>
              </a:lnSpc>
              <a:spcAft>
                <a:spcPts val="400"/>
              </a:spcAft>
            </a:pPr>
            <a:r>
              <a:rPr sz="2500" b="1">
                <a:solidFill>
                  <a:srgbClr val="0B4F71"/>
                </a:solidFill>
                <a:latin typeface="Segoe UI"/>
              </a:rPr>
              <a:t>Le dashboard Power BI : 7 pages, une par question</a:t>
            </a:r>
          </a:p>
        </p:txBody>
      </p:sp>
      <p:sp>
        <p:nvSpPr>
          <p:cNvPr id="5" name="TextBox 4"/>
          <p:cNvSpPr txBox="1"/>
          <p:nvPr/>
        </p:nvSpPr>
        <p:spPr>
          <a:xfrm>
            <a:off x="502920" y="896112"/>
            <a:ext cx="11185855" cy="457200"/>
          </a:xfrm>
          <a:prstGeom prst="rect">
            <a:avLst/>
          </a:prstGeom>
          <a:noFill/>
        </p:spPr>
        <p:txBody>
          <a:bodyPr wrap="square" lIns="0" tIns="0" rIns="0" bIns="0" anchor="t">
            <a:normAutofit/>
          </a:bodyPr>
          <a:lstStyle/>
          <a:p>
            <a:pPr algn="l">
              <a:lnSpc>
                <a:spcPct val="115000"/>
              </a:lnSpc>
              <a:spcAft>
                <a:spcPts val="0"/>
              </a:spcAft>
            </a:pPr>
            <a:r>
              <a:rPr sz="1300" b="0">
                <a:solidFill>
                  <a:srgbClr val="33444F"/>
                </a:solidFill>
                <a:latin typeface="Segoe UI"/>
              </a:rPr>
              <a:t>Conçu pour être consulté en continu par l'équipe acquisition, pas comme une photo à un instant T.</a:t>
            </a:r>
          </a:p>
        </p:txBody>
      </p:sp>
      <p:sp>
        <p:nvSpPr>
          <p:cNvPr id="6" name="Rectangle 5"/>
          <p:cNvSpPr/>
          <p:nvPr/>
        </p:nvSpPr>
        <p:spPr>
          <a:xfrm>
            <a:off x="0" y="6574536"/>
            <a:ext cx="12191695" cy="18288"/>
          </a:xfrm>
          <a:prstGeom prst="rect">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620256"/>
            <a:ext cx="7315200" cy="219456"/>
          </a:xfrm>
          <a:prstGeom prst="rect">
            <a:avLst/>
          </a:prstGeom>
          <a:noFill/>
        </p:spPr>
        <p:txBody>
          <a:bodyPr wrap="square" lIns="0" tIns="0" rIns="0" bIns="0" anchor="t">
            <a:normAutofit/>
          </a:bodyPr>
          <a:lstStyle/>
          <a:p>
            <a:pPr algn="l">
              <a:lnSpc>
                <a:spcPct val="115000"/>
              </a:lnSpc>
              <a:spcAft>
                <a:spcPts val="400"/>
              </a:spcAft>
            </a:pPr>
            <a:r>
              <a:rPr sz="850" b="0">
                <a:solidFill>
                  <a:srgbClr val="8B98A5"/>
                </a:solidFill>
                <a:latin typeface="Segoe UI"/>
              </a:rPr>
              <a:t>Garanteo · Projet final DataBird · Sophie Paradon</a:t>
            </a:r>
          </a:p>
        </p:txBody>
      </p:sp>
      <p:sp>
        <p:nvSpPr>
          <p:cNvPr id="8" name="TextBox 7"/>
          <p:cNvSpPr txBox="1"/>
          <p:nvPr/>
        </p:nvSpPr>
        <p:spPr>
          <a:xfrm>
            <a:off x="8579815" y="6620256"/>
            <a:ext cx="3108960" cy="219456"/>
          </a:xfrm>
          <a:prstGeom prst="rect">
            <a:avLst/>
          </a:prstGeom>
          <a:noFill/>
        </p:spPr>
        <p:txBody>
          <a:bodyPr wrap="square" lIns="0" tIns="0" rIns="0" bIns="0" anchor="t">
            <a:normAutofit/>
          </a:bodyPr>
          <a:lstStyle/>
          <a:p>
            <a:pPr algn="r">
              <a:lnSpc>
                <a:spcPct val="115000"/>
              </a:lnSpc>
              <a:spcAft>
                <a:spcPts val="400"/>
              </a:spcAft>
            </a:pPr>
            <a:r>
              <a:rPr sz="850" b="0">
                <a:solidFill>
                  <a:srgbClr val="8B98A5"/>
                </a:solidFill>
                <a:latin typeface="Segoe UI"/>
              </a:rPr>
              <a:t>Restitution   ·   20</a:t>
            </a:r>
          </a:p>
        </p:txBody>
      </p:sp>
      <p:sp>
        <p:nvSpPr>
          <p:cNvPr id="9" name="Rectangle 8"/>
          <p:cNvSpPr/>
          <p:nvPr/>
        </p:nvSpPr>
        <p:spPr>
          <a:xfrm>
            <a:off x="502920" y="1426464"/>
            <a:ext cx="2688336" cy="1042415"/>
          </a:xfrm>
          <a:prstGeom prst="rect">
            <a:avLst/>
          </a:prstGeom>
          <a:solidFill>
            <a:srgbClr val="FFFFFF"/>
          </a:solidFill>
          <a:ln w="889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 y="1426464"/>
            <a:ext cx="2688336" cy="45720"/>
          </a:xfrm>
          <a:prstGeom prst="rect">
            <a:avLst/>
          </a:prstGeom>
          <a:solidFill>
            <a:srgbClr val="1CA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9224" y="1572768"/>
            <a:ext cx="274320" cy="256032"/>
          </a:xfrm>
          <a:prstGeom prst="rect">
            <a:avLst/>
          </a:prstGeom>
          <a:noFill/>
        </p:spPr>
        <p:txBody>
          <a:bodyPr wrap="square" lIns="0" tIns="0" rIns="0" bIns="0" anchor="t">
            <a:normAutofit/>
          </a:bodyPr>
          <a:lstStyle/>
          <a:p>
            <a:pPr algn="l">
              <a:lnSpc>
                <a:spcPct val="115000"/>
              </a:lnSpc>
              <a:spcAft>
                <a:spcPts val="400"/>
              </a:spcAft>
            </a:pPr>
            <a:r>
              <a:rPr sz="1300" b="1">
                <a:solidFill>
                  <a:srgbClr val="1CA7C4"/>
                </a:solidFill>
                <a:latin typeface="Segoe UI"/>
              </a:rPr>
              <a:t>1</a:t>
            </a:r>
          </a:p>
        </p:txBody>
      </p:sp>
      <p:sp>
        <p:nvSpPr>
          <p:cNvPr id="12" name="TextBox 11"/>
          <p:cNvSpPr txBox="1"/>
          <p:nvPr/>
        </p:nvSpPr>
        <p:spPr>
          <a:xfrm>
            <a:off x="941832" y="1563624"/>
            <a:ext cx="2148840" cy="256032"/>
          </a:xfrm>
          <a:prstGeom prst="rect">
            <a:avLst/>
          </a:prstGeom>
          <a:noFill/>
        </p:spPr>
        <p:txBody>
          <a:bodyPr wrap="square" lIns="0" tIns="0" rIns="0" bIns="0" anchor="t">
            <a:normAutofit/>
          </a:bodyPr>
          <a:lstStyle/>
          <a:p>
            <a:pPr algn="l">
              <a:lnSpc>
                <a:spcPct val="115000"/>
              </a:lnSpc>
              <a:spcAft>
                <a:spcPts val="400"/>
              </a:spcAft>
            </a:pPr>
            <a:r>
              <a:rPr sz="1150" b="1">
                <a:solidFill>
                  <a:srgbClr val="0B4F71"/>
                </a:solidFill>
                <a:latin typeface="Segoe UI"/>
              </a:rPr>
              <a:t>Vue d'ensemble</a:t>
            </a:r>
          </a:p>
        </p:txBody>
      </p:sp>
      <p:sp>
        <p:nvSpPr>
          <p:cNvPr id="13" name="TextBox 12"/>
          <p:cNvSpPr txBox="1"/>
          <p:nvPr/>
        </p:nvSpPr>
        <p:spPr>
          <a:xfrm>
            <a:off x="649224" y="1883664"/>
            <a:ext cx="2423160" cy="530352"/>
          </a:xfrm>
          <a:prstGeom prst="rect">
            <a:avLst/>
          </a:prstGeom>
          <a:noFill/>
        </p:spPr>
        <p:txBody>
          <a:bodyPr wrap="square" lIns="0" tIns="0" rIns="0" bIns="0" anchor="t">
            <a:normAutofit/>
          </a:bodyPr>
          <a:lstStyle/>
          <a:p>
            <a:pPr algn="l">
              <a:lnSpc>
                <a:spcPct val="115000"/>
              </a:lnSpc>
              <a:spcAft>
                <a:spcPts val="400"/>
              </a:spcAft>
            </a:pPr>
            <a:r>
              <a:rPr sz="950" b="0">
                <a:solidFill>
                  <a:srgbClr val="33444F"/>
                </a:solidFill>
                <a:latin typeface="Segoe UI"/>
              </a:rPr>
              <a:t>Budget, CAC global, clients, entonnoir, évolution mensuelle</a:t>
            </a:r>
          </a:p>
        </p:txBody>
      </p:sp>
      <p:sp>
        <p:nvSpPr>
          <p:cNvPr id="14" name="Rectangle 13"/>
          <p:cNvSpPr/>
          <p:nvPr/>
        </p:nvSpPr>
        <p:spPr>
          <a:xfrm>
            <a:off x="3346704" y="1426464"/>
            <a:ext cx="2688336" cy="1042415"/>
          </a:xfrm>
          <a:prstGeom prst="rect">
            <a:avLst/>
          </a:prstGeom>
          <a:solidFill>
            <a:srgbClr val="FFFFFF"/>
          </a:solidFill>
          <a:ln w="889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346704" y="1426464"/>
            <a:ext cx="2688336" cy="45720"/>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93008" y="1572768"/>
            <a:ext cx="274320" cy="256032"/>
          </a:xfrm>
          <a:prstGeom prst="rect">
            <a:avLst/>
          </a:prstGeom>
          <a:noFill/>
        </p:spPr>
        <p:txBody>
          <a:bodyPr wrap="square" lIns="0" tIns="0" rIns="0" bIns="0" anchor="t">
            <a:normAutofit/>
          </a:bodyPr>
          <a:lstStyle/>
          <a:p>
            <a:pPr algn="l">
              <a:lnSpc>
                <a:spcPct val="115000"/>
              </a:lnSpc>
              <a:spcAft>
                <a:spcPts val="400"/>
              </a:spcAft>
            </a:pPr>
            <a:r>
              <a:rPr sz="1300" b="1">
                <a:solidFill>
                  <a:srgbClr val="0B4F71"/>
                </a:solidFill>
                <a:latin typeface="Segoe UI"/>
              </a:rPr>
              <a:t>2</a:t>
            </a:r>
          </a:p>
        </p:txBody>
      </p:sp>
      <p:sp>
        <p:nvSpPr>
          <p:cNvPr id="17" name="TextBox 16"/>
          <p:cNvSpPr txBox="1"/>
          <p:nvPr/>
        </p:nvSpPr>
        <p:spPr>
          <a:xfrm>
            <a:off x="3785616" y="1563624"/>
            <a:ext cx="2148840" cy="256032"/>
          </a:xfrm>
          <a:prstGeom prst="rect">
            <a:avLst/>
          </a:prstGeom>
          <a:noFill/>
        </p:spPr>
        <p:txBody>
          <a:bodyPr wrap="square" lIns="0" tIns="0" rIns="0" bIns="0" anchor="t">
            <a:normAutofit/>
          </a:bodyPr>
          <a:lstStyle/>
          <a:p>
            <a:pPr algn="l">
              <a:lnSpc>
                <a:spcPct val="115000"/>
              </a:lnSpc>
              <a:spcAft>
                <a:spcPts val="400"/>
              </a:spcAft>
            </a:pPr>
            <a:r>
              <a:rPr sz="1150" b="1">
                <a:solidFill>
                  <a:srgbClr val="0B4F71"/>
                </a:solidFill>
                <a:latin typeface="Segoe UI"/>
              </a:rPr>
              <a:t>Coût d'acquisition</a:t>
            </a:r>
          </a:p>
        </p:txBody>
      </p:sp>
      <p:sp>
        <p:nvSpPr>
          <p:cNvPr id="18" name="TextBox 17"/>
          <p:cNvSpPr txBox="1"/>
          <p:nvPr/>
        </p:nvSpPr>
        <p:spPr>
          <a:xfrm>
            <a:off x="3493008" y="1883664"/>
            <a:ext cx="2423160" cy="530352"/>
          </a:xfrm>
          <a:prstGeom prst="rect">
            <a:avLst/>
          </a:prstGeom>
          <a:noFill/>
        </p:spPr>
        <p:txBody>
          <a:bodyPr wrap="square" lIns="0" tIns="0" rIns="0" bIns="0" anchor="t">
            <a:normAutofit/>
          </a:bodyPr>
          <a:lstStyle/>
          <a:p>
            <a:pPr algn="l">
              <a:lnSpc>
                <a:spcPct val="115000"/>
              </a:lnSpc>
              <a:spcAft>
                <a:spcPts val="400"/>
              </a:spcAft>
            </a:pPr>
            <a:r>
              <a:rPr sz="950" b="0">
                <a:solidFill>
                  <a:srgbClr val="33444F"/>
                </a:solidFill>
                <a:latin typeface="Segoe UI"/>
              </a:rPr>
              <a:t>CAC par campagne, verdict et fiabilité calculés en DAX</a:t>
            </a:r>
          </a:p>
        </p:txBody>
      </p:sp>
      <p:sp>
        <p:nvSpPr>
          <p:cNvPr id="19" name="Rectangle 18"/>
          <p:cNvSpPr/>
          <p:nvPr/>
        </p:nvSpPr>
        <p:spPr>
          <a:xfrm>
            <a:off x="6190488" y="1426464"/>
            <a:ext cx="2688336" cy="1042415"/>
          </a:xfrm>
          <a:prstGeom prst="rect">
            <a:avLst/>
          </a:prstGeom>
          <a:solidFill>
            <a:srgbClr val="FFFFFF"/>
          </a:solidFill>
          <a:ln w="889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90488" y="1426464"/>
            <a:ext cx="2688336" cy="45720"/>
          </a:xfrm>
          <a:prstGeom prst="rect">
            <a:avLst/>
          </a:prstGeom>
          <a:solidFill>
            <a:srgbClr val="F2A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36792" y="1572768"/>
            <a:ext cx="274320" cy="256032"/>
          </a:xfrm>
          <a:prstGeom prst="rect">
            <a:avLst/>
          </a:prstGeom>
          <a:noFill/>
        </p:spPr>
        <p:txBody>
          <a:bodyPr wrap="square" lIns="0" tIns="0" rIns="0" bIns="0" anchor="t">
            <a:normAutofit/>
          </a:bodyPr>
          <a:lstStyle/>
          <a:p>
            <a:pPr algn="l">
              <a:lnSpc>
                <a:spcPct val="115000"/>
              </a:lnSpc>
              <a:spcAft>
                <a:spcPts val="400"/>
              </a:spcAft>
            </a:pPr>
            <a:r>
              <a:rPr sz="1300" b="1">
                <a:solidFill>
                  <a:srgbClr val="F2A354"/>
                </a:solidFill>
                <a:latin typeface="Segoe UI"/>
              </a:rPr>
              <a:t>3</a:t>
            </a:r>
          </a:p>
        </p:txBody>
      </p:sp>
      <p:sp>
        <p:nvSpPr>
          <p:cNvPr id="22" name="TextBox 21"/>
          <p:cNvSpPr txBox="1"/>
          <p:nvPr/>
        </p:nvSpPr>
        <p:spPr>
          <a:xfrm>
            <a:off x="6629400" y="1563624"/>
            <a:ext cx="2148840" cy="256032"/>
          </a:xfrm>
          <a:prstGeom prst="rect">
            <a:avLst/>
          </a:prstGeom>
          <a:noFill/>
        </p:spPr>
        <p:txBody>
          <a:bodyPr wrap="square" lIns="0" tIns="0" rIns="0" bIns="0" anchor="t">
            <a:normAutofit/>
          </a:bodyPr>
          <a:lstStyle/>
          <a:p>
            <a:pPr algn="l">
              <a:lnSpc>
                <a:spcPct val="115000"/>
              </a:lnSpc>
              <a:spcAft>
                <a:spcPts val="400"/>
              </a:spcAft>
            </a:pPr>
            <a:r>
              <a:rPr sz="1150" b="1">
                <a:solidFill>
                  <a:srgbClr val="0B4F71"/>
                </a:solidFill>
                <a:latin typeface="Segoe UI"/>
              </a:rPr>
              <a:t>Règle d'attribution</a:t>
            </a:r>
          </a:p>
        </p:txBody>
      </p:sp>
      <p:sp>
        <p:nvSpPr>
          <p:cNvPr id="23" name="TextBox 22"/>
          <p:cNvSpPr txBox="1"/>
          <p:nvPr/>
        </p:nvSpPr>
        <p:spPr>
          <a:xfrm>
            <a:off x="6336792" y="1883664"/>
            <a:ext cx="2423160" cy="530352"/>
          </a:xfrm>
          <a:prstGeom prst="rect">
            <a:avLst/>
          </a:prstGeom>
          <a:noFill/>
        </p:spPr>
        <p:txBody>
          <a:bodyPr wrap="square" lIns="0" tIns="0" rIns="0" bIns="0" anchor="t">
            <a:normAutofit/>
          </a:bodyPr>
          <a:lstStyle/>
          <a:p>
            <a:pPr algn="l">
              <a:lnSpc>
                <a:spcPct val="115000"/>
              </a:lnSpc>
              <a:spcAft>
                <a:spcPts val="400"/>
              </a:spcAft>
            </a:pPr>
            <a:r>
              <a:rPr sz="950" b="0">
                <a:solidFill>
                  <a:srgbClr val="33444F"/>
                </a:solidFill>
                <a:latin typeface="Segoe UI"/>
              </a:rPr>
              <a:t>Le même budget, trois CAC — matrice croisée et rangs</a:t>
            </a:r>
          </a:p>
        </p:txBody>
      </p:sp>
      <p:sp>
        <p:nvSpPr>
          <p:cNvPr id="24" name="Rectangle 23"/>
          <p:cNvSpPr/>
          <p:nvPr/>
        </p:nvSpPr>
        <p:spPr>
          <a:xfrm>
            <a:off x="9034272" y="1426464"/>
            <a:ext cx="2688336" cy="1042415"/>
          </a:xfrm>
          <a:prstGeom prst="rect">
            <a:avLst/>
          </a:prstGeom>
          <a:solidFill>
            <a:srgbClr val="FFFFFF"/>
          </a:solidFill>
          <a:ln w="889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9034272" y="1426464"/>
            <a:ext cx="2688336" cy="45720"/>
          </a:xfrm>
          <a:prstGeom prst="rect">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80576" y="1572768"/>
            <a:ext cx="274320" cy="256032"/>
          </a:xfrm>
          <a:prstGeom prst="rect">
            <a:avLst/>
          </a:prstGeom>
          <a:noFill/>
        </p:spPr>
        <p:txBody>
          <a:bodyPr wrap="square" lIns="0" tIns="0" rIns="0" bIns="0" anchor="t">
            <a:normAutofit/>
          </a:bodyPr>
          <a:lstStyle/>
          <a:p>
            <a:pPr algn="l">
              <a:lnSpc>
                <a:spcPct val="115000"/>
              </a:lnSpc>
              <a:spcAft>
                <a:spcPts val="400"/>
              </a:spcAft>
            </a:pPr>
            <a:r>
              <a:rPr sz="1300" b="1">
                <a:solidFill>
                  <a:srgbClr val="D9534F"/>
                </a:solidFill>
                <a:latin typeface="Segoe UI"/>
              </a:rPr>
              <a:t>4</a:t>
            </a:r>
          </a:p>
        </p:txBody>
      </p:sp>
      <p:sp>
        <p:nvSpPr>
          <p:cNvPr id="27" name="TextBox 26"/>
          <p:cNvSpPr txBox="1"/>
          <p:nvPr/>
        </p:nvSpPr>
        <p:spPr>
          <a:xfrm>
            <a:off x="9473184" y="1563624"/>
            <a:ext cx="2148840" cy="256032"/>
          </a:xfrm>
          <a:prstGeom prst="rect">
            <a:avLst/>
          </a:prstGeom>
          <a:noFill/>
        </p:spPr>
        <p:txBody>
          <a:bodyPr wrap="square" lIns="0" tIns="0" rIns="0" bIns="0" anchor="t">
            <a:normAutofit/>
          </a:bodyPr>
          <a:lstStyle/>
          <a:p>
            <a:pPr algn="l">
              <a:lnSpc>
                <a:spcPct val="115000"/>
              </a:lnSpc>
              <a:spcAft>
                <a:spcPts val="400"/>
              </a:spcAft>
            </a:pPr>
            <a:r>
              <a:rPr sz="1150" b="1">
                <a:solidFill>
                  <a:srgbClr val="0B4F71"/>
                </a:solidFill>
                <a:latin typeface="Segoe UI"/>
              </a:rPr>
              <a:t>Le pitch téléphonique</a:t>
            </a:r>
          </a:p>
        </p:txBody>
      </p:sp>
      <p:sp>
        <p:nvSpPr>
          <p:cNvPr id="28" name="TextBox 27"/>
          <p:cNvSpPr txBox="1"/>
          <p:nvPr/>
        </p:nvSpPr>
        <p:spPr>
          <a:xfrm>
            <a:off x="9180576" y="1883664"/>
            <a:ext cx="2423160" cy="530352"/>
          </a:xfrm>
          <a:prstGeom prst="rect">
            <a:avLst/>
          </a:prstGeom>
          <a:noFill/>
        </p:spPr>
        <p:txBody>
          <a:bodyPr wrap="square" lIns="0" tIns="0" rIns="0" bIns="0" anchor="t">
            <a:normAutofit/>
          </a:bodyPr>
          <a:lstStyle/>
          <a:p>
            <a:pPr algn="l">
              <a:lnSpc>
                <a:spcPct val="115000"/>
              </a:lnSpc>
              <a:spcAft>
                <a:spcPts val="400"/>
              </a:spcAft>
            </a:pPr>
            <a:r>
              <a:rPr sz="950" b="0">
                <a:solidFill>
                  <a:srgbClr val="33444F"/>
                </a:solidFill>
                <a:latin typeface="Segoe UI"/>
              </a:rPr>
              <a:t>Les deux groupes, le test, le taux de joignabilité</a:t>
            </a:r>
          </a:p>
        </p:txBody>
      </p:sp>
      <p:sp>
        <p:nvSpPr>
          <p:cNvPr id="29" name="Rectangle 28"/>
          <p:cNvSpPr/>
          <p:nvPr/>
        </p:nvSpPr>
        <p:spPr>
          <a:xfrm>
            <a:off x="502920" y="2596896"/>
            <a:ext cx="2688336" cy="1042415"/>
          </a:xfrm>
          <a:prstGeom prst="rect">
            <a:avLst/>
          </a:prstGeom>
          <a:solidFill>
            <a:srgbClr val="FFFFFF"/>
          </a:solidFill>
          <a:ln w="889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02920" y="2596896"/>
            <a:ext cx="2688336" cy="45720"/>
          </a:xfrm>
          <a:prstGeom prst="rect">
            <a:avLst/>
          </a:prstGeom>
          <a:solidFill>
            <a:srgbClr val="3AA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9224" y="2743200"/>
            <a:ext cx="274320" cy="256032"/>
          </a:xfrm>
          <a:prstGeom prst="rect">
            <a:avLst/>
          </a:prstGeom>
          <a:noFill/>
        </p:spPr>
        <p:txBody>
          <a:bodyPr wrap="square" lIns="0" tIns="0" rIns="0" bIns="0" anchor="t">
            <a:normAutofit/>
          </a:bodyPr>
          <a:lstStyle/>
          <a:p>
            <a:pPr algn="l">
              <a:lnSpc>
                <a:spcPct val="115000"/>
              </a:lnSpc>
              <a:spcAft>
                <a:spcPts val="400"/>
              </a:spcAft>
            </a:pPr>
            <a:r>
              <a:rPr sz="1300" b="1">
                <a:solidFill>
                  <a:srgbClr val="3AA65C"/>
                </a:solidFill>
                <a:latin typeface="Segoe UI"/>
              </a:rPr>
              <a:t>5</a:t>
            </a:r>
          </a:p>
        </p:txBody>
      </p:sp>
      <p:sp>
        <p:nvSpPr>
          <p:cNvPr id="32" name="TextBox 31"/>
          <p:cNvSpPr txBox="1"/>
          <p:nvPr/>
        </p:nvSpPr>
        <p:spPr>
          <a:xfrm>
            <a:off x="941832" y="2734056"/>
            <a:ext cx="2148840" cy="256032"/>
          </a:xfrm>
          <a:prstGeom prst="rect">
            <a:avLst/>
          </a:prstGeom>
          <a:noFill/>
        </p:spPr>
        <p:txBody>
          <a:bodyPr wrap="square" lIns="0" tIns="0" rIns="0" bIns="0" anchor="t">
            <a:normAutofit/>
          </a:bodyPr>
          <a:lstStyle/>
          <a:p>
            <a:pPr algn="l">
              <a:lnSpc>
                <a:spcPct val="115000"/>
              </a:lnSpc>
              <a:spcAft>
                <a:spcPts val="400"/>
              </a:spcAft>
            </a:pPr>
            <a:r>
              <a:rPr sz="1150" b="1">
                <a:solidFill>
                  <a:srgbClr val="0B4F71"/>
                </a:solidFill>
                <a:latin typeface="Segoe UI"/>
              </a:rPr>
              <a:t>Scénario budgétaire</a:t>
            </a:r>
          </a:p>
        </p:txBody>
      </p:sp>
      <p:sp>
        <p:nvSpPr>
          <p:cNvPr id="33" name="TextBox 32"/>
          <p:cNvSpPr txBox="1"/>
          <p:nvPr/>
        </p:nvSpPr>
        <p:spPr>
          <a:xfrm>
            <a:off x="649224" y="3054096"/>
            <a:ext cx="2423160" cy="530352"/>
          </a:xfrm>
          <a:prstGeom prst="rect">
            <a:avLst/>
          </a:prstGeom>
          <a:noFill/>
        </p:spPr>
        <p:txBody>
          <a:bodyPr wrap="square" lIns="0" tIns="0" rIns="0" bIns="0" anchor="t">
            <a:normAutofit/>
          </a:bodyPr>
          <a:lstStyle/>
          <a:p>
            <a:pPr algn="l">
              <a:lnSpc>
                <a:spcPct val="115000"/>
              </a:lnSpc>
              <a:spcAft>
                <a:spcPts val="400"/>
              </a:spcAft>
            </a:pPr>
            <a:r>
              <a:rPr sz="950" b="0">
                <a:solidFill>
                  <a:srgbClr val="33444F"/>
                </a:solidFill>
                <a:latin typeface="Segoe UI"/>
              </a:rPr>
              <a:t>Part du budget contre part des clients, rendement relatif</a:t>
            </a:r>
          </a:p>
        </p:txBody>
      </p:sp>
      <p:sp>
        <p:nvSpPr>
          <p:cNvPr id="34" name="Rectangle 33"/>
          <p:cNvSpPr/>
          <p:nvPr/>
        </p:nvSpPr>
        <p:spPr>
          <a:xfrm>
            <a:off x="3346704" y="2596896"/>
            <a:ext cx="2688336" cy="1042415"/>
          </a:xfrm>
          <a:prstGeom prst="rect">
            <a:avLst/>
          </a:prstGeom>
          <a:solidFill>
            <a:srgbClr val="FFFFFF"/>
          </a:solidFill>
          <a:ln w="889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3346704" y="2596896"/>
            <a:ext cx="2688336" cy="45720"/>
          </a:xfrm>
          <a:prstGeom prst="rect">
            <a:avLst/>
          </a:prstGeom>
          <a:solidFill>
            <a:srgbClr val="1CA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493008" y="2743200"/>
            <a:ext cx="274320" cy="256032"/>
          </a:xfrm>
          <a:prstGeom prst="rect">
            <a:avLst/>
          </a:prstGeom>
          <a:noFill/>
        </p:spPr>
        <p:txBody>
          <a:bodyPr wrap="square" lIns="0" tIns="0" rIns="0" bIns="0" anchor="t">
            <a:normAutofit/>
          </a:bodyPr>
          <a:lstStyle/>
          <a:p>
            <a:pPr algn="l">
              <a:lnSpc>
                <a:spcPct val="115000"/>
              </a:lnSpc>
              <a:spcAft>
                <a:spcPts val="400"/>
              </a:spcAft>
            </a:pPr>
            <a:r>
              <a:rPr sz="1300" b="1">
                <a:solidFill>
                  <a:srgbClr val="1CA7C4"/>
                </a:solidFill>
                <a:latin typeface="Segoe UI"/>
              </a:rPr>
              <a:t>6</a:t>
            </a:r>
          </a:p>
        </p:txBody>
      </p:sp>
      <p:sp>
        <p:nvSpPr>
          <p:cNvPr id="37" name="TextBox 36"/>
          <p:cNvSpPr txBox="1"/>
          <p:nvPr/>
        </p:nvSpPr>
        <p:spPr>
          <a:xfrm>
            <a:off x="3785616" y="2734056"/>
            <a:ext cx="2148840" cy="256032"/>
          </a:xfrm>
          <a:prstGeom prst="rect">
            <a:avLst/>
          </a:prstGeom>
          <a:noFill/>
        </p:spPr>
        <p:txBody>
          <a:bodyPr wrap="square" lIns="0" tIns="0" rIns="0" bIns="0" anchor="t">
            <a:normAutofit/>
          </a:bodyPr>
          <a:lstStyle/>
          <a:p>
            <a:pPr algn="l">
              <a:lnSpc>
                <a:spcPct val="115000"/>
              </a:lnSpc>
              <a:spcAft>
                <a:spcPts val="400"/>
              </a:spcAft>
            </a:pPr>
            <a:r>
              <a:rPr sz="1150" b="1">
                <a:solidFill>
                  <a:srgbClr val="0B4F71"/>
                </a:solidFill>
                <a:latin typeface="Segoe UI"/>
              </a:rPr>
              <a:t>Suivi mensuel</a:t>
            </a:r>
          </a:p>
        </p:txBody>
      </p:sp>
      <p:sp>
        <p:nvSpPr>
          <p:cNvPr id="38" name="TextBox 37"/>
          <p:cNvSpPr txBox="1"/>
          <p:nvPr/>
        </p:nvSpPr>
        <p:spPr>
          <a:xfrm>
            <a:off x="3493008" y="3054096"/>
            <a:ext cx="2423160" cy="530352"/>
          </a:xfrm>
          <a:prstGeom prst="rect">
            <a:avLst/>
          </a:prstGeom>
          <a:noFill/>
        </p:spPr>
        <p:txBody>
          <a:bodyPr wrap="square" lIns="0" tIns="0" rIns="0" bIns="0" anchor="t">
            <a:normAutofit/>
          </a:bodyPr>
          <a:lstStyle/>
          <a:p>
            <a:pPr algn="l">
              <a:lnSpc>
                <a:spcPct val="115000"/>
              </a:lnSpc>
              <a:spcAft>
                <a:spcPts val="400"/>
              </a:spcAft>
            </a:pPr>
            <a:r>
              <a:rPr sz="950" b="0">
                <a:solidFill>
                  <a:srgbClr val="33444F"/>
                </a:solidFill>
                <a:latin typeface="Segoe UI"/>
              </a:rPr>
              <a:t>Cumuls annuels, évolution mois par mois, coût du clic</a:t>
            </a:r>
          </a:p>
        </p:txBody>
      </p:sp>
      <p:sp>
        <p:nvSpPr>
          <p:cNvPr id="39" name="Rectangle 38"/>
          <p:cNvSpPr/>
          <p:nvPr/>
        </p:nvSpPr>
        <p:spPr>
          <a:xfrm>
            <a:off x="6190488" y="2596896"/>
            <a:ext cx="2688336" cy="1042415"/>
          </a:xfrm>
          <a:prstGeom prst="rect">
            <a:avLst/>
          </a:prstGeom>
          <a:solidFill>
            <a:srgbClr val="FFFFFF"/>
          </a:solidFill>
          <a:ln w="889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190488" y="2596896"/>
            <a:ext cx="2688336" cy="45720"/>
          </a:xfrm>
          <a:prstGeom prst="rect">
            <a:avLst/>
          </a:prstGeom>
          <a:solidFill>
            <a:srgbClr val="8B98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336792" y="2743200"/>
            <a:ext cx="274320" cy="256032"/>
          </a:xfrm>
          <a:prstGeom prst="rect">
            <a:avLst/>
          </a:prstGeom>
          <a:noFill/>
        </p:spPr>
        <p:txBody>
          <a:bodyPr wrap="square" lIns="0" tIns="0" rIns="0" bIns="0" anchor="t">
            <a:normAutofit/>
          </a:bodyPr>
          <a:lstStyle/>
          <a:p>
            <a:pPr algn="l">
              <a:lnSpc>
                <a:spcPct val="115000"/>
              </a:lnSpc>
              <a:spcAft>
                <a:spcPts val="400"/>
              </a:spcAft>
            </a:pPr>
            <a:r>
              <a:rPr sz="1300" b="1">
                <a:solidFill>
                  <a:srgbClr val="8B98A5"/>
                </a:solidFill>
                <a:latin typeface="Segoe UI"/>
              </a:rPr>
              <a:t>7</a:t>
            </a:r>
          </a:p>
        </p:txBody>
      </p:sp>
      <p:sp>
        <p:nvSpPr>
          <p:cNvPr id="42" name="TextBox 41"/>
          <p:cNvSpPr txBox="1"/>
          <p:nvPr/>
        </p:nvSpPr>
        <p:spPr>
          <a:xfrm>
            <a:off x="6629400" y="2734056"/>
            <a:ext cx="2148840" cy="256032"/>
          </a:xfrm>
          <a:prstGeom prst="rect">
            <a:avLst/>
          </a:prstGeom>
          <a:noFill/>
        </p:spPr>
        <p:txBody>
          <a:bodyPr wrap="square" lIns="0" tIns="0" rIns="0" bIns="0" anchor="t">
            <a:normAutofit/>
          </a:bodyPr>
          <a:lstStyle/>
          <a:p>
            <a:pPr algn="l">
              <a:lnSpc>
                <a:spcPct val="115000"/>
              </a:lnSpc>
              <a:spcAft>
                <a:spcPts val="400"/>
              </a:spcAft>
            </a:pPr>
            <a:r>
              <a:rPr sz="1150" b="1">
                <a:solidFill>
                  <a:srgbClr val="0B4F71"/>
                </a:solidFill>
                <a:latin typeface="Segoe UI"/>
              </a:rPr>
              <a:t>Qualité des données</a:t>
            </a:r>
          </a:p>
        </p:txBody>
      </p:sp>
      <p:sp>
        <p:nvSpPr>
          <p:cNvPr id="43" name="TextBox 42"/>
          <p:cNvSpPr txBox="1"/>
          <p:nvPr/>
        </p:nvSpPr>
        <p:spPr>
          <a:xfrm>
            <a:off x="6336792" y="3054096"/>
            <a:ext cx="2423160" cy="530352"/>
          </a:xfrm>
          <a:prstGeom prst="rect">
            <a:avLst/>
          </a:prstGeom>
          <a:noFill/>
        </p:spPr>
        <p:txBody>
          <a:bodyPr wrap="square" lIns="0" tIns="0" rIns="0" bIns="0" anchor="t">
            <a:normAutofit/>
          </a:bodyPr>
          <a:lstStyle/>
          <a:p>
            <a:pPr algn="l">
              <a:lnSpc>
                <a:spcPct val="115000"/>
              </a:lnSpc>
              <a:spcAft>
                <a:spcPts val="400"/>
              </a:spcAft>
            </a:pPr>
            <a:r>
              <a:rPr sz="950" b="0">
                <a:solidFill>
                  <a:srgbClr val="33444F"/>
                </a:solidFill>
                <a:latin typeface="Segoe UI"/>
              </a:rPr>
              <a:t>Brut contre corrigé, corrections faites et refusées</a:t>
            </a:r>
          </a:p>
        </p:txBody>
      </p:sp>
      <p:sp>
        <p:nvSpPr>
          <p:cNvPr id="44" name="Rectangle 43"/>
          <p:cNvSpPr/>
          <p:nvPr/>
        </p:nvSpPr>
        <p:spPr>
          <a:xfrm>
            <a:off x="9034272" y="2596896"/>
            <a:ext cx="2688336" cy="1042415"/>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9034272" y="2596896"/>
            <a:ext cx="50292" cy="1042415"/>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290304" y="2734056"/>
            <a:ext cx="2267712" cy="292608"/>
          </a:xfrm>
          <a:prstGeom prst="rect">
            <a:avLst/>
          </a:prstGeom>
          <a:noFill/>
        </p:spPr>
        <p:txBody>
          <a:bodyPr wrap="square" lIns="0" tIns="0" rIns="0" bIns="0" anchor="t">
            <a:normAutofit/>
          </a:bodyPr>
          <a:lstStyle/>
          <a:p>
            <a:pPr algn="l">
              <a:lnSpc>
                <a:spcPct val="115000"/>
              </a:lnSpc>
              <a:spcAft>
                <a:spcPts val="0"/>
              </a:spcAft>
            </a:pPr>
            <a:r>
              <a:rPr sz="1250" b="1">
                <a:solidFill>
                  <a:srgbClr val="0B4F71"/>
                </a:solidFill>
                <a:latin typeface="Segoe UI"/>
              </a:rPr>
              <a:t>Le modèle</a:t>
            </a:r>
          </a:p>
        </p:txBody>
      </p:sp>
      <p:sp>
        <p:nvSpPr>
          <p:cNvPr id="47" name="TextBox 46"/>
          <p:cNvSpPr txBox="1"/>
          <p:nvPr/>
        </p:nvSpPr>
        <p:spPr>
          <a:xfrm>
            <a:off x="9290304" y="3072384"/>
            <a:ext cx="2267712" cy="420623"/>
          </a:xfrm>
          <a:prstGeom prst="rect">
            <a:avLst/>
          </a:prstGeom>
          <a:noFill/>
        </p:spPr>
        <p:txBody>
          <a:bodyPr wrap="square" lIns="0" tIns="0" rIns="0" bIns="0" anchor="t">
            <a:normAutofit/>
          </a:bodyPr>
          <a:lstStyle/>
          <a:p>
            <a:pPr algn="l">
              <a:lnSpc>
                <a:spcPct val="122000"/>
              </a:lnSpc>
              <a:spcAft>
                <a:spcPts val="600"/>
              </a:spcAft>
            </a:pPr>
            <a:r>
              <a:rPr sz="950" b="1">
                <a:solidFill>
                  <a:srgbClr val="0B4F71"/>
                </a:solidFill>
                <a:latin typeface="Segoe UI"/>
              </a:rPr>
              <a:t>13 tables · 49 mesures DAX</a:t>
            </a:r>
          </a:p>
          <a:p>
            <a:pPr algn="l">
              <a:lnSpc>
                <a:spcPct val="122000"/>
              </a:lnSpc>
              <a:spcAft>
                <a:spcPts val="600"/>
              </a:spcAft>
            </a:pPr>
            <a:r>
              <a:rPr sz="950" b="0">
                <a:solidFill>
                  <a:srgbClr val="33444F"/>
                </a:solidFill>
                <a:latin typeface="Segoe UI"/>
              </a:rPr>
              <a:t>22 colonnes calculées</a:t>
            </a:r>
          </a:p>
        </p:txBody>
      </p:sp>
      <p:sp>
        <p:nvSpPr>
          <p:cNvPr id="48" name="Rectangle 47"/>
          <p:cNvSpPr/>
          <p:nvPr/>
        </p:nvSpPr>
        <p:spPr>
          <a:xfrm>
            <a:off x="502920" y="3913632"/>
            <a:ext cx="11201400" cy="1572768"/>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31520" y="4041648"/>
            <a:ext cx="10789920" cy="256032"/>
          </a:xfrm>
          <a:prstGeom prst="rect">
            <a:avLst/>
          </a:prstGeom>
          <a:noFill/>
        </p:spPr>
        <p:txBody>
          <a:bodyPr wrap="square" lIns="0" tIns="0" rIns="0" bIns="0" anchor="t">
            <a:normAutofit/>
          </a:bodyPr>
          <a:lstStyle/>
          <a:p>
            <a:pPr algn="l">
              <a:lnSpc>
                <a:spcPct val="115000"/>
              </a:lnSpc>
              <a:spcAft>
                <a:spcPts val="400"/>
              </a:spcAft>
            </a:pPr>
            <a:r>
              <a:rPr sz="1250" b="1">
                <a:solidFill>
                  <a:srgbClr val="0B4F71"/>
                </a:solidFill>
                <a:latin typeface="Segoe UI"/>
              </a:rPr>
              <a:t>Ce que le dashboard mobilise du programme</a:t>
            </a:r>
          </a:p>
        </p:txBody>
      </p:sp>
      <p:sp>
        <p:nvSpPr>
          <p:cNvPr id="50" name="TextBox 49"/>
          <p:cNvSpPr txBox="1"/>
          <p:nvPr/>
        </p:nvSpPr>
        <p:spPr>
          <a:xfrm>
            <a:off x="731520" y="4370832"/>
            <a:ext cx="5257800" cy="1024128"/>
          </a:xfrm>
          <a:prstGeom prst="rect">
            <a:avLst/>
          </a:prstGeom>
          <a:noFill/>
        </p:spPr>
        <p:txBody>
          <a:bodyPr wrap="square" lIns="0" tIns="0" rIns="0" bIns="0" anchor="t">
            <a:normAutofit/>
          </a:bodyPr>
          <a:lstStyle/>
          <a:p>
            <a:pPr algn="l">
              <a:lnSpc>
                <a:spcPct val="120000"/>
              </a:lnSpc>
              <a:spcAft>
                <a:spcPts val="200"/>
              </a:spcAft>
            </a:pPr>
            <a:r>
              <a:rPr sz="1050" b="1">
                <a:solidFill>
                  <a:srgbClr val="0B4F71"/>
                </a:solidFill>
                <a:latin typeface="Segoe UI"/>
              </a:rPr>
              <a:t>Modélisation : </a:t>
            </a:r>
            <a:r>
              <a:rPr sz="1050" b="0">
                <a:solidFill>
                  <a:srgbClr val="33444F"/>
                </a:solidFill>
                <a:latin typeface="Segoe UI"/>
              </a:rPr>
              <a:t>modèle en étoile, table de dates marquée, hiérarchie de dates, relation active/inactive, table de mesures dédiée, dossiers d'affichage</a:t>
            </a:r>
          </a:p>
          <a:p>
            <a:pPr algn="l">
              <a:lnSpc>
                <a:spcPct val="120000"/>
              </a:lnSpc>
              <a:spcAft>
                <a:spcPts val="200"/>
              </a:spcAft>
            </a:pPr>
            <a:r>
              <a:rPr sz="1050" b="1">
                <a:solidFill>
                  <a:srgbClr val="0B4F71"/>
                </a:solidFill>
                <a:latin typeface="Segoe UI"/>
              </a:rPr>
              <a:t>DAX : </a:t>
            </a:r>
            <a:r>
              <a:rPr sz="1050" b="0">
                <a:solidFill>
                  <a:srgbClr val="33444F"/>
                </a:solidFill>
                <a:latin typeface="Segoe UI"/>
              </a:rPr>
              <a:t>CALCULATE, DIVIDE, ALL, ALLSELECTED, FILTER, SUMX, TOPN, SUMMARIZE, TOTALYTD, TOTALMTD, DATEADD, USERELATIONSHIP, VAR/RETURN, ISBLANK, CONTAINSSTRING</a:t>
            </a:r>
          </a:p>
        </p:txBody>
      </p:sp>
      <p:sp>
        <p:nvSpPr>
          <p:cNvPr id="51" name="TextBox 50"/>
          <p:cNvSpPr txBox="1"/>
          <p:nvPr/>
        </p:nvSpPr>
        <p:spPr>
          <a:xfrm>
            <a:off x="6263640" y="4370832"/>
            <a:ext cx="5257800" cy="1024128"/>
          </a:xfrm>
          <a:prstGeom prst="rect">
            <a:avLst/>
          </a:prstGeom>
          <a:noFill/>
        </p:spPr>
        <p:txBody>
          <a:bodyPr wrap="square" lIns="0" tIns="0" rIns="0" bIns="0" anchor="t">
            <a:normAutofit/>
          </a:bodyPr>
          <a:lstStyle/>
          <a:p>
            <a:pPr algn="l">
              <a:lnSpc>
                <a:spcPct val="120000"/>
              </a:lnSpc>
              <a:spcAft>
                <a:spcPts val="200"/>
              </a:spcAft>
            </a:pPr>
            <a:r>
              <a:rPr sz="1050" b="1">
                <a:solidFill>
                  <a:srgbClr val="0B4F71"/>
                </a:solidFill>
                <a:latin typeface="Segoe UI"/>
              </a:rPr>
              <a:t>Visualisation : </a:t>
            </a:r>
            <a:r>
              <a:rPr sz="1050" b="0">
                <a:solidFill>
                  <a:srgbClr val="33444F"/>
                </a:solidFill>
                <a:latin typeface="Segoe UI"/>
              </a:rPr>
              <a:t>entonnoir, combiné colonnes/courbe, nuage de points, matrice, jauge, cartes KPI, tableaux, segments en sélection unique</a:t>
            </a:r>
          </a:p>
          <a:p>
            <a:pPr algn="l">
              <a:lnSpc>
                <a:spcPct val="120000"/>
              </a:lnSpc>
              <a:spcAft>
                <a:spcPts val="200"/>
              </a:spcAft>
            </a:pPr>
            <a:r>
              <a:rPr sz="1050" b="1">
                <a:solidFill>
                  <a:srgbClr val="0B4F71"/>
                </a:solidFill>
                <a:latin typeface="Segoe UI"/>
              </a:rPr>
              <a:t>Interactivité : </a:t>
            </a:r>
            <a:r>
              <a:rPr sz="1050" b="0">
                <a:solidFill>
                  <a:srgbClr val="33444F"/>
                </a:solidFill>
                <a:latin typeface="Segoe UI"/>
              </a:rPr>
              <a:t>page d'infobulle dédiée, filtrage croisé entre visuels, segment de règle d'attribution qui recalcule tout le rapport, thème JSON Garanteo</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185855" cy="457200"/>
          </a:xfrm>
          <a:prstGeom prst="rect">
            <a:avLst/>
          </a:prstGeom>
          <a:noFill/>
        </p:spPr>
        <p:txBody>
          <a:bodyPr wrap="square" lIns="0" tIns="0" rIns="0" bIns="0" anchor="t">
            <a:normAutofit/>
          </a:bodyPr>
          <a:lstStyle/>
          <a:p>
            <a:pPr algn="l">
              <a:lnSpc>
                <a:spcPct val="115000"/>
              </a:lnSpc>
              <a:spcAft>
                <a:spcPts val="400"/>
              </a:spcAft>
            </a:pPr>
            <a:r>
              <a:rPr sz="2500" b="1">
                <a:solidFill>
                  <a:srgbClr val="0B4F71"/>
                </a:solidFill>
                <a:latin typeface="Segoe UI"/>
              </a:rPr>
              <a:t>L'interactivité en images</a:t>
            </a:r>
          </a:p>
        </p:txBody>
      </p:sp>
      <p:sp>
        <p:nvSpPr>
          <p:cNvPr id="5" name="TextBox 4"/>
          <p:cNvSpPr txBox="1"/>
          <p:nvPr/>
        </p:nvSpPr>
        <p:spPr>
          <a:xfrm>
            <a:off x="502920" y="896112"/>
            <a:ext cx="11185855" cy="457200"/>
          </a:xfrm>
          <a:prstGeom prst="rect">
            <a:avLst/>
          </a:prstGeom>
          <a:noFill/>
        </p:spPr>
        <p:txBody>
          <a:bodyPr wrap="square" lIns="0" tIns="0" rIns="0" bIns="0" anchor="t">
            <a:normAutofit/>
          </a:bodyPr>
          <a:lstStyle/>
          <a:p>
            <a:pPr algn="l">
              <a:lnSpc>
                <a:spcPct val="115000"/>
              </a:lnSpc>
              <a:spcAft>
                <a:spcPts val="0"/>
              </a:spcAft>
            </a:pPr>
            <a:r>
              <a:rPr sz="1300" b="0">
                <a:solidFill>
                  <a:srgbClr val="33444F"/>
                </a:solidFill>
                <a:latin typeface="Segoe UI"/>
              </a:rPr>
              <a:t>Le segment de règle d'attribution recalcule tout le rapport. C'est ce qui transforme un constat en outil de décision.</a:t>
            </a:r>
          </a:p>
        </p:txBody>
      </p:sp>
      <p:sp>
        <p:nvSpPr>
          <p:cNvPr id="6" name="Rectangle 5"/>
          <p:cNvSpPr/>
          <p:nvPr/>
        </p:nvSpPr>
        <p:spPr>
          <a:xfrm>
            <a:off x="0" y="6574536"/>
            <a:ext cx="12191695" cy="18288"/>
          </a:xfrm>
          <a:prstGeom prst="rect">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620256"/>
            <a:ext cx="7315200" cy="219456"/>
          </a:xfrm>
          <a:prstGeom prst="rect">
            <a:avLst/>
          </a:prstGeom>
          <a:noFill/>
        </p:spPr>
        <p:txBody>
          <a:bodyPr wrap="square" lIns="0" tIns="0" rIns="0" bIns="0" anchor="t">
            <a:normAutofit/>
          </a:bodyPr>
          <a:lstStyle/>
          <a:p>
            <a:pPr algn="l">
              <a:lnSpc>
                <a:spcPct val="115000"/>
              </a:lnSpc>
              <a:spcAft>
                <a:spcPts val="400"/>
              </a:spcAft>
            </a:pPr>
            <a:r>
              <a:rPr sz="850" b="0">
                <a:solidFill>
                  <a:srgbClr val="8B98A5"/>
                </a:solidFill>
                <a:latin typeface="Segoe UI"/>
              </a:rPr>
              <a:t>Garanteo · Projet final DataBird · Sophie Paradon</a:t>
            </a:r>
          </a:p>
        </p:txBody>
      </p:sp>
      <p:sp>
        <p:nvSpPr>
          <p:cNvPr id="8" name="TextBox 7"/>
          <p:cNvSpPr txBox="1"/>
          <p:nvPr/>
        </p:nvSpPr>
        <p:spPr>
          <a:xfrm>
            <a:off x="8579815" y="6620256"/>
            <a:ext cx="3108960" cy="219456"/>
          </a:xfrm>
          <a:prstGeom prst="rect">
            <a:avLst/>
          </a:prstGeom>
          <a:noFill/>
        </p:spPr>
        <p:txBody>
          <a:bodyPr wrap="square" lIns="0" tIns="0" rIns="0" bIns="0" anchor="t">
            <a:normAutofit/>
          </a:bodyPr>
          <a:lstStyle/>
          <a:p>
            <a:pPr algn="r">
              <a:lnSpc>
                <a:spcPct val="115000"/>
              </a:lnSpc>
              <a:spcAft>
                <a:spcPts val="400"/>
              </a:spcAft>
            </a:pPr>
            <a:r>
              <a:rPr sz="850" b="0">
                <a:solidFill>
                  <a:srgbClr val="8B98A5"/>
                </a:solidFill>
                <a:latin typeface="Segoe UI"/>
              </a:rPr>
              <a:t>Restitution   ·   21</a:t>
            </a:r>
          </a:p>
        </p:txBody>
      </p:sp>
      <p:sp>
        <p:nvSpPr>
          <p:cNvPr id="9" name="Rectangle 8"/>
          <p:cNvSpPr/>
          <p:nvPr/>
        </p:nvSpPr>
        <p:spPr>
          <a:xfrm>
            <a:off x="502920" y="1426464"/>
            <a:ext cx="3611880" cy="2880360"/>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9224" y="3803904"/>
            <a:ext cx="3291840" cy="411480"/>
          </a:xfrm>
          <a:prstGeom prst="rect">
            <a:avLst/>
          </a:prstGeom>
          <a:noFill/>
        </p:spPr>
        <p:txBody>
          <a:bodyPr wrap="square" lIns="0" tIns="0" rIns="0" bIns="0" anchor="t">
            <a:normAutofit/>
          </a:bodyPr>
          <a:lstStyle/>
          <a:p>
            <a:pPr algn="l">
              <a:lnSpc>
                <a:spcPct val="115000"/>
              </a:lnSpc>
              <a:spcAft>
                <a:spcPts val="400"/>
              </a:spcAft>
            </a:pPr>
            <a:r>
              <a:rPr sz="1100" b="1">
                <a:solidFill>
                  <a:srgbClr val="0B4F71"/>
                </a:solidFill>
                <a:latin typeface="Segoe UI"/>
              </a:rPr>
              <a:t>Segment « premier contact »</a:t>
            </a:r>
          </a:p>
        </p:txBody>
      </p:sp>
      <p:sp>
        <p:nvSpPr>
          <p:cNvPr id="13" name="Rectangle 12"/>
          <p:cNvSpPr/>
          <p:nvPr/>
        </p:nvSpPr>
        <p:spPr>
          <a:xfrm>
            <a:off x="4251959" y="1426464"/>
            <a:ext cx="3611880" cy="2880360"/>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98264" y="3803904"/>
            <a:ext cx="3291840" cy="411480"/>
          </a:xfrm>
          <a:prstGeom prst="rect">
            <a:avLst/>
          </a:prstGeom>
          <a:noFill/>
        </p:spPr>
        <p:txBody>
          <a:bodyPr wrap="square" lIns="0" tIns="0" rIns="0" bIns="0" anchor="t">
            <a:normAutofit/>
          </a:bodyPr>
          <a:lstStyle/>
          <a:p>
            <a:pPr algn="l">
              <a:lnSpc>
                <a:spcPct val="115000"/>
              </a:lnSpc>
              <a:spcAft>
                <a:spcPts val="400"/>
              </a:spcAft>
            </a:pPr>
            <a:r>
              <a:rPr sz="1100" b="1">
                <a:solidFill>
                  <a:srgbClr val="0B4F71"/>
                </a:solidFill>
                <a:latin typeface="Segoe UI"/>
              </a:rPr>
              <a:t>Segment « dernier contact »</a:t>
            </a:r>
          </a:p>
        </p:txBody>
      </p:sp>
      <p:sp>
        <p:nvSpPr>
          <p:cNvPr id="17" name="Rectangle 16"/>
          <p:cNvSpPr/>
          <p:nvPr/>
        </p:nvSpPr>
        <p:spPr>
          <a:xfrm>
            <a:off x="8001000" y="1426464"/>
            <a:ext cx="3611880" cy="2880360"/>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147304" y="3803904"/>
            <a:ext cx="3291840" cy="411480"/>
          </a:xfrm>
          <a:prstGeom prst="rect">
            <a:avLst/>
          </a:prstGeom>
          <a:noFill/>
        </p:spPr>
        <p:txBody>
          <a:bodyPr wrap="square" lIns="0" tIns="0" rIns="0" bIns="0" anchor="t">
            <a:normAutofit/>
          </a:bodyPr>
          <a:lstStyle/>
          <a:p>
            <a:pPr algn="l">
              <a:lnSpc>
                <a:spcPct val="115000"/>
              </a:lnSpc>
              <a:spcAft>
                <a:spcPts val="400"/>
              </a:spcAft>
            </a:pPr>
            <a:r>
              <a:rPr sz="1100" b="1">
                <a:solidFill>
                  <a:srgbClr val="0B4F71"/>
                </a:solidFill>
                <a:latin typeface="Segoe UI"/>
              </a:rPr>
              <a:t>Infobulle au survol</a:t>
            </a:r>
          </a:p>
        </p:txBody>
      </p:sp>
      <p:pic>
        <p:nvPicPr>
          <p:cNvPr id="21" name="Picture 20" descr="1_premier_contact.png"/>
          <p:cNvPicPr>
            <a:picLocks noChangeAspect="1"/>
          </p:cNvPicPr>
          <p:nvPr/>
        </p:nvPicPr>
        <p:blipFill>
          <a:blip r:embed="rId3"/>
          <a:stretch>
            <a:fillRect/>
          </a:stretch>
        </p:blipFill>
        <p:spPr>
          <a:xfrm>
            <a:off x="612647" y="1658022"/>
            <a:ext cx="3392424" cy="1905179"/>
          </a:xfrm>
          <a:prstGeom prst="rect">
            <a:avLst/>
          </a:prstGeom>
          <a:ln w="9525">
            <a:solidFill>
              <a:srgbClr val="D8E1E8"/>
            </a:solidFill>
          </a:ln>
        </p:spPr>
      </p:pic>
      <p:pic>
        <p:nvPicPr>
          <p:cNvPr id="22" name="Picture 21" descr="2_dernier_contact.png"/>
          <p:cNvPicPr>
            <a:picLocks noChangeAspect="1"/>
          </p:cNvPicPr>
          <p:nvPr/>
        </p:nvPicPr>
        <p:blipFill>
          <a:blip r:embed="rId4"/>
          <a:stretch>
            <a:fillRect/>
          </a:stretch>
        </p:blipFill>
        <p:spPr>
          <a:xfrm>
            <a:off x="4361688" y="1656963"/>
            <a:ext cx="3392424" cy="1907296"/>
          </a:xfrm>
          <a:prstGeom prst="rect">
            <a:avLst/>
          </a:prstGeom>
          <a:ln w="9525">
            <a:solidFill>
              <a:srgbClr val="D8E1E8"/>
            </a:solidFill>
          </a:ln>
        </p:spPr>
      </p:pic>
      <p:pic>
        <p:nvPicPr>
          <p:cNvPr id="23" name="Picture 22" descr="3_infobulle.png"/>
          <p:cNvPicPr>
            <a:picLocks noChangeAspect="1"/>
          </p:cNvPicPr>
          <p:nvPr/>
        </p:nvPicPr>
        <p:blipFill>
          <a:blip r:embed="rId5"/>
          <a:stretch>
            <a:fillRect/>
          </a:stretch>
        </p:blipFill>
        <p:spPr>
          <a:xfrm>
            <a:off x="8110727" y="1658022"/>
            <a:ext cx="3392424" cy="1905179"/>
          </a:xfrm>
          <a:prstGeom prst="rect">
            <a:avLst/>
          </a:prstGeom>
          <a:ln w="9525">
            <a:solidFill>
              <a:srgbClr val="D8E1E8"/>
            </a:solidFill>
          </a:ln>
        </p:spPr>
      </p:pic>
      <p:sp>
        <p:nvSpPr>
          <p:cNvPr id="24" name="Rectangle 23"/>
          <p:cNvSpPr/>
          <p:nvPr/>
        </p:nvSpPr>
        <p:spPr>
          <a:xfrm>
            <a:off x="502920" y="4489704"/>
            <a:ext cx="11201400" cy="841248"/>
          </a:xfrm>
          <a:prstGeom prst="rect">
            <a:avLst/>
          </a:prstGeom>
          <a:solidFill>
            <a:srgbClr val="ECF6EF"/>
          </a:solidFill>
          <a:ln w="11430">
            <a:solidFill>
              <a:srgbClr val="3AA6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4672583"/>
            <a:ext cx="10789920" cy="502920"/>
          </a:xfrm>
          <a:prstGeom prst="rect">
            <a:avLst/>
          </a:prstGeom>
          <a:noFill/>
        </p:spPr>
        <p:txBody>
          <a:bodyPr wrap="square" anchor="t" lIns="0" rIns="0" tIns="0" bIns="0">
            <a:normAutofit/>
          </a:bodyPr>
          <a:lstStyle/>
          <a:p>
            <a:pPr algn="l">
              <a:lnSpc>
                <a:spcPct val="115000"/>
              </a:lnSpc>
              <a:spcAft>
                <a:spcPts val="0"/>
              </a:spcAft>
            </a:pPr>
            <a:r>
              <a:rPr sz="1150" b="1">
                <a:solidFill>
                  <a:srgbClr val="3AA65C"/>
                </a:solidFill>
                <a:latin typeface="Segoe UI Semibold"/>
              </a:rPr>
              <a:t>Le segment de règle d'attribution recalcule l'ensemble du rapport : </a:t>
            </a:r>
            <a:r>
              <a:rPr sz="1150" b="0">
                <a:solidFill>
                  <a:srgbClr val="33444F"/>
                </a:solidFill>
                <a:latin typeface="Segoe UI"/>
              </a:rPr>
              <a:t>les deux premières captures montrent le même écran à un clic d'intervalle, et le classement des campagnes a changé. La troisième montre la page d'infobulle qui s'ouvre au survol d'une campagne.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1CA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0" y="2331720"/>
            <a:ext cx="1828800" cy="1463040"/>
          </a:xfrm>
          <a:prstGeom prst="rect">
            <a:avLst/>
          </a:prstGeom>
          <a:noFill/>
        </p:spPr>
        <p:txBody>
          <a:bodyPr wrap="square" lIns="0" tIns="0" rIns="0" bIns="0" anchor="t">
            <a:normAutofit/>
          </a:bodyPr>
          <a:lstStyle/>
          <a:p>
            <a:pPr algn="l">
              <a:lnSpc>
                <a:spcPct val="115000"/>
              </a:lnSpc>
              <a:spcAft>
                <a:spcPts val="400"/>
              </a:spcAft>
            </a:pPr>
            <a:r>
              <a:rPr sz="10000" b="1">
                <a:solidFill>
                  <a:srgbClr val="2E86A6"/>
                </a:solidFill>
                <a:latin typeface="Segoe UI"/>
              </a:rPr>
              <a:t>5</a:t>
            </a:r>
          </a:p>
        </p:txBody>
      </p:sp>
      <p:sp>
        <p:nvSpPr>
          <p:cNvPr id="5" name="TextBox 4"/>
          <p:cNvSpPr txBox="1"/>
          <p:nvPr/>
        </p:nvSpPr>
        <p:spPr>
          <a:xfrm>
            <a:off x="3200400" y="2606040"/>
            <a:ext cx="7863840" cy="822960"/>
          </a:xfrm>
          <a:prstGeom prst="rect">
            <a:avLst/>
          </a:prstGeom>
          <a:noFill/>
        </p:spPr>
        <p:txBody>
          <a:bodyPr wrap="square" lIns="0" tIns="0" rIns="0" bIns="0" anchor="t">
            <a:normAutofit/>
          </a:bodyPr>
          <a:lstStyle/>
          <a:p>
            <a:pPr algn="l">
              <a:lnSpc>
                <a:spcPct val="115000"/>
              </a:lnSpc>
              <a:spcAft>
                <a:spcPts val="400"/>
              </a:spcAft>
            </a:pPr>
            <a:r>
              <a:rPr sz="4000" b="1">
                <a:solidFill>
                  <a:srgbClr val="FFFFFF"/>
                </a:solidFill>
                <a:latin typeface="Segoe UI"/>
              </a:rPr>
              <a:t>Recommandations</a:t>
            </a:r>
          </a:p>
        </p:txBody>
      </p:sp>
      <p:sp>
        <p:nvSpPr>
          <p:cNvPr id="6" name="TextBox 5"/>
          <p:cNvSpPr txBox="1"/>
          <p:nvPr/>
        </p:nvSpPr>
        <p:spPr>
          <a:xfrm>
            <a:off x="3255264" y="3611880"/>
            <a:ext cx="7863840" cy="457200"/>
          </a:xfrm>
          <a:prstGeom prst="rect">
            <a:avLst/>
          </a:prstGeom>
          <a:noFill/>
        </p:spPr>
        <p:txBody>
          <a:bodyPr wrap="square" lIns="0" tIns="0" rIns="0" bIns="0" anchor="t">
            <a:normAutofit/>
          </a:bodyPr>
          <a:lstStyle/>
          <a:p>
            <a:pPr algn="l">
              <a:lnSpc>
                <a:spcPct val="115000"/>
              </a:lnSpc>
              <a:spcAft>
                <a:spcPts val="400"/>
              </a:spcAft>
            </a:pPr>
            <a:r>
              <a:rPr sz="1500" b="0">
                <a:solidFill>
                  <a:srgbClr val="A8D3E6"/>
                </a:solidFill>
                <a:latin typeface="Segoe UI"/>
              </a:rPr>
              <a:t>Ce que Garanteo doit décider, et ce que ça rapporte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185855" cy="457200"/>
          </a:xfrm>
          <a:prstGeom prst="rect">
            <a:avLst/>
          </a:prstGeom>
          <a:noFill/>
        </p:spPr>
        <p:txBody>
          <a:bodyPr wrap="square" lIns="0" tIns="0" rIns="0" bIns="0" anchor="t">
            <a:normAutofit/>
          </a:bodyPr>
          <a:lstStyle/>
          <a:p>
            <a:pPr algn="l">
              <a:lnSpc>
                <a:spcPct val="115000"/>
              </a:lnSpc>
              <a:spcAft>
                <a:spcPts val="400"/>
              </a:spcAft>
            </a:pPr>
            <a:r>
              <a:rPr sz="2500" b="1">
                <a:solidFill>
                  <a:srgbClr val="0B4F71"/>
                </a:solidFill>
                <a:latin typeface="Segoe UI"/>
              </a:rPr>
              <a:t>Les 5 recommandations</a:t>
            </a:r>
          </a:p>
        </p:txBody>
      </p:sp>
      <p:sp>
        <p:nvSpPr>
          <p:cNvPr id="5" name="Rectangle 4"/>
          <p:cNvSpPr/>
          <p:nvPr/>
        </p:nvSpPr>
        <p:spPr>
          <a:xfrm>
            <a:off x="0" y="6574536"/>
            <a:ext cx="12191695" cy="18288"/>
          </a:xfrm>
          <a:prstGeom prst="rect">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620256"/>
            <a:ext cx="7315200" cy="219456"/>
          </a:xfrm>
          <a:prstGeom prst="rect">
            <a:avLst/>
          </a:prstGeom>
          <a:noFill/>
        </p:spPr>
        <p:txBody>
          <a:bodyPr wrap="square" lIns="0" tIns="0" rIns="0" bIns="0" anchor="t">
            <a:normAutofit/>
          </a:bodyPr>
          <a:lstStyle/>
          <a:p>
            <a:pPr algn="l">
              <a:lnSpc>
                <a:spcPct val="115000"/>
              </a:lnSpc>
              <a:spcAft>
                <a:spcPts val="400"/>
              </a:spcAft>
            </a:pPr>
            <a:r>
              <a:rPr sz="850" b="0">
                <a:solidFill>
                  <a:srgbClr val="8B98A5"/>
                </a:solidFill>
                <a:latin typeface="Segoe UI"/>
              </a:rPr>
              <a:t>Garanteo · Projet final DataBird · Sophie Paradon</a:t>
            </a:r>
          </a:p>
        </p:txBody>
      </p:sp>
      <p:sp>
        <p:nvSpPr>
          <p:cNvPr id="7" name="TextBox 6"/>
          <p:cNvSpPr txBox="1"/>
          <p:nvPr/>
        </p:nvSpPr>
        <p:spPr>
          <a:xfrm>
            <a:off x="8579815" y="6620256"/>
            <a:ext cx="3108960" cy="219456"/>
          </a:xfrm>
          <a:prstGeom prst="rect">
            <a:avLst/>
          </a:prstGeom>
          <a:noFill/>
        </p:spPr>
        <p:txBody>
          <a:bodyPr wrap="square" lIns="0" tIns="0" rIns="0" bIns="0" anchor="t">
            <a:normAutofit/>
          </a:bodyPr>
          <a:lstStyle/>
          <a:p>
            <a:pPr algn="r">
              <a:lnSpc>
                <a:spcPct val="115000"/>
              </a:lnSpc>
              <a:spcAft>
                <a:spcPts val="400"/>
              </a:spcAft>
            </a:pPr>
            <a:r>
              <a:rPr sz="850" b="0">
                <a:solidFill>
                  <a:srgbClr val="8B98A5"/>
                </a:solidFill>
                <a:latin typeface="Segoe UI"/>
              </a:rPr>
              <a:t>Recommandations   ·   23</a:t>
            </a:r>
          </a:p>
        </p:txBody>
      </p:sp>
      <p:sp>
        <p:nvSpPr>
          <p:cNvPr id="8" name="Rectangle 7"/>
          <p:cNvSpPr/>
          <p:nvPr/>
        </p:nvSpPr>
        <p:spPr>
          <a:xfrm>
            <a:off x="502920" y="914400"/>
            <a:ext cx="11201400" cy="877824"/>
          </a:xfrm>
          <a:prstGeom prst="rect">
            <a:avLst/>
          </a:prstGeom>
          <a:solidFill>
            <a:srgbClr val="FFFFFF"/>
          </a:solidFill>
          <a:ln w="889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914400"/>
            <a:ext cx="64008" cy="877824"/>
          </a:xfrm>
          <a:prstGeom prst="rect">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8952" y="1133856"/>
            <a:ext cx="365760" cy="411480"/>
          </a:xfrm>
          <a:prstGeom prst="rect">
            <a:avLst/>
          </a:prstGeom>
          <a:noFill/>
        </p:spPr>
        <p:txBody>
          <a:bodyPr wrap="square" lIns="0" tIns="0" rIns="0" bIns="0" anchor="t">
            <a:normAutofit/>
          </a:bodyPr>
          <a:lstStyle/>
          <a:p>
            <a:pPr algn="l">
              <a:lnSpc>
                <a:spcPct val="115000"/>
              </a:lnSpc>
              <a:spcAft>
                <a:spcPts val="400"/>
              </a:spcAft>
            </a:pPr>
            <a:r>
              <a:rPr sz="2000" b="1">
                <a:solidFill>
                  <a:srgbClr val="D9534F"/>
                </a:solidFill>
                <a:latin typeface="Segoe UI"/>
              </a:rPr>
              <a:t>1</a:t>
            </a:r>
          </a:p>
        </p:txBody>
      </p:sp>
      <p:sp>
        <p:nvSpPr>
          <p:cNvPr id="11" name="TextBox 10"/>
          <p:cNvSpPr txBox="1"/>
          <p:nvPr/>
        </p:nvSpPr>
        <p:spPr>
          <a:xfrm>
            <a:off x="1252728" y="1014984"/>
            <a:ext cx="7040880" cy="256032"/>
          </a:xfrm>
          <a:prstGeom prst="rect">
            <a:avLst/>
          </a:prstGeom>
          <a:noFill/>
        </p:spPr>
        <p:txBody>
          <a:bodyPr wrap="square" lIns="0" tIns="0" rIns="0" bIns="0" anchor="t">
            <a:normAutofit/>
          </a:bodyPr>
          <a:lstStyle/>
          <a:p>
            <a:pPr algn="l">
              <a:lnSpc>
                <a:spcPct val="115000"/>
              </a:lnSpc>
              <a:spcAft>
                <a:spcPts val="400"/>
              </a:spcAft>
            </a:pPr>
            <a:r>
              <a:rPr sz="1250" b="1">
                <a:solidFill>
                  <a:srgbClr val="0B4F71"/>
                </a:solidFill>
                <a:latin typeface="Segoe UI"/>
              </a:rPr>
              <a:t>Acter une règle d'attribution avant tout arbitrage budgétaire</a:t>
            </a:r>
          </a:p>
        </p:txBody>
      </p:sp>
      <p:sp>
        <p:nvSpPr>
          <p:cNvPr id="12" name="TextBox 11"/>
          <p:cNvSpPr txBox="1"/>
          <p:nvPr/>
        </p:nvSpPr>
        <p:spPr>
          <a:xfrm>
            <a:off x="1252728" y="1316736"/>
            <a:ext cx="8138160" cy="438912"/>
          </a:xfrm>
          <a:prstGeom prst="rect">
            <a:avLst/>
          </a:prstGeom>
          <a:noFill/>
        </p:spPr>
        <p:txBody>
          <a:bodyPr wrap="square" lIns="0" tIns="0" rIns="0" bIns="0" anchor="t">
            <a:normAutofit/>
          </a:bodyPr>
          <a:lstStyle/>
          <a:p>
            <a:pPr algn="l">
              <a:lnSpc>
                <a:spcPct val="112000"/>
              </a:lnSpc>
              <a:spcAft>
                <a:spcPts val="400"/>
              </a:spcAft>
            </a:pPr>
            <a:r>
              <a:rPr sz="950" b="0">
                <a:solidFill>
                  <a:srgbClr val="33444F"/>
                </a:solidFill>
                <a:latin typeface="Segoe UI"/>
              </a:rPr>
              <a:t>Priorité absolue, et elle passe avant les noms de campagnes. Sans règle explicite, deux analyses des mêmes données recommandent de couper des campagnes opposées. Recommandation : le dernier contact.</a:t>
            </a:r>
          </a:p>
        </p:txBody>
      </p:sp>
      <p:sp>
        <p:nvSpPr>
          <p:cNvPr id="13" name="Rectangle 12"/>
          <p:cNvSpPr/>
          <p:nvPr/>
        </p:nvSpPr>
        <p:spPr>
          <a:xfrm>
            <a:off x="9601200" y="1170432"/>
            <a:ext cx="1965960" cy="365760"/>
          </a:xfrm>
          <a:prstGeom prst="rect">
            <a:avLst/>
          </a:prstGeom>
          <a:solidFill>
            <a:srgbClr val="F0F5F8"/>
          </a:solidFill>
          <a:ln w="8890">
            <a:solidFill>
              <a:srgbClr val="D95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92640" y="1243584"/>
            <a:ext cx="1783080" cy="228600"/>
          </a:xfrm>
          <a:prstGeom prst="rect">
            <a:avLst/>
          </a:prstGeom>
          <a:noFill/>
        </p:spPr>
        <p:txBody>
          <a:bodyPr wrap="square" lIns="0" tIns="0" rIns="0" bIns="0" anchor="t">
            <a:normAutofit/>
          </a:bodyPr>
          <a:lstStyle/>
          <a:p>
            <a:pPr algn="ctr">
              <a:lnSpc>
                <a:spcPct val="115000"/>
              </a:lnSpc>
              <a:spcAft>
                <a:spcPts val="400"/>
              </a:spcAft>
            </a:pPr>
            <a:r>
              <a:rPr sz="1000" b="1">
                <a:solidFill>
                  <a:srgbClr val="D9534F"/>
                </a:solidFill>
                <a:latin typeface="Segoe UI"/>
              </a:rPr>
              <a:t>Décision de méthode</a:t>
            </a:r>
          </a:p>
        </p:txBody>
      </p:sp>
      <p:sp>
        <p:nvSpPr>
          <p:cNvPr id="15" name="Rectangle 14"/>
          <p:cNvSpPr/>
          <p:nvPr/>
        </p:nvSpPr>
        <p:spPr>
          <a:xfrm>
            <a:off x="502920" y="1883664"/>
            <a:ext cx="11201400" cy="877824"/>
          </a:xfrm>
          <a:prstGeom prst="rect">
            <a:avLst/>
          </a:prstGeom>
          <a:solidFill>
            <a:srgbClr val="FFFFFF"/>
          </a:solidFill>
          <a:ln w="889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1883664"/>
            <a:ext cx="64008" cy="877824"/>
          </a:xfrm>
          <a:prstGeom prst="rect">
            <a:avLst/>
          </a:prstGeom>
          <a:solidFill>
            <a:srgbClr val="F2A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8952" y="2103120"/>
            <a:ext cx="365760" cy="411480"/>
          </a:xfrm>
          <a:prstGeom prst="rect">
            <a:avLst/>
          </a:prstGeom>
          <a:noFill/>
        </p:spPr>
        <p:txBody>
          <a:bodyPr wrap="square" lIns="0" tIns="0" rIns="0" bIns="0" anchor="t">
            <a:normAutofit/>
          </a:bodyPr>
          <a:lstStyle/>
          <a:p>
            <a:pPr algn="l">
              <a:lnSpc>
                <a:spcPct val="115000"/>
              </a:lnSpc>
              <a:spcAft>
                <a:spcPts val="400"/>
              </a:spcAft>
            </a:pPr>
            <a:r>
              <a:rPr sz="2000" b="1">
                <a:solidFill>
                  <a:srgbClr val="F2A354"/>
                </a:solidFill>
                <a:latin typeface="Segoe UI"/>
              </a:rPr>
              <a:t>2</a:t>
            </a:r>
          </a:p>
        </p:txBody>
      </p:sp>
      <p:sp>
        <p:nvSpPr>
          <p:cNvPr id="18" name="TextBox 17"/>
          <p:cNvSpPr txBox="1"/>
          <p:nvPr/>
        </p:nvSpPr>
        <p:spPr>
          <a:xfrm>
            <a:off x="1252728" y="1984248"/>
            <a:ext cx="7040880" cy="256032"/>
          </a:xfrm>
          <a:prstGeom prst="rect">
            <a:avLst/>
          </a:prstGeom>
          <a:noFill/>
        </p:spPr>
        <p:txBody>
          <a:bodyPr wrap="square" lIns="0" tIns="0" rIns="0" bIns="0" anchor="t">
            <a:normAutofit/>
          </a:bodyPr>
          <a:lstStyle/>
          <a:p>
            <a:pPr algn="l">
              <a:lnSpc>
                <a:spcPct val="115000"/>
              </a:lnSpc>
              <a:spcAft>
                <a:spcPts val="400"/>
              </a:spcAft>
            </a:pPr>
            <a:r>
              <a:rPr sz="1250" b="1">
                <a:solidFill>
                  <a:srgbClr val="0B4F71"/>
                </a:solidFill>
                <a:latin typeface="Segoe UI"/>
              </a:rPr>
              <a:t>Couper ca98f07be2</a:t>
            </a:r>
          </a:p>
        </p:txBody>
      </p:sp>
      <p:sp>
        <p:nvSpPr>
          <p:cNvPr id="19" name="TextBox 18"/>
          <p:cNvSpPr txBox="1"/>
          <p:nvPr/>
        </p:nvSpPr>
        <p:spPr>
          <a:xfrm>
            <a:off x="1252728" y="2286000"/>
            <a:ext cx="8138160" cy="438912"/>
          </a:xfrm>
          <a:prstGeom prst="rect">
            <a:avLst/>
          </a:prstGeom>
          <a:noFill/>
        </p:spPr>
        <p:txBody>
          <a:bodyPr wrap="square" lIns="0" tIns="0" rIns="0" bIns="0" anchor="t">
            <a:normAutofit/>
          </a:bodyPr>
          <a:lstStyle/>
          <a:p>
            <a:pPr algn="l">
              <a:lnSpc>
                <a:spcPct val="112000"/>
              </a:lnSpc>
              <a:spcAft>
                <a:spcPts val="400"/>
              </a:spcAft>
            </a:pPr>
            <a:r>
              <a:rPr sz="950" b="0">
                <a:solidFill>
                  <a:srgbClr val="33444F"/>
                </a:solidFill>
                <a:latin typeface="Segoe UI"/>
              </a:rPr>
              <a:t>700 €. Seule campagne classée dernière sur 13 sous les trois règles d'attribution. 0 client en premier comme en dernier contact. Réserve : 0 sur 25 prospects n'est pas significatif isolément — c'est la convergence des trois règles qui fonde la décision.</a:t>
            </a:r>
          </a:p>
        </p:txBody>
      </p:sp>
      <p:sp>
        <p:nvSpPr>
          <p:cNvPr id="20" name="Rectangle 19"/>
          <p:cNvSpPr/>
          <p:nvPr/>
        </p:nvSpPr>
        <p:spPr>
          <a:xfrm>
            <a:off x="9601200" y="2139696"/>
            <a:ext cx="1965960" cy="365760"/>
          </a:xfrm>
          <a:prstGeom prst="rect">
            <a:avLst/>
          </a:prstGeom>
          <a:solidFill>
            <a:srgbClr val="F0F5F8"/>
          </a:solidFill>
          <a:ln w="8890">
            <a:solidFill>
              <a:srgbClr val="F2A3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92640" y="2212848"/>
            <a:ext cx="1783080" cy="228600"/>
          </a:xfrm>
          <a:prstGeom prst="rect">
            <a:avLst/>
          </a:prstGeom>
          <a:noFill/>
        </p:spPr>
        <p:txBody>
          <a:bodyPr wrap="square" lIns="0" tIns="0" rIns="0" bIns="0" anchor="t">
            <a:normAutofit/>
          </a:bodyPr>
          <a:lstStyle/>
          <a:p>
            <a:pPr algn="ctr">
              <a:lnSpc>
                <a:spcPct val="115000"/>
              </a:lnSpc>
              <a:spcAft>
                <a:spcPts val="400"/>
              </a:spcAft>
            </a:pPr>
            <a:r>
              <a:rPr sz="1000" b="1">
                <a:solidFill>
                  <a:srgbClr val="F2A354"/>
                </a:solidFill>
                <a:latin typeface="Segoe UI"/>
              </a:rPr>
              <a:t>700 € libérés</a:t>
            </a:r>
          </a:p>
        </p:txBody>
      </p:sp>
      <p:sp>
        <p:nvSpPr>
          <p:cNvPr id="22" name="Rectangle 21"/>
          <p:cNvSpPr/>
          <p:nvPr/>
        </p:nvSpPr>
        <p:spPr>
          <a:xfrm>
            <a:off x="502920" y="2852928"/>
            <a:ext cx="11201400" cy="877824"/>
          </a:xfrm>
          <a:prstGeom prst="rect">
            <a:avLst/>
          </a:prstGeom>
          <a:solidFill>
            <a:srgbClr val="FFFFFF"/>
          </a:solidFill>
          <a:ln w="889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02920" y="2852928"/>
            <a:ext cx="64008" cy="877824"/>
          </a:xfrm>
          <a:prstGeom prst="rect">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58952" y="3072384"/>
            <a:ext cx="365760" cy="411480"/>
          </a:xfrm>
          <a:prstGeom prst="rect">
            <a:avLst/>
          </a:prstGeom>
          <a:noFill/>
        </p:spPr>
        <p:txBody>
          <a:bodyPr wrap="square" lIns="0" tIns="0" rIns="0" bIns="0" anchor="t">
            <a:normAutofit/>
          </a:bodyPr>
          <a:lstStyle/>
          <a:p>
            <a:pPr algn="l">
              <a:lnSpc>
                <a:spcPct val="115000"/>
              </a:lnSpc>
              <a:spcAft>
                <a:spcPts val="400"/>
              </a:spcAft>
            </a:pPr>
            <a:r>
              <a:rPr sz="2000" b="1">
                <a:solidFill>
                  <a:srgbClr val="D9534F"/>
                </a:solidFill>
                <a:latin typeface="Segoe UI"/>
              </a:rPr>
              <a:t>3</a:t>
            </a:r>
          </a:p>
        </p:txBody>
      </p:sp>
      <p:sp>
        <p:nvSpPr>
          <p:cNvPr id="25" name="TextBox 24"/>
          <p:cNvSpPr txBox="1"/>
          <p:nvPr/>
        </p:nvSpPr>
        <p:spPr>
          <a:xfrm>
            <a:off x="1252728" y="2953512"/>
            <a:ext cx="7040880" cy="256032"/>
          </a:xfrm>
          <a:prstGeom prst="rect">
            <a:avLst/>
          </a:prstGeom>
          <a:noFill/>
        </p:spPr>
        <p:txBody>
          <a:bodyPr wrap="square" lIns="0" tIns="0" rIns="0" bIns="0" anchor="t">
            <a:normAutofit/>
          </a:bodyPr>
          <a:lstStyle/>
          <a:p>
            <a:pPr algn="l">
              <a:lnSpc>
                <a:spcPct val="115000"/>
              </a:lnSpc>
              <a:spcAft>
                <a:spcPts val="400"/>
              </a:spcAft>
            </a:pPr>
            <a:r>
              <a:rPr sz="1250" b="1">
                <a:solidFill>
                  <a:srgbClr val="0B4F71"/>
                </a:solidFill>
                <a:latin typeface="Segoe UI"/>
              </a:rPr>
              <a:t>Réduire 45c82b38c6 par paliers</a:t>
            </a:r>
          </a:p>
        </p:txBody>
      </p:sp>
      <p:sp>
        <p:nvSpPr>
          <p:cNvPr id="26" name="TextBox 25"/>
          <p:cNvSpPr txBox="1"/>
          <p:nvPr/>
        </p:nvSpPr>
        <p:spPr>
          <a:xfrm>
            <a:off x="1252728" y="3255264"/>
            <a:ext cx="8138160" cy="438912"/>
          </a:xfrm>
          <a:prstGeom prst="rect">
            <a:avLst/>
          </a:prstGeom>
          <a:noFill/>
        </p:spPr>
        <p:txBody>
          <a:bodyPr wrap="square" lIns="0" tIns="0" rIns="0" bIns="0" anchor="t">
            <a:normAutofit/>
          </a:bodyPr>
          <a:lstStyle/>
          <a:p>
            <a:pPr algn="l">
              <a:lnSpc>
                <a:spcPct val="112000"/>
              </a:lnSpc>
              <a:spcAft>
                <a:spcPts val="400"/>
              </a:spcAft>
            </a:pPr>
            <a:r>
              <a:rPr sz="950" b="0">
                <a:solidFill>
                  <a:srgbClr val="33444F"/>
                </a:solidFill>
                <a:latin typeface="Segoe UI"/>
              </a:rPr>
              <a:t>7 000 €, soit 10 % du budget. CAC de 583 €, 50 % au-dessus du CAC global, et le taux de conversion le plus faible des grosses campagnes. C'est elle qui porte le montant qui compte : dix fois le budget de la campagne précédente.</a:t>
            </a:r>
          </a:p>
        </p:txBody>
      </p:sp>
      <p:sp>
        <p:nvSpPr>
          <p:cNvPr id="27" name="Rectangle 26"/>
          <p:cNvSpPr/>
          <p:nvPr/>
        </p:nvSpPr>
        <p:spPr>
          <a:xfrm>
            <a:off x="9601200" y="3108960"/>
            <a:ext cx="1965960" cy="365760"/>
          </a:xfrm>
          <a:prstGeom prst="rect">
            <a:avLst/>
          </a:prstGeom>
          <a:solidFill>
            <a:srgbClr val="F0F5F8"/>
          </a:solidFill>
          <a:ln w="8890">
            <a:solidFill>
              <a:srgbClr val="D95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692640" y="3182112"/>
            <a:ext cx="1783080" cy="228600"/>
          </a:xfrm>
          <a:prstGeom prst="rect">
            <a:avLst/>
          </a:prstGeom>
          <a:noFill/>
        </p:spPr>
        <p:txBody>
          <a:bodyPr wrap="square" lIns="0" tIns="0" rIns="0" bIns="0" anchor="t">
            <a:normAutofit/>
          </a:bodyPr>
          <a:lstStyle/>
          <a:p>
            <a:pPr algn="ctr">
              <a:lnSpc>
                <a:spcPct val="115000"/>
              </a:lnSpc>
              <a:spcAft>
                <a:spcPts val="400"/>
              </a:spcAft>
            </a:pPr>
            <a:r>
              <a:rPr sz="1000" b="1">
                <a:solidFill>
                  <a:srgbClr val="D9534F"/>
                </a:solidFill>
                <a:latin typeface="Segoe UI"/>
              </a:rPr>
              <a:t>7 000 € en jeu</a:t>
            </a:r>
          </a:p>
        </p:txBody>
      </p:sp>
      <p:sp>
        <p:nvSpPr>
          <p:cNvPr id="29" name="Rectangle 28"/>
          <p:cNvSpPr/>
          <p:nvPr/>
        </p:nvSpPr>
        <p:spPr>
          <a:xfrm>
            <a:off x="502920" y="3822191"/>
            <a:ext cx="11201400" cy="877824"/>
          </a:xfrm>
          <a:prstGeom prst="rect">
            <a:avLst/>
          </a:prstGeom>
          <a:solidFill>
            <a:srgbClr val="FFFFFF"/>
          </a:solidFill>
          <a:ln w="889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02920" y="3822191"/>
            <a:ext cx="64008" cy="877824"/>
          </a:xfrm>
          <a:prstGeom prst="rect">
            <a:avLst/>
          </a:prstGeom>
          <a:solidFill>
            <a:srgbClr val="3AA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58952" y="4041648"/>
            <a:ext cx="365760" cy="411480"/>
          </a:xfrm>
          <a:prstGeom prst="rect">
            <a:avLst/>
          </a:prstGeom>
          <a:noFill/>
        </p:spPr>
        <p:txBody>
          <a:bodyPr wrap="square" lIns="0" tIns="0" rIns="0" bIns="0" anchor="t">
            <a:normAutofit/>
          </a:bodyPr>
          <a:lstStyle/>
          <a:p>
            <a:pPr algn="l">
              <a:lnSpc>
                <a:spcPct val="115000"/>
              </a:lnSpc>
              <a:spcAft>
                <a:spcPts val="400"/>
              </a:spcAft>
            </a:pPr>
            <a:r>
              <a:rPr sz="2000" b="1">
                <a:solidFill>
                  <a:srgbClr val="3AA65C"/>
                </a:solidFill>
                <a:latin typeface="Segoe UI"/>
              </a:rPr>
              <a:t>4</a:t>
            </a:r>
          </a:p>
        </p:txBody>
      </p:sp>
      <p:sp>
        <p:nvSpPr>
          <p:cNvPr id="32" name="TextBox 31"/>
          <p:cNvSpPr txBox="1"/>
          <p:nvPr/>
        </p:nvSpPr>
        <p:spPr>
          <a:xfrm>
            <a:off x="1252728" y="3922776"/>
            <a:ext cx="7040880" cy="256032"/>
          </a:xfrm>
          <a:prstGeom prst="rect">
            <a:avLst/>
          </a:prstGeom>
          <a:noFill/>
        </p:spPr>
        <p:txBody>
          <a:bodyPr wrap="square" lIns="0" tIns="0" rIns="0" bIns="0" anchor="t">
            <a:normAutofit/>
          </a:bodyPr>
          <a:lstStyle/>
          <a:p>
            <a:pPr algn="l">
              <a:lnSpc>
                <a:spcPct val="115000"/>
              </a:lnSpc>
              <a:spcAft>
                <a:spcPts val="400"/>
              </a:spcAft>
            </a:pPr>
            <a:r>
              <a:rPr sz="1250" b="1">
                <a:solidFill>
                  <a:srgbClr val="0B4F71"/>
                </a:solidFill>
                <a:latin typeface="Segoe UI"/>
              </a:rPr>
              <a:t>Tester la montée en puissance de 9fa01fb1a0 et acb1a5969d</a:t>
            </a:r>
          </a:p>
        </p:txBody>
      </p:sp>
      <p:sp>
        <p:nvSpPr>
          <p:cNvPr id="33" name="TextBox 32"/>
          <p:cNvSpPr txBox="1"/>
          <p:nvPr/>
        </p:nvSpPr>
        <p:spPr>
          <a:xfrm>
            <a:off x="1252728" y="4224528"/>
            <a:ext cx="8138160" cy="438912"/>
          </a:xfrm>
          <a:prstGeom prst="rect">
            <a:avLst/>
          </a:prstGeom>
          <a:noFill/>
        </p:spPr>
        <p:txBody>
          <a:bodyPr wrap="square" lIns="0" tIns="0" rIns="0" bIns="0" anchor="t">
            <a:normAutofit/>
          </a:bodyPr>
          <a:lstStyle/>
          <a:p>
            <a:pPr algn="l">
              <a:lnSpc>
                <a:spcPct val="112000"/>
              </a:lnSpc>
              <a:spcAft>
                <a:spcPts val="400"/>
              </a:spcAft>
            </a:pPr>
            <a:r>
              <a:rPr sz="950" b="0">
                <a:solidFill>
                  <a:srgbClr val="33444F"/>
                </a:solidFill>
                <a:latin typeface="Segoe UI"/>
              </a:rPr>
              <a:t>9fa01fb1a0 (affiliation, 3 500 €) a le meilleur rang moyen sur les 3 règles avec un volume crédible. acb1a5969d affiche le meilleur CAC mais sur 22 prospects : son CAC réel est entre 83 € et 435 €. Par paliers, avec mesure — le rendement est décroissant.</a:t>
            </a:r>
          </a:p>
        </p:txBody>
      </p:sp>
      <p:sp>
        <p:nvSpPr>
          <p:cNvPr id="34" name="Rectangle 33"/>
          <p:cNvSpPr/>
          <p:nvPr/>
        </p:nvSpPr>
        <p:spPr>
          <a:xfrm>
            <a:off x="9601200" y="4078224"/>
            <a:ext cx="1965960" cy="365760"/>
          </a:xfrm>
          <a:prstGeom prst="rect">
            <a:avLst/>
          </a:prstGeom>
          <a:solidFill>
            <a:srgbClr val="F0F5F8"/>
          </a:solidFill>
          <a:ln w="8890">
            <a:solidFill>
              <a:srgbClr val="3AA6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692640" y="4151376"/>
            <a:ext cx="1783080" cy="228600"/>
          </a:xfrm>
          <a:prstGeom prst="rect">
            <a:avLst/>
          </a:prstGeom>
          <a:noFill/>
        </p:spPr>
        <p:txBody>
          <a:bodyPr wrap="square" lIns="0" tIns="0" rIns="0" bIns="0" anchor="t">
            <a:normAutofit/>
          </a:bodyPr>
          <a:lstStyle/>
          <a:p>
            <a:pPr algn="ctr">
              <a:lnSpc>
                <a:spcPct val="115000"/>
              </a:lnSpc>
              <a:spcAft>
                <a:spcPts val="400"/>
              </a:spcAft>
            </a:pPr>
            <a:r>
              <a:rPr sz="1000" b="1">
                <a:solidFill>
                  <a:srgbClr val="3AA65C"/>
                </a:solidFill>
                <a:latin typeface="Segoe UI"/>
              </a:rPr>
              <a:t>Croissance testée</a:t>
            </a:r>
          </a:p>
        </p:txBody>
      </p:sp>
      <p:sp>
        <p:nvSpPr>
          <p:cNvPr id="36" name="Rectangle 35"/>
          <p:cNvSpPr/>
          <p:nvPr/>
        </p:nvSpPr>
        <p:spPr>
          <a:xfrm>
            <a:off x="502920" y="4791456"/>
            <a:ext cx="11201400" cy="877824"/>
          </a:xfrm>
          <a:prstGeom prst="rect">
            <a:avLst/>
          </a:prstGeom>
          <a:solidFill>
            <a:srgbClr val="FFFFFF"/>
          </a:solidFill>
          <a:ln w="889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502920" y="4791456"/>
            <a:ext cx="64008" cy="877824"/>
          </a:xfrm>
          <a:prstGeom prst="rect">
            <a:avLst/>
          </a:prstGeom>
          <a:solidFill>
            <a:srgbClr val="1CA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58952" y="5010912"/>
            <a:ext cx="365760" cy="411480"/>
          </a:xfrm>
          <a:prstGeom prst="rect">
            <a:avLst/>
          </a:prstGeom>
          <a:noFill/>
        </p:spPr>
        <p:txBody>
          <a:bodyPr wrap="square" lIns="0" tIns="0" rIns="0" bIns="0" anchor="t">
            <a:normAutofit/>
          </a:bodyPr>
          <a:lstStyle/>
          <a:p>
            <a:pPr algn="l">
              <a:lnSpc>
                <a:spcPct val="115000"/>
              </a:lnSpc>
              <a:spcAft>
                <a:spcPts val="400"/>
              </a:spcAft>
            </a:pPr>
            <a:r>
              <a:rPr sz="2000" b="1">
                <a:solidFill>
                  <a:srgbClr val="1CA7C4"/>
                </a:solidFill>
                <a:latin typeface="Segoe UI"/>
              </a:rPr>
              <a:t>5</a:t>
            </a:r>
          </a:p>
        </p:txBody>
      </p:sp>
      <p:sp>
        <p:nvSpPr>
          <p:cNvPr id="39" name="TextBox 38"/>
          <p:cNvSpPr txBox="1"/>
          <p:nvPr/>
        </p:nvSpPr>
        <p:spPr>
          <a:xfrm>
            <a:off x="1252728" y="4892040"/>
            <a:ext cx="7040880" cy="256032"/>
          </a:xfrm>
          <a:prstGeom prst="rect">
            <a:avLst/>
          </a:prstGeom>
          <a:noFill/>
        </p:spPr>
        <p:txBody>
          <a:bodyPr wrap="square" lIns="0" tIns="0" rIns="0" bIns="0" anchor="t">
            <a:normAutofit/>
          </a:bodyPr>
          <a:lstStyle/>
          <a:p>
            <a:pPr algn="l">
              <a:lnSpc>
                <a:spcPct val="115000"/>
              </a:lnSpc>
              <a:spcAft>
                <a:spcPts val="400"/>
              </a:spcAft>
            </a:pPr>
            <a:r>
              <a:rPr sz="1250" b="1">
                <a:solidFill>
                  <a:srgbClr val="0B4F71"/>
                </a:solidFill>
                <a:latin typeface="Segoe UI"/>
              </a:rPr>
              <a:t>Test A/B sur le pitch, et regarder d'abord la joignabilité</a:t>
            </a:r>
          </a:p>
        </p:txBody>
      </p:sp>
      <p:sp>
        <p:nvSpPr>
          <p:cNvPr id="40" name="TextBox 39"/>
          <p:cNvSpPr txBox="1"/>
          <p:nvPr/>
        </p:nvSpPr>
        <p:spPr>
          <a:xfrm>
            <a:off x="1252728" y="5193792"/>
            <a:ext cx="8138160" cy="438912"/>
          </a:xfrm>
          <a:prstGeom prst="rect">
            <a:avLst/>
          </a:prstGeom>
          <a:noFill/>
        </p:spPr>
        <p:txBody>
          <a:bodyPr wrap="square" lIns="0" tIns="0" rIns="0" bIns="0" anchor="t">
            <a:normAutofit/>
          </a:bodyPr>
          <a:lstStyle/>
          <a:p>
            <a:pPr algn="l">
              <a:lnSpc>
                <a:spcPct val="112000"/>
              </a:lnSpc>
              <a:spcAft>
                <a:spcPts val="400"/>
              </a:spcAft>
            </a:pPr>
            <a:r>
              <a:rPr sz="950" b="0">
                <a:solidFill>
                  <a:srgbClr val="33444F"/>
                </a:solidFill>
                <a:latin typeface="Segoe UI"/>
              </a:rPr>
              <a:t>Rien ne prouve que le pitch nuit, rien ne prouve qu'il rapporte. Le trancher demanderait 2 300 prospects par groupe, soit plus de deux ans de collecte : autant assumer l'incertitude. En revanche 68 % des prospects ne sont jamais joints — un levier bien plus grand que le contenu du pitch.</a:t>
            </a:r>
          </a:p>
        </p:txBody>
      </p:sp>
      <p:sp>
        <p:nvSpPr>
          <p:cNvPr id="41" name="Rectangle 40"/>
          <p:cNvSpPr/>
          <p:nvPr/>
        </p:nvSpPr>
        <p:spPr>
          <a:xfrm>
            <a:off x="9601200" y="5047488"/>
            <a:ext cx="1965960" cy="365760"/>
          </a:xfrm>
          <a:prstGeom prst="rect">
            <a:avLst/>
          </a:prstGeom>
          <a:solidFill>
            <a:srgbClr val="F0F5F8"/>
          </a:solidFill>
          <a:ln w="8890">
            <a:solidFill>
              <a:srgbClr val="1CA7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692640" y="5120640"/>
            <a:ext cx="1783080" cy="228600"/>
          </a:xfrm>
          <a:prstGeom prst="rect">
            <a:avLst/>
          </a:prstGeom>
          <a:noFill/>
        </p:spPr>
        <p:txBody>
          <a:bodyPr wrap="square" lIns="0" tIns="0" rIns="0" bIns="0" anchor="t">
            <a:normAutofit/>
          </a:bodyPr>
          <a:lstStyle/>
          <a:p>
            <a:pPr algn="ctr">
              <a:lnSpc>
                <a:spcPct val="115000"/>
              </a:lnSpc>
              <a:spcAft>
                <a:spcPts val="400"/>
              </a:spcAft>
            </a:pPr>
            <a:r>
              <a:rPr sz="1000" b="1">
                <a:solidFill>
                  <a:srgbClr val="1CA7C4"/>
                </a:solidFill>
                <a:latin typeface="Segoe UI"/>
              </a:rPr>
              <a:t>68 % non joints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185855" cy="457200"/>
          </a:xfrm>
          <a:prstGeom prst="rect">
            <a:avLst/>
          </a:prstGeom>
          <a:noFill/>
        </p:spPr>
        <p:txBody>
          <a:bodyPr wrap="square" lIns="0" tIns="0" rIns="0" bIns="0" anchor="t">
            <a:normAutofit/>
          </a:bodyPr>
          <a:lstStyle/>
          <a:p>
            <a:pPr algn="l">
              <a:lnSpc>
                <a:spcPct val="115000"/>
              </a:lnSpc>
              <a:spcAft>
                <a:spcPts val="400"/>
              </a:spcAft>
            </a:pPr>
            <a:r>
              <a:rPr sz="2500" b="1">
                <a:solidFill>
                  <a:srgbClr val="0B4F71"/>
                </a:solidFill>
                <a:latin typeface="Segoe UI"/>
              </a:rPr>
              <a:t>Ce que ça rapporte, à budget total inchangé</a:t>
            </a:r>
          </a:p>
        </p:txBody>
      </p:sp>
      <p:sp>
        <p:nvSpPr>
          <p:cNvPr id="5" name="TextBox 4"/>
          <p:cNvSpPr txBox="1"/>
          <p:nvPr/>
        </p:nvSpPr>
        <p:spPr>
          <a:xfrm>
            <a:off x="502920" y="896112"/>
            <a:ext cx="11185855" cy="457200"/>
          </a:xfrm>
          <a:prstGeom prst="rect">
            <a:avLst/>
          </a:prstGeom>
          <a:noFill/>
        </p:spPr>
        <p:txBody>
          <a:bodyPr wrap="square" lIns="0" tIns="0" rIns="0" bIns="0" anchor="t">
            <a:normAutofit/>
          </a:bodyPr>
          <a:lstStyle/>
          <a:p>
            <a:pPr algn="l">
              <a:lnSpc>
                <a:spcPct val="115000"/>
              </a:lnSpc>
              <a:spcAft>
                <a:spcPts val="0"/>
              </a:spcAft>
            </a:pPr>
            <a:r>
              <a:rPr sz="1300" b="0">
                <a:solidFill>
                  <a:srgbClr val="33444F"/>
                </a:solidFill>
                <a:latin typeface="Segoe UI"/>
              </a:rPr>
              <a:t>Les 70 000 € ne bougent pas. Seule leur répartition change.</a:t>
            </a:r>
          </a:p>
        </p:txBody>
      </p:sp>
      <p:sp>
        <p:nvSpPr>
          <p:cNvPr id="6" name="Rectangle 5"/>
          <p:cNvSpPr/>
          <p:nvPr/>
        </p:nvSpPr>
        <p:spPr>
          <a:xfrm>
            <a:off x="0" y="6574536"/>
            <a:ext cx="12191695" cy="18288"/>
          </a:xfrm>
          <a:prstGeom prst="rect">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620256"/>
            <a:ext cx="7315200" cy="219456"/>
          </a:xfrm>
          <a:prstGeom prst="rect">
            <a:avLst/>
          </a:prstGeom>
          <a:noFill/>
        </p:spPr>
        <p:txBody>
          <a:bodyPr wrap="square" lIns="0" tIns="0" rIns="0" bIns="0" anchor="t">
            <a:normAutofit/>
          </a:bodyPr>
          <a:lstStyle/>
          <a:p>
            <a:pPr algn="l">
              <a:lnSpc>
                <a:spcPct val="115000"/>
              </a:lnSpc>
              <a:spcAft>
                <a:spcPts val="400"/>
              </a:spcAft>
            </a:pPr>
            <a:r>
              <a:rPr sz="850" b="0">
                <a:solidFill>
                  <a:srgbClr val="8B98A5"/>
                </a:solidFill>
                <a:latin typeface="Segoe UI"/>
              </a:rPr>
              <a:t>Garanteo · Projet final DataBird · Sophie Paradon</a:t>
            </a:r>
          </a:p>
        </p:txBody>
      </p:sp>
      <p:sp>
        <p:nvSpPr>
          <p:cNvPr id="8" name="TextBox 7"/>
          <p:cNvSpPr txBox="1"/>
          <p:nvPr/>
        </p:nvSpPr>
        <p:spPr>
          <a:xfrm>
            <a:off x="8579815" y="6620256"/>
            <a:ext cx="3108960" cy="219456"/>
          </a:xfrm>
          <a:prstGeom prst="rect">
            <a:avLst/>
          </a:prstGeom>
          <a:noFill/>
        </p:spPr>
        <p:txBody>
          <a:bodyPr wrap="square" lIns="0" tIns="0" rIns="0" bIns="0" anchor="t">
            <a:normAutofit/>
          </a:bodyPr>
          <a:lstStyle/>
          <a:p>
            <a:pPr algn="r">
              <a:lnSpc>
                <a:spcPct val="115000"/>
              </a:lnSpc>
              <a:spcAft>
                <a:spcPts val="400"/>
              </a:spcAft>
            </a:pPr>
            <a:r>
              <a:rPr sz="850" b="0">
                <a:solidFill>
                  <a:srgbClr val="8B98A5"/>
                </a:solidFill>
                <a:latin typeface="Segoe UI"/>
              </a:rPr>
              <a:t>Recommandations   ·   24</a:t>
            </a:r>
          </a:p>
        </p:txBody>
      </p:sp>
      <p:pic>
        <p:nvPicPr>
          <p:cNvPr id="9" name="Picture 8" descr="07_scenario.png"/>
          <p:cNvPicPr>
            <a:picLocks noChangeAspect="1"/>
          </p:cNvPicPr>
          <p:nvPr/>
        </p:nvPicPr>
        <p:blipFill>
          <a:blip r:embed="rId3"/>
          <a:stretch>
            <a:fillRect/>
          </a:stretch>
        </p:blipFill>
        <p:spPr>
          <a:xfrm>
            <a:off x="365760" y="1426464"/>
            <a:ext cx="7223760" cy="3950208"/>
          </a:xfrm>
          <a:prstGeom prst="rect">
            <a:avLst/>
          </a:prstGeom>
        </p:spPr>
      </p:pic>
      <p:sp>
        <p:nvSpPr>
          <p:cNvPr id="10" name="Rectangle 9"/>
          <p:cNvSpPr/>
          <p:nvPr/>
        </p:nvSpPr>
        <p:spPr>
          <a:xfrm>
            <a:off x="7818120" y="1472184"/>
            <a:ext cx="3474720" cy="1234440"/>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818120" y="1472184"/>
            <a:ext cx="3474720" cy="50292"/>
          </a:xfrm>
          <a:prstGeom prst="rect">
            <a:avLst/>
          </a:prstGeom>
          <a:solidFill>
            <a:srgbClr val="3AA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01000" y="1709928"/>
            <a:ext cx="3108960" cy="502920"/>
          </a:xfrm>
          <a:prstGeom prst="rect">
            <a:avLst/>
          </a:prstGeom>
          <a:noFill/>
        </p:spPr>
        <p:txBody>
          <a:bodyPr wrap="square" lIns="0" tIns="0" rIns="0" bIns="0" anchor="t">
            <a:normAutofit/>
          </a:bodyPr>
          <a:lstStyle/>
          <a:p>
            <a:pPr algn="l">
              <a:lnSpc>
                <a:spcPct val="115000"/>
              </a:lnSpc>
              <a:spcAft>
                <a:spcPts val="400"/>
              </a:spcAft>
            </a:pPr>
            <a:r>
              <a:rPr sz="2700" b="1">
                <a:solidFill>
                  <a:srgbClr val="3AA65C"/>
                </a:solidFill>
                <a:latin typeface="Segoe UI"/>
              </a:rPr>
              <a:t>+9,5 clients</a:t>
            </a:r>
          </a:p>
        </p:txBody>
      </p:sp>
      <p:sp>
        <p:nvSpPr>
          <p:cNvPr id="13" name="TextBox 12"/>
          <p:cNvSpPr txBox="1"/>
          <p:nvPr/>
        </p:nvSpPr>
        <p:spPr>
          <a:xfrm>
            <a:off x="8001000" y="2258568"/>
            <a:ext cx="3127248" cy="237744"/>
          </a:xfrm>
          <a:prstGeom prst="rect">
            <a:avLst/>
          </a:prstGeom>
          <a:noFill/>
        </p:spPr>
        <p:txBody>
          <a:bodyPr wrap="square" lIns="0" tIns="0" rIns="0" bIns="0" anchor="t">
            <a:normAutofit/>
          </a:bodyPr>
          <a:lstStyle/>
          <a:p>
            <a:pPr algn="l">
              <a:lnSpc>
                <a:spcPct val="115000"/>
              </a:lnSpc>
              <a:spcAft>
                <a:spcPts val="0"/>
              </a:spcAft>
            </a:pPr>
            <a:r>
              <a:rPr sz="1050" b="0">
                <a:solidFill>
                  <a:srgbClr val="33444F"/>
                </a:solidFill>
                <a:latin typeface="Segoe UI"/>
              </a:rPr>
              <a:t>Gain attendu sur l'année</a:t>
            </a:r>
          </a:p>
        </p:txBody>
      </p:sp>
      <p:sp>
        <p:nvSpPr>
          <p:cNvPr id="14" name="TextBox 13"/>
          <p:cNvSpPr txBox="1"/>
          <p:nvPr/>
        </p:nvSpPr>
        <p:spPr>
          <a:xfrm>
            <a:off x="8001000" y="2514600"/>
            <a:ext cx="3127248" cy="237744"/>
          </a:xfrm>
          <a:prstGeom prst="rect">
            <a:avLst/>
          </a:prstGeom>
          <a:noFill/>
        </p:spPr>
        <p:txBody>
          <a:bodyPr wrap="square" lIns="0" tIns="0" rIns="0" bIns="0" anchor="t">
            <a:normAutofit/>
          </a:bodyPr>
          <a:lstStyle/>
          <a:p>
            <a:pPr algn="l">
              <a:lnSpc>
                <a:spcPct val="115000"/>
              </a:lnSpc>
              <a:spcAft>
                <a:spcPts val="0"/>
              </a:spcAft>
            </a:pPr>
            <a:r>
              <a:rPr sz="850" b="0" dirty="0" err="1">
                <a:solidFill>
                  <a:srgbClr val="8B98A5"/>
                </a:solidFill>
                <a:latin typeface="Segoe UI"/>
              </a:rPr>
              <a:t>soit</a:t>
            </a:r>
            <a:r>
              <a:rPr sz="850" b="0" dirty="0">
                <a:solidFill>
                  <a:srgbClr val="8B98A5"/>
                </a:solidFill>
                <a:latin typeface="Segoe UI"/>
              </a:rPr>
              <a:t> +5,3 % de clients acquis</a:t>
            </a:r>
          </a:p>
        </p:txBody>
      </p:sp>
      <p:sp>
        <p:nvSpPr>
          <p:cNvPr id="15" name="Rectangle 14"/>
          <p:cNvSpPr/>
          <p:nvPr/>
        </p:nvSpPr>
        <p:spPr>
          <a:xfrm>
            <a:off x="7818120" y="2816352"/>
            <a:ext cx="3474720" cy="1234440"/>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818120" y="2816352"/>
            <a:ext cx="3474720" cy="50292"/>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01000" y="3054096"/>
            <a:ext cx="3108960" cy="502920"/>
          </a:xfrm>
          <a:prstGeom prst="rect">
            <a:avLst/>
          </a:prstGeom>
          <a:noFill/>
        </p:spPr>
        <p:txBody>
          <a:bodyPr wrap="square" lIns="0" tIns="0" rIns="0" bIns="0" anchor="t">
            <a:normAutofit/>
          </a:bodyPr>
          <a:lstStyle/>
          <a:p>
            <a:pPr algn="l">
              <a:lnSpc>
                <a:spcPct val="115000"/>
              </a:lnSpc>
              <a:spcAft>
                <a:spcPts val="400"/>
              </a:spcAft>
            </a:pPr>
            <a:r>
              <a:rPr sz="2700" b="1">
                <a:solidFill>
                  <a:srgbClr val="0B4F71"/>
                </a:solidFill>
                <a:latin typeface="Segoe UI"/>
              </a:rPr>
              <a:t>389 € → 369 €</a:t>
            </a:r>
          </a:p>
        </p:txBody>
      </p:sp>
      <p:sp>
        <p:nvSpPr>
          <p:cNvPr id="18" name="TextBox 17"/>
          <p:cNvSpPr txBox="1"/>
          <p:nvPr/>
        </p:nvSpPr>
        <p:spPr>
          <a:xfrm>
            <a:off x="8001000" y="3474720"/>
            <a:ext cx="3127248" cy="237744"/>
          </a:xfrm>
          <a:prstGeom prst="rect">
            <a:avLst/>
          </a:prstGeom>
          <a:noFill/>
        </p:spPr>
        <p:txBody>
          <a:bodyPr wrap="square" lIns="0" tIns="0" rIns="0" bIns="0" anchor="t">
            <a:normAutofit/>
          </a:bodyPr>
          <a:lstStyle/>
          <a:p>
            <a:pPr algn="l">
              <a:lnSpc>
                <a:spcPct val="115000"/>
              </a:lnSpc>
              <a:spcAft>
                <a:spcPts val="0"/>
              </a:spcAft>
            </a:pPr>
            <a:r>
              <a:rPr sz="1050" b="0">
                <a:solidFill>
                  <a:srgbClr val="33444F"/>
                </a:solidFill>
                <a:latin typeface="Segoe UI"/>
              </a:rPr>
              <a:t>Coût d'acquisition global</a:t>
            </a:r>
          </a:p>
        </p:txBody>
      </p:sp>
      <p:sp>
        <p:nvSpPr>
          <p:cNvPr id="19" name="TextBox 18"/>
          <p:cNvSpPr txBox="1"/>
          <p:nvPr/>
        </p:nvSpPr>
        <p:spPr>
          <a:xfrm>
            <a:off x="7982712" y="3730752"/>
            <a:ext cx="3127248" cy="237744"/>
          </a:xfrm>
          <a:prstGeom prst="rect">
            <a:avLst/>
          </a:prstGeom>
          <a:noFill/>
        </p:spPr>
        <p:txBody>
          <a:bodyPr wrap="square" lIns="0" tIns="0" rIns="0" bIns="0" anchor="t">
            <a:normAutofit/>
          </a:bodyPr>
          <a:lstStyle/>
          <a:p>
            <a:pPr algn="l">
              <a:lnSpc>
                <a:spcPct val="115000"/>
              </a:lnSpc>
              <a:spcAft>
                <a:spcPts val="0"/>
              </a:spcAft>
            </a:pPr>
            <a:r>
              <a:rPr sz="850" b="0" dirty="0">
                <a:solidFill>
                  <a:srgbClr val="8B98A5"/>
                </a:solidFill>
                <a:latin typeface="Segoe UI"/>
              </a:rPr>
              <a:t>−5,0 %, sans </a:t>
            </a:r>
            <a:r>
              <a:rPr sz="850" b="0" dirty="0" err="1">
                <a:solidFill>
                  <a:srgbClr val="8B98A5"/>
                </a:solidFill>
                <a:latin typeface="Segoe UI"/>
              </a:rPr>
              <a:t>dépenser</a:t>
            </a:r>
            <a:r>
              <a:rPr sz="850" b="0" dirty="0">
                <a:solidFill>
                  <a:srgbClr val="8B98A5"/>
                </a:solidFill>
                <a:latin typeface="Segoe UI"/>
              </a:rPr>
              <a:t> un euro de plus</a:t>
            </a:r>
          </a:p>
        </p:txBody>
      </p:sp>
      <p:sp>
        <p:nvSpPr>
          <p:cNvPr id="20" name="Rectangle 19"/>
          <p:cNvSpPr/>
          <p:nvPr/>
        </p:nvSpPr>
        <p:spPr>
          <a:xfrm>
            <a:off x="7818120" y="4105656"/>
            <a:ext cx="3474720" cy="1371600"/>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818120" y="4105656"/>
            <a:ext cx="50292" cy="1371600"/>
          </a:xfrm>
          <a:prstGeom prst="rect">
            <a:avLst/>
          </a:prstGeom>
          <a:solidFill>
            <a:srgbClr val="F2A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74152" y="4242816"/>
            <a:ext cx="3054096" cy="292608"/>
          </a:xfrm>
          <a:prstGeom prst="rect">
            <a:avLst/>
          </a:prstGeom>
          <a:noFill/>
        </p:spPr>
        <p:txBody>
          <a:bodyPr wrap="square" lIns="0" tIns="0" rIns="0" bIns="0" anchor="t">
            <a:normAutofit/>
          </a:bodyPr>
          <a:lstStyle/>
          <a:p>
            <a:pPr algn="l">
              <a:lnSpc>
                <a:spcPct val="115000"/>
              </a:lnSpc>
              <a:spcAft>
                <a:spcPts val="0"/>
              </a:spcAft>
            </a:pPr>
            <a:r>
              <a:rPr sz="1250" b="1" dirty="0">
                <a:solidFill>
                  <a:srgbClr val="F2A354"/>
                </a:solidFill>
                <a:latin typeface="Segoe UI"/>
              </a:rPr>
              <a:t>La </a:t>
            </a:r>
            <a:r>
              <a:rPr sz="1250" b="1" dirty="0" err="1">
                <a:solidFill>
                  <a:srgbClr val="F2A354"/>
                </a:solidFill>
                <a:latin typeface="Segoe UI"/>
              </a:rPr>
              <a:t>réserve</a:t>
            </a:r>
            <a:r>
              <a:rPr sz="1250" b="1" dirty="0">
                <a:solidFill>
                  <a:srgbClr val="F2A354"/>
                </a:solidFill>
                <a:latin typeface="Segoe UI"/>
              </a:rPr>
              <a:t>, et je </a:t>
            </a:r>
            <a:r>
              <a:rPr sz="1250" b="1" dirty="0" err="1">
                <a:solidFill>
                  <a:srgbClr val="F2A354"/>
                </a:solidFill>
                <a:latin typeface="Segoe UI"/>
              </a:rPr>
              <a:t>l'assume</a:t>
            </a:r>
            <a:endParaRPr sz="1250" b="1" dirty="0">
              <a:solidFill>
                <a:srgbClr val="F2A354"/>
              </a:solidFill>
              <a:latin typeface="Segoe UI"/>
            </a:endParaRPr>
          </a:p>
        </p:txBody>
      </p:sp>
      <p:sp>
        <p:nvSpPr>
          <p:cNvPr id="23" name="TextBox 22"/>
          <p:cNvSpPr txBox="1"/>
          <p:nvPr/>
        </p:nvSpPr>
        <p:spPr>
          <a:xfrm>
            <a:off x="8074152" y="4581144"/>
            <a:ext cx="3054096" cy="749808"/>
          </a:xfrm>
          <a:prstGeom prst="rect">
            <a:avLst/>
          </a:prstGeom>
          <a:noFill/>
        </p:spPr>
        <p:txBody>
          <a:bodyPr wrap="square" lIns="0" tIns="0" rIns="0" bIns="0" anchor="t">
            <a:normAutofit/>
          </a:bodyPr>
          <a:lstStyle/>
          <a:p>
            <a:pPr algn="l">
              <a:lnSpc>
                <a:spcPct val="122000"/>
              </a:lnSpc>
              <a:spcAft>
                <a:spcPts val="540"/>
              </a:spcAft>
            </a:pPr>
            <a:r>
              <a:rPr sz="990" b="0">
                <a:solidFill>
                  <a:srgbClr val="33444F"/>
                </a:solidFill>
                <a:latin typeface="Segoe UI"/>
              </a:rPr>
              <a:t>Le scénario suppose un CAC maintenu à volume plus élevé. La corrélation budget/conversion dit l'inverse (−0,64 ; p = 0,024). </a:t>
            </a:r>
            <a:r>
              <a:rPr sz="990" b="1">
                <a:solidFill>
                  <a:srgbClr val="D9534F"/>
                </a:solidFill>
                <a:latin typeface="Segoe UI"/>
              </a:rPr>
              <a:t>Le gain réel sera inférieur — d'où des paliers.</a:t>
            </a:r>
          </a:p>
        </p:txBody>
      </p:sp>
      <p:sp>
        <p:nvSpPr>
          <p:cNvPr id="24" name="TextBox 23"/>
          <p:cNvSpPr txBox="1"/>
          <p:nvPr/>
        </p:nvSpPr>
        <p:spPr>
          <a:xfrm>
            <a:off x="502920" y="5486400"/>
            <a:ext cx="11201400" cy="420624"/>
          </a:xfrm>
          <a:prstGeom prst="rect">
            <a:avLst/>
          </a:prstGeom>
          <a:noFill/>
        </p:spPr>
        <p:txBody>
          <a:bodyPr wrap="square" lIns="0" tIns="0" rIns="0" bIns="0" anchor="t">
            <a:normAutofit/>
          </a:bodyPr>
          <a:lstStyle/>
          <a:p>
            <a:pPr algn="l">
              <a:lnSpc>
                <a:spcPct val="115000"/>
              </a:lnSpc>
              <a:spcAft>
                <a:spcPts val="400"/>
              </a:spcAft>
            </a:pPr>
            <a:r>
              <a:rPr sz="1150" b="1">
                <a:solidFill>
                  <a:srgbClr val="0B4F71"/>
                </a:solidFill>
                <a:latin typeface="Segoe UI"/>
              </a:rPr>
              <a:t>Le CAC de référence retenu (359 €) n'est pas le meilleur du portefeuille : </a:t>
            </a:r>
            <a:r>
              <a:rPr sz="1150" b="0">
                <a:solidFill>
                  <a:srgbClr val="33444F"/>
                </a:solidFill>
                <a:latin typeface="Segoe UI"/>
              </a:rPr>
              <a:t>c'est celui des campagnes à la fois performantes et fiables (au moins 100 prospects). On évite ainsi de bâtir un scénario sur une campagne de 22 prospects.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185855" cy="457200"/>
          </a:xfrm>
          <a:prstGeom prst="rect">
            <a:avLst/>
          </a:prstGeom>
          <a:noFill/>
        </p:spPr>
        <p:txBody>
          <a:bodyPr wrap="square" lIns="0" tIns="0" rIns="0" bIns="0" anchor="t">
            <a:normAutofit/>
          </a:bodyPr>
          <a:lstStyle/>
          <a:p>
            <a:pPr algn="l">
              <a:lnSpc>
                <a:spcPct val="115000"/>
              </a:lnSpc>
              <a:spcAft>
                <a:spcPts val="400"/>
              </a:spcAft>
            </a:pPr>
            <a:r>
              <a:rPr sz="2500" b="1">
                <a:solidFill>
                  <a:srgbClr val="0B4F71"/>
                </a:solidFill>
                <a:latin typeface="Segoe UI"/>
              </a:rPr>
              <a:t>Les limites, et ce que Garanteo devrait collecter</a:t>
            </a:r>
          </a:p>
        </p:txBody>
      </p:sp>
      <p:sp>
        <p:nvSpPr>
          <p:cNvPr id="5" name="TextBox 4"/>
          <p:cNvSpPr txBox="1"/>
          <p:nvPr/>
        </p:nvSpPr>
        <p:spPr>
          <a:xfrm>
            <a:off x="502920" y="896112"/>
            <a:ext cx="11185855" cy="457200"/>
          </a:xfrm>
          <a:prstGeom prst="rect">
            <a:avLst/>
          </a:prstGeom>
          <a:noFill/>
        </p:spPr>
        <p:txBody>
          <a:bodyPr wrap="square" lIns="0" tIns="0" rIns="0" bIns="0" anchor="t">
            <a:normAutofit/>
          </a:bodyPr>
          <a:lstStyle/>
          <a:p>
            <a:pPr algn="l">
              <a:lnSpc>
                <a:spcPct val="115000"/>
              </a:lnSpc>
              <a:spcAft>
                <a:spcPts val="0"/>
              </a:spcAft>
            </a:pPr>
            <a:r>
              <a:rPr sz="1300" b="0">
                <a:solidFill>
                  <a:srgbClr val="33444F"/>
                </a:solidFill>
                <a:latin typeface="Segoe UI"/>
              </a:rPr>
              <a:t>Ce que ces données ne permettent pas de dire — et les 5 chantiers qui lèveraient ces limites.</a:t>
            </a:r>
          </a:p>
        </p:txBody>
      </p:sp>
      <p:sp>
        <p:nvSpPr>
          <p:cNvPr id="6" name="Rectangle 5"/>
          <p:cNvSpPr/>
          <p:nvPr/>
        </p:nvSpPr>
        <p:spPr>
          <a:xfrm>
            <a:off x="0" y="6574536"/>
            <a:ext cx="12191695" cy="18288"/>
          </a:xfrm>
          <a:prstGeom prst="rect">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620256"/>
            <a:ext cx="7315200" cy="219456"/>
          </a:xfrm>
          <a:prstGeom prst="rect">
            <a:avLst/>
          </a:prstGeom>
          <a:noFill/>
        </p:spPr>
        <p:txBody>
          <a:bodyPr wrap="square" lIns="0" tIns="0" rIns="0" bIns="0" anchor="t">
            <a:normAutofit/>
          </a:bodyPr>
          <a:lstStyle/>
          <a:p>
            <a:pPr algn="l">
              <a:lnSpc>
                <a:spcPct val="115000"/>
              </a:lnSpc>
              <a:spcAft>
                <a:spcPts val="400"/>
              </a:spcAft>
            </a:pPr>
            <a:r>
              <a:rPr sz="850" b="0">
                <a:solidFill>
                  <a:srgbClr val="8B98A5"/>
                </a:solidFill>
                <a:latin typeface="Segoe UI"/>
              </a:rPr>
              <a:t>Garanteo · Projet final DataBird · Sophie Paradon</a:t>
            </a:r>
          </a:p>
        </p:txBody>
      </p:sp>
      <p:sp>
        <p:nvSpPr>
          <p:cNvPr id="8" name="TextBox 7"/>
          <p:cNvSpPr txBox="1"/>
          <p:nvPr/>
        </p:nvSpPr>
        <p:spPr>
          <a:xfrm>
            <a:off x="8579815" y="6620256"/>
            <a:ext cx="3108960" cy="219456"/>
          </a:xfrm>
          <a:prstGeom prst="rect">
            <a:avLst/>
          </a:prstGeom>
          <a:noFill/>
        </p:spPr>
        <p:txBody>
          <a:bodyPr wrap="square" lIns="0" tIns="0" rIns="0" bIns="0" anchor="t">
            <a:normAutofit/>
          </a:bodyPr>
          <a:lstStyle/>
          <a:p>
            <a:pPr algn="r">
              <a:lnSpc>
                <a:spcPct val="115000"/>
              </a:lnSpc>
              <a:spcAft>
                <a:spcPts val="400"/>
              </a:spcAft>
            </a:pPr>
            <a:r>
              <a:rPr sz="850" b="0">
                <a:solidFill>
                  <a:srgbClr val="8B98A5"/>
                </a:solidFill>
                <a:latin typeface="Segoe UI"/>
              </a:rPr>
              <a:t>Recommandations   ·   25</a:t>
            </a:r>
          </a:p>
        </p:txBody>
      </p:sp>
      <p:sp>
        <p:nvSpPr>
          <p:cNvPr id="9" name="TextBox 8"/>
          <p:cNvSpPr txBox="1"/>
          <p:nvPr/>
        </p:nvSpPr>
        <p:spPr>
          <a:xfrm>
            <a:off x="502920" y="1426464"/>
            <a:ext cx="5394960" cy="274320"/>
          </a:xfrm>
          <a:prstGeom prst="rect">
            <a:avLst/>
          </a:prstGeom>
          <a:noFill/>
        </p:spPr>
        <p:txBody>
          <a:bodyPr wrap="square" lIns="0" tIns="0" rIns="0" bIns="0" anchor="t">
            <a:normAutofit/>
          </a:bodyPr>
          <a:lstStyle/>
          <a:p>
            <a:pPr algn="l">
              <a:lnSpc>
                <a:spcPct val="115000"/>
              </a:lnSpc>
              <a:spcAft>
                <a:spcPts val="400"/>
              </a:spcAft>
            </a:pPr>
            <a:r>
              <a:rPr sz="1250" b="1">
                <a:solidFill>
                  <a:srgbClr val="D9534F"/>
                </a:solidFill>
                <a:latin typeface="Segoe UI"/>
              </a:rPr>
              <a:t>Ce que l'analyse ne peut pas dire</a:t>
            </a:r>
          </a:p>
        </p:txBody>
      </p:sp>
      <p:sp>
        <p:nvSpPr>
          <p:cNvPr id="10" name="Rectangle 9"/>
          <p:cNvSpPr/>
          <p:nvPr/>
        </p:nvSpPr>
        <p:spPr>
          <a:xfrm>
            <a:off x="502920" y="1792224"/>
            <a:ext cx="5394960" cy="822960"/>
          </a:xfrm>
          <a:prstGeom prst="rect">
            <a:avLst/>
          </a:prstGeom>
          <a:solidFill>
            <a:srgbClr val="FFFFFF"/>
          </a:solidFill>
          <a:ln w="889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1792224"/>
            <a:ext cx="50292" cy="822960"/>
          </a:xfrm>
          <a:prstGeom prst="rect">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04088" y="1911095"/>
            <a:ext cx="5029200" cy="256032"/>
          </a:xfrm>
          <a:prstGeom prst="rect">
            <a:avLst/>
          </a:prstGeom>
          <a:noFill/>
        </p:spPr>
        <p:txBody>
          <a:bodyPr wrap="square" lIns="0" tIns="0" rIns="0" bIns="0" anchor="t">
            <a:normAutofit/>
          </a:bodyPr>
          <a:lstStyle/>
          <a:p>
            <a:pPr algn="l">
              <a:lnSpc>
                <a:spcPct val="115000"/>
              </a:lnSpc>
              <a:spcAft>
                <a:spcPts val="400"/>
              </a:spcAft>
            </a:pPr>
            <a:r>
              <a:rPr sz="1100" b="1">
                <a:solidFill>
                  <a:srgbClr val="0B4F71"/>
                </a:solidFill>
                <a:latin typeface="Segoe UI"/>
              </a:rPr>
              <a:t>Le clic de conversion n'est jamais tagué campagne</a:t>
            </a:r>
          </a:p>
        </p:txBody>
      </p:sp>
      <p:sp>
        <p:nvSpPr>
          <p:cNvPr id="13" name="TextBox 12"/>
          <p:cNvSpPr txBox="1"/>
          <p:nvPr/>
        </p:nvSpPr>
        <p:spPr>
          <a:xfrm>
            <a:off x="704088" y="2203704"/>
            <a:ext cx="5029200" cy="365760"/>
          </a:xfrm>
          <a:prstGeom prst="rect">
            <a:avLst/>
          </a:prstGeom>
          <a:noFill/>
        </p:spPr>
        <p:txBody>
          <a:bodyPr wrap="square" lIns="0" tIns="0" rIns="0" bIns="0" anchor="t">
            <a:normAutofit/>
          </a:bodyPr>
          <a:lstStyle/>
          <a:p>
            <a:pPr algn="l">
              <a:lnSpc>
                <a:spcPct val="115000"/>
              </a:lnSpc>
              <a:spcAft>
                <a:spcPts val="400"/>
              </a:spcAft>
            </a:pPr>
            <a:r>
              <a:rPr sz="950" b="0">
                <a:solidFill>
                  <a:srgbClr val="33444F"/>
                </a:solidFill>
                <a:latin typeface="Segoe UI"/>
              </a:rPr>
              <a:t>Le lien dépense → client ne peut qu'être reconstruit par attribution, jamais lu. C'est la cause racine de la mission.</a:t>
            </a:r>
          </a:p>
        </p:txBody>
      </p:sp>
      <p:sp>
        <p:nvSpPr>
          <p:cNvPr id="14" name="Rectangle 13"/>
          <p:cNvSpPr/>
          <p:nvPr/>
        </p:nvSpPr>
        <p:spPr>
          <a:xfrm>
            <a:off x="502920" y="2706624"/>
            <a:ext cx="5394960" cy="822960"/>
          </a:xfrm>
          <a:prstGeom prst="rect">
            <a:avLst/>
          </a:prstGeom>
          <a:solidFill>
            <a:srgbClr val="FFFFFF"/>
          </a:solidFill>
          <a:ln w="889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02920" y="2706624"/>
            <a:ext cx="50292" cy="822960"/>
          </a:xfrm>
          <a:prstGeom prst="rect">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04088" y="2825496"/>
            <a:ext cx="5029200" cy="256032"/>
          </a:xfrm>
          <a:prstGeom prst="rect">
            <a:avLst/>
          </a:prstGeom>
          <a:noFill/>
        </p:spPr>
        <p:txBody>
          <a:bodyPr wrap="square" lIns="0" tIns="0" rIns="0" bIns="0" anchor="t">
            <a:normAutofit/>
          </a:bodyPr>
          <a:lstStyle/>
          <a:p>
            <a:pPr algn="l">
              <a:lnSpc>
                <a:spcPct val="115000"/>
              </a:lnSpc>
              <a:spcAft>
                <a:spcPts val="400"/>
              </a:spcAft>
            </a:pPr>
            <a:r>
              <a:rPr sz="1100" b="1">
                <a:solidFill>
                  <a:srgbClr val="0B4F71"/>
                </a:solidFill>
                <a:latin typeface="Segoe UI"/>
              </a:rPr>
              <a:t>Les URLs sont anonymisées en page1 à page6</a:t>
            </a:r>
          </a:p>
        </p:txBody>
      </p:sp>
      <p:sp>
        <p:nvSpPr>
          <p:cNvPr id="17" name="TextBox 16"/>
          <p:cNvSpPr txBox="1"/>
          <p:nvPr/>
        </p:nvSpPr>
        <p:spPr>
          <a:xfrm>
            <a:off x="704088" y="3118104"/>
            <a:ext cx="5029200" cy="365760"/>
          </a:xfrm>
          <a:prstGeom prst="rect">
            <a:avLst/>
          </a:prstGeom>
          <a:noFill/>
        </p:spPr>
        <p:txBody>
          <a:bodyPr wrap="square" lIns="0" tIns="0" rIns="0" bIns="0" anchor="t">
            <a:normAutofit/>
          </a:bodyPr>
          <a:lstStyle/>
          <a:p>
            <a:pPr algn="l">
              <a:lnSpc>
                <a:spcPct val="115000"/>
              </a:lnSpc>
              <a:spcAft>
                <a:spcPts val="400"/>
              </a:spcAft>
            </a:pPr>
            <a:r>
              <a:rPr sz="950" b="0">
                <a:solidFill>
                  <a:srgbClr val="33444F"/>
                </a:solidFill>
                <a:latin typeface="Segoe UI"/>
              </a:rPr>
              <a:t>Impossible de dire quelle page ou quelle annonce convertit le mieux.</a:t>
            </a:r>
          </a:p>
        </p:txBody>
      </p:sp>
      <p:sp>
        <p:nvSpPr>
          <p:cNvPr id="18" name="Rectangle 17"/>
          <p:cNvSpPr/>
          <p:nvPr/>
        </p:nvSpPr>
        <p:spPr>
          <a:xfrm>
            <a:off x="502920" y="3621024"/>
            <a:ext cx="5394960" cy="822960"/>
          </a:xfrm>
          <a:prstGeom prst="rect">
            <a:avLst/>
          </a:prstGeom>
          <a:solidFill>
            <a:srgbClr val="FFFFFF"/>
          </a:solidFill>
          <a:ln w="889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02920" y="3621024"/>
            <a:ext cx="50292" cy="822960"/>
          </a:xfrm>
          <a:prstGeom prst="rect">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04088" y="3739896"/>
            <a:ext cx="5029200" cy="256032"/>
          </a:xfrm>
          <a:prstGeom prst="rect">
            <a:avLst/>
          </a:prstGeom>
          <a:noFill/>
        </p:spPr>
        <p:txBody>
          <a:bodyPr wrap="square" lIns="0" tIns="0" rIns="0" bIns="0" anchor="t">
            <a:normAutofit/>
          </a:bodyPr>
          <a:lstStyle/>
          <a:p>
            <a:pPr algn="l">
              <a:lnSpc>
                <a:spcPct val="115000"/>
              </a:lnSpc>
              <a:spcAft>
                <a:spcPts val="400"/>
              </a:spcAft>
            </a:pPr>
            <a:r>
              <a:rPr sz="1100" b="1">
                <a:solidFill>
                  <a:srgbClr val="0B4F71"/>
                </a:solidFill>
                <a:latin typeface="Segoe UI"/>
              </a:rPr>
              <a:t>La durée de session est plafonnée à 60 minutes</a:t>
            </a:r>
          </a:p>
        </p:txBody>
      </p:sp>
      <p:sp>
        <p:nvSpPr>
          <p:cNvPr id="21" name="TextBox 20"/>
          <p:cNvSpPr txBox="1"/>
          <p:nvPr/>
        </p:nvSpPr>
        <p:spPr>
          <a:xfrm>
            <a:off x="704088" y="4032504"/>
            <a:ext cx="5029200" cy="365760"/>
          </a:xfrm>
          <a:prstGeom prst="rect">
            <a:avLst/>
          </a:prstGeom>
          <a:noFill/>
        </p:spPr>
        <p:txBody>
          <a:bodyPr wrap="square" lIns="0" tIns="0" rIns="0" bIns="0" anchor="t">
            <a:normAutofit/>
          </a:bodyPr>
          <a:lstStyle/>
          <a:p>
            <a:pPr algn="l">
              <a:lnSpc>
                <a:spcPct val="115000"/>
              </a:lnSpc>
              <a:spcAft>
                <a:spcPts val="400"/>
              </a:spcAft>
            </a:pPr>
            <a:r>
              <a:rPr sz="950" b="0">
                <a:solidFill>
                  <a:srgbClr val="33444F"/>
                </a:solidFill>
                <a:latin typeface="Segoe UI"/>
              </a:rPr>
              <a:t>Toute analyse de durée sous-estime l'engagement des visiteurs les plus intéressés.</a:t>
            </a:r>
          </a:p>
        </p:txBody>
      </p:sp>
      <p:sp>
        <p:nvSpPr>
          <p:cNvPr id="22" name="Rectangle 21"/>
          <p:cNvSpPr/>
          <p:nvPr/>
        </p:nvSpPr>
        <p:spPr>
          <a:xfrm>
            <a:off x="502920" y="4535424"/>
            <a:ext cx="5394960" cy="822960"/>
          </a:xfrm>
          <a:prstGeom prst="rect">
            <a:avLst/>
          </a:prstGeom>
          <a:solidFill>
            <a:srgbClr val="FFFFFF"/>
          </a:solidFill>
          <a:ln w="889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02920" y="4535424"/>
            <a:ext cx="50292" cy="822960"/>
          </a:xfrm>
          <a:prstGeom prst="rect">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04088" y="4654296"/>
            <a:ext cx="5029200" cy="256032"/>
          </a:xfrm>
          <a:prstGeom prst="rect">
            <a:avLst/>
          </a:prstGeom>
          <a:noFill/>
        </p:spPr>
        <p:txBody>
          <a:bodyPr wrap="square" lIns="0" tIns="0" rIns="0" bIns="0" anchor="t">
            <a:normAutofit/>
          </a:bodyPr>
          <a:lstStyle/>
          <a:p>
            <a:pPr algn="l">
              <a:lnSpc>
                <a:spcPct val="115000"/>
              </a:lnSpc>
              <a:spcAft>
                <a:spcPts val="400"/>
              </a:spcAft>
            </a:pPr>
            <a:r>
              <a:rPr sz="1100" b="1">
                <a:solidFill>
                  <a:srgbClr val="0B4F71"/>
                </a:solidFill>
                <a:latin typeface="Segoe UI"/>
              </a:rPr>
              <a:t>180 clients répartis sur 13 campagnes</a:t>
            </a:r>
          </a:p>
        </p:txBody>
      </p:sp>
      <p:sp>
        <p:nvSpPr>
          <p:cNvPr id="25" name="TextBox 24"/>
          <p:cNvSpPr txBox="1"/>
          <p:nvPr/>
        </p:nvSpPr>
        <p:spPr>
          <a:xfrm>
            <a:off x="704088" y="4946904"/>
            <a:ext cx="5029200" cy="365760"/>
          </a:xfrm>
          <a:prstGeom prst="rect">
            <a:avLst/>
          </a:prstGeom>
          <a:noFill/>
        </p:spPr>
        <p:txBody>
          <a:bodyPr wrap="square" lIns="0" tIns="0" rIns="0" bIns="0" anchor="t">
            <a:normAutofit/>
          </a:bodyPr>
          <a:lstStyle/>
          <a:p>
            <a:pPr algn="l">
              <a:lnSpc>
                <a:spcPct val="115000"/>
              </a:lnSpc>
              <a:spcAft>
                <a:spcPts val="400"/>
              </a:spcAft>
            </a:pPr>
            <a:r>
              <a:rPr sz="950" b="0">
                <a:solidFill>
                  <a:srgbClr val="33444F"/>
                </a:solidFill>
                <a:latin typeface="Segoe UI"/>
              </a:rPr>
              <a:t>Effectifs trop faibles pour prouver qu'une campagne convertit mieux qu'une autre.</a:t>
            </a:r>
          </a:p>
        </p:txBody>
      </p:sp>
      <p:sp>
        <p:nvSpPr>
          <p:cNvPr id="26" name="TextBox 25"/>
          <p:cNvSpPr txBox="1"/>
          <p:nvPr/>
        </p:nvSpPr>
        <p:spPr>
          <a:xfrm>
            <a:off x="6126480" y="1426464"/>
            <a:ext cx="5577840" cy="274320"/>
          </a:xfrm>
          <a:prstGeom prst="rect">
            <a:avLst/>
          </a:prstGeom>
          <a:noFill/>
        </p:spPr>
        <p:txBody>
          <a:bodyPr wrap="square" lIns="0" tIns="0" rIns="0" bIns="0" anchor="t">
            <a:normAutofit/>
          </a:bodyPr>
          <a:lstStyle/>
          <a:p>
            <a:pPr algn="l">
              <a:lnSpc>
                <a:spcPct val="115000"/>
              </a:lnSpc>
              <a:spcAft>
                <a:spcPts val="400"/>
              </a:spcAft>
            </a:pPr>
            <a:r>
              <a:rPr sz="1250" b="1">
                <a:solidFill>
                  <a:srgbClr val="3AA65C"/>
                </a:solidFill>
                <a:latin typeface="Segoe UI"/>
              </a:rPr>
              <a:t>Les 5 chantiers à ouvrir chez Garanteo</a:t>
            </a:r>
          </a:p>
        </p:txBody>
      </p:sp>
      <p:sp>
        <p:nvSpPr>
          <p:cNvPr id="27" name="Rectangle 26"/>
          <p:cNvSpPr/>
          <p:nvPr/>
        </p:nvSpPr>
        <p:spPr>
          <a:xfrm>
            <a:off x="6126480" y="1792224"/>
            <a:ext cx="5577840" cy="640080"/>
          </a:xfrm>
          <a:prstGeom prst="rect">
            <a:avLst/>
          </a:prstGeom>
          <a:solidFill>
            <a:srgbClr val="FFFFFF"/>
          </a:solidFill>
          <a:ln w="889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126480" y="1792224"/>
            <a:ext cx="50292" cy="640080"/>
          </a:xfrm>
          <a:prstGeom prst="rect">
            <a:avLst/>
          </a:prstGeom>
          <a:solidFill>
            <a:srgbClr val="3AA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36792" y="1874519"/>
            <a:ext cx="5212080" cy="502920"/>
          </a:xfrm>
          <a:prstGeom prst="rect">
            <a:avLst/>
          </a:prstGeom>
          <a:noFill/>
        </p:spPr>
        <p:txBody>
          <a:bodyPr wrap="square" lIns="0" tIns="0" rIns="0" bIns="0" anchor="t">
            <a:normAutofit/>
          </a:bodyPr>
          <a:lstStyle/>
          <a:p>
            <a:pPr algn="l">
              <a:lnSpc>
                <a:spcPct val="115000"/>
              </a:lnSpc>
              <a:spcAft>
                <a:spcPts val="400"/>
              </a:spcAft>
            </a:pPr>
            <a:r>
              <a:rPr sz="1000" b="0">
                <a:solidFill>
                  <a:srgbClr val="33444F"/>
                </a:solidFill>
                <a:latin typeface="Segoe UI"/>
              </a:rPr>
              <a:t>Taguer le clic de demande de rappel avec la campagne d'origine — cela supprimerait entièrement le besoin d'attribution reconstruite</a:t>
            </a:r>
          </a:p>
        </p:txBody>
      </p:sp>
      <p:sp>
        <p:nvSpPr>
          <p:cNvPr id="30" name="Rectangle 29"/>
          <p:cNvSpPr/>
          <p:nvPr/>
        </p:nvSpPr>
        <p:spPr>
          <a:xfrm>
            <a:off x="6126480" y="2514600"/>
            <a:ext cx="5577840" cy="640080"/>
          </a:xfrm>
          <a:prstGeom prst="rect">
            <a:avLst/>
          </a:prstGeom>
          <a:solidFill>
            <a:srgbClr val="FFFFFF"/>
          </a:solidFill>
          <a:ln w="889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126480" y="2514600"/>
            <a:ext cx="50292" cy="640080"/>
          </a:xfrm>
          <a:prstGeom prst="rect">
            <a:avLst/>
          </a:prstGeom>
          <a:solidFill>
            <a:srgbClr val="3AA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36792" y="2596896"/>
            <a:ext cx="5212080" cy="502920"/>
          </a:xfrm>
          <a:prstGeom prst="rect">
            <a:avLst/>
          </a:prstGeom>
          <a:noFill/>
        </p:spPr>
        <p:txBody>
          <a:bodyPr wrap="square" lIns="0" tIns="0" rIns="0" bIns="0" anchor="t">
            <a:normAutofit/>
          </a:bodyPr>
          <a:lstStyle/>
          <a:p>
            <a:pPr algn="l">
              <a:lnSpc>
                <a:spcPct val="115000"/>
              </a:lnSpc>
              <a:spcAft>
                <a:spcPts val="400"/>
              </a:spcAft>
            </a:pPr>
            <a:r>
              <a:rPr sz="1000" b="0">
                <a:solidFill>
                  <a:srgbClr val="33444F"/>
                </a:solidFill>
                <a:latin typeface="Segoe UI"/>
              </a:rPr>
              <a:t>Désanonymiser les URLs, ou fournir une table de correspondance</a:t>
            </a:r>
          </a:p>
        </p:txBody>
      </p:sp>
      <p:sp>
        <p:nvSpPr>
          <p:cNvPr id="33" name="Rectangle 32"/>
          <p:cNvSpPr/>
          <p:nvPr/>
        </p:nvSpPr>
        <p:spPr>
          <a:xfrm>
            <a:off x="6126480" y="3236976"/>
            <a:ext cx="5577840" cy="640080"/>
          </a:xfrm>
          <a:prstGeom prst="rect">
            <a:avLst/>
          </a:prstGeom>
          <a:solidFill>
            <a:srgbClr val="FFFFFF"/>
          </a:solidFill>
          <a:ln w="889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126480" y="3236976"/>
            <a:ext cx="50292" cy="640080"/>
          </a:xfrm>
          <a:prstGeom prst="rect">
            <a:avLst/>
          </a:prstGeom>
          <a:solidFill>
            <a:srgbClr val="3AA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36792" y="3319272"/>
            <a:ext cx="5212080" cy="502920"/>
          </a:xfrm>
          <a:prstGeom prst="rect">
            <a:avLst/>
          </a:prstGeom>
          <a:noFill/>
        </p:spPr>
        <p:txBody>
          <a:bodyPr wrap="square" lIns="0" tIns="0" rIns="0" bIns="0" anchor="t">
            <a:normAutofit/>
          </a:bodyPr>
          <a:lstStyle/>
          <a:p>
            <a:pPr algn="l">
              <a:lnSpc>
                <a:spcPct val="115000"/>
              </a:lnSpc>
              <a:spcAft>
                <a:spcPts val="400"/>
              </a:spcAft>
            </a:pPr>
            <a:r>
              <a:rPr sz="1000" b="0">
                <a:solidFill>
                  <a:srgbClr val="33444F"/>
                </a:solidFill>
                <a:latin typeface="Segoe UI"/>
              </a:rPr>
              <a:t>Mettre des contrôles à la saisie : unicité du prospect_id, valeurs autorisées pour le genre, codes pays ISO</a:t>
            </a:r>
          </a:p>
        </p:txBody>
      </p:sp>
      <p:sp>
        <p:nvSpPr>
          <p:cNvPr id="36" name="Rectangle 35"/>
          <p:cNvSpPr/>
          <p:nvPr/>
        </p:nvSpPr>
        <p:spPr>
          <a:xfrm>
            <a:off x="6126480" y="3959352"/>
            <a:ext cx="5577840" cy="640080"/>
          </a:xfrm>
          <a:prstGeom prst="rect">
            <a:avLst/>
          </a:prstGeom>
          <a:solidFill>
            <a:srgbClr val="FFFFFF"/>
          </a:solidFill>
          <a:ln w="889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126480" y="3959352"/>
            <a:ext cx="50292" cy="640080"/>
          </a:xfrm>
          <a:prstGeom prst="rect">
            <a:avLst/>
          </a:prstGeom>
          <a:solidFill>
            <a:srgbClr val="3AA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336792" y="4041648"/>
            <a:ext cx="5212080" cy="502920"/>
          </a:xfrm>
          <a:prstGeom prst="rect">
            <a:avLst/>
          </a:prstGeom>
          <a:noFill/>
        </p:spPr>
        <p:txBody>
          <a:bodyPr wrap="square" lIns="0" tIns="0" rIns="0" bIns="0" anchor="t">
            <a:normAutofit/>
          </a:bodyPr>
          <a:lstStyle/>
          <a:p>
            <a:pPr algn="l">
              <a:lnSpc>
                <a:spcPct val="115000"/>
              </a:lnSpc>
              <a:spcAft>
                <a:spcPts val="400"/>
              </a:spcAft>
            </a:pPr>
            <a:r>
              <a:rPr sz="1000" b="0">
                <a:solidFill>
                  <a:srgbClr val="33444F"/>
                </a:solidFill>
                <a:latin typeface="Segoe UI"/>
              </a:rPr>
              <a:t>Tracer la raison de non-joignabilité des prospects, pour attaquer les 68 % jamais joints</a:t>
            </a:r>
          </a:p>
        </p:txBody>
      </p:sp>
      <p:sp>
        <p:nvSpPr>
          <p:cNvPr id="39" name="Rectangle 38"/>
          <p:cNvSpPr/>
          <p:nvPr/>
        </p:nvSpPr>
        <p:spPr>
          <a:xfrm>
            <a:off x="6126480" y="4681728"/>
            <a:ext cx="5577840" cy="640080"/>
          </a:xfrm>
          <a:prstGeom prst="rect">
            <a:avLst/>
          </a:prstGeom>
          <a:solidFill>
            <a:srgbClr val="FFFFFF"/>
          </a:solidFill>
          <a:ln w="889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126480" y="4681728"/>
            <a:ext cx="50292" cy="640080"/>
          </a:xfrm>
          <a:prstGeom prst="rect">
            <a:avLst/>
          </a:prstGeom>
          <a:solidFill>
            <a:srgbClr val="3AA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336792" y="4764024"/>
            <a:ext cx="5212080" cy="502920"/>
          </a:xfrm>
          <a:prstGeom prst="rect">
            <a:avLst/>
          </a:prstGeom>
          <a:noFill/>
        </p:spPr>
        <p:txBody>
          <a:bodyPr wrap="square" lIns="0" tIns="0" rIns="0" bIns="0" anchor="t">
            <a:normAutofit/>
          </a:bodyPr>
          <a:lstStyle/>
          <a:p>
            <a:pPr algn="l">
              <a:lnSpc>
                <a:spcPct val="115000"/>
              </a:lnSpc>
              <a:spcAft>
                <a:spcPts val="400"/>
              </a:spcAft>
            </a:pPr>
            <a:r>
              <a:rPr sz="1000" b="0">
                <a:solidFill>
                  <a:srgbClr val="33444F"/>
                </a:solidFill>
                <a:latin typeface="Segoe UI"/>
              </a:rPr>
              <a:t>Relever le timeout de session au-delà de 60 minutes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A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371600"/>
            <a:ext cx="10424160" cy="640080"/>
          </a:xfrm>
          <a:prstGeom prst="rect">
            <a:avLst/>
          </a:prstGeom>
          <a:noFill/>
        </p:spPr>
        <p:txBody>
          <a:bodyPr wrap="square" lIns="0" tIns="0" rIns="0" bIns="0" anchor="t">
            <a:normAutofit/>
          </a:bodyPr>
          <a:lstStyle/>
          <a:p>
            <a:pPr algn="l">
              <a:lnSpc>
                <a:spcPct val="115000"/>
              </a:lnSpc>
              <a:spcAft>
                <a:spcPts val="400"/>
              </a:spcAft>
            </a:pPr>
            <a:r>
              <a:rPr sz="3200" b="1">
                <a:solidFill>
                  <a:srgbClr val="FFFFFF"/>
                </a:solidFill>
                <a:latin typeface="Segoe UI"/>
              </a:rPr>
              <a:t>Ce qu'il faut retenir</a:t>
            </a:r>
          </a:p>
        </p:txBody>
      </p:sp>
      <p:sp>
        <p:nvSpPr>
          <p:cNvPr id="5" name="Rectangle 4"/>
          <p:cNvSpPr/>
          <p:nvPr/>
        </p:nvSpPr>
        <p:spPr>
          <a:xfrm>
            <a:off x="868680" y="2286000"/>
            <a:ext cx="10424160" cy="932688"/>
          </a:xfrm>
          <a:prstGeom prst="rect">
            <a:avLst/>
          </a:prstGeom>
          <a:solidFill>
            <a:srgbClr val="0835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68680" y="2286000"/>
            <a:ext cx="54864" cy="932688"/>
          </a:xfrm>
          <a:prstGeom prst="rect">
            <a:avLst/>
          </a:prstGeom>
          <a:solidFill>
            <a:srgbClr val="F2A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43000" y="2432304"/>
            <a:ext cx="3291840" cy="365760"/>
          </a:xfrm>
          <a:prstGeom prst="rect">
            <a:avLst/>
          </a:prstGeom>
          <a:noFill/>
        </p:spPr>
        <p:txBody>
          <a:bodyPr wrap="square" lIns="0" tIns="0" rIns="0" bIns="0" anchor="t">
            <a:normAutofit/>
          </a:bodyPr>
          <a:lstStyle/>
          <a:p>
            <a:pPr algn="l">
              <a:lnSpc>
                <a:spcPct val="115000"/>
              </a:lnSpc>
              <a:spcAft>
                <a:spcPts val="400"/>
              </a:spcAft>
            </a:pPr>
            <a:r>
              <a:rPr sz="1800" b="1">
                <a:solidFill>
                  <a:srgbClr val="F2A354"/>
                </a:solidFill>
                <a:latin typeface="Segoe UI"/>
              </a:rPr>
              <a:t>389 €</a:t>
            </a:r>
          </a:p>
        </p:txBody>
      </p:sp>
      <p:sp>
        <p:nvSpPr>
          <p:cNvPr id="8" name="TextBox 7"/>
          <p:cNvSpPr txBox="1"/>
          <p:nvPr/>
        </p:nvSpPr>
        <p:spPr>
          <a:xfrm>
            <a:off x="4572000" y="2441448"/>
            <a:ext cx="6537960" cy="640080"/>
          </a:xfrm>
          <a:prstGeom prst="rect">
            <a:avLst/>
          </a:prstGeom>
          <a:noFill/>
        </p:spPr>
        <p:txBody>
          <a:bodyPr wrap="square" lIns="0" tIns="0" rIns="0" bIns="0" anchor="t">
            <a:normAutofit/>
          </a:bodyPr>
          <a:lstStyle/>
          <a:p>
            <a:pPr algn="l">
              <a:lnSpc>
                <a:spcPct val="120000"/>
              </a:lnSpc>
              <a:spcAft>
                <a:spcPts val="400"/>
              </a:spcAft>
            </a:pPr>
            <a:r>
              <a:rPr sz="1200" b="0">
                <a:solidFill>
                  <a:srgbClr val="C5DEEA"/>
                </a:solidFill>
                <a:latin typeface="Segoe UI"/>
              </a:rPr>
              <a:t>Le coût d'acquisition réel d'un client, pas 372 €. Le dédoublonnage change la décision.</a:t>
            </a:r>
          </a:p>
        </p:txBody>
      </p:sp>
      <p:sp>
        <p:nvSpPr>
          <p:cNvPr id="9" name="Rectangle 8"/>
          <p:cNvSpPr/>
          <p:nvPr/>
        </p:nvSpPr>
        <p:spPr>
          <a:xfrm>
            <a:off x="868680" y="3364991"/>
            <a:ext cx="10424160" cy="932688"/>
          </a:xfrm>
          <a:prstGeom prst="rect">
            <a:avLst/>
          </a:prstGeom>
          <a:solidFill>
            <a:srgbClr val="0835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68680" y="3364991"/>
            <a:ext cx="54864" cy="932688"/>
          </a:xfrm>
          <a:prstGeom prst="rect">
            <a:avLst/>
          </a:prstGeom>
          <a:solidFill>
            <a:srgbClr val="1CA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43000" y="3511296"/>
            <a:ext cx="3291840" cy="365760"/>
          </a:xfrm>
          <a:prstGeom prst="rect">
            <a:avLst/>
          </a:prstGeom>
          <a:noFill/>
        </p:spPr>
        <p:txBody>
          <a:bodyPr wrap="square" lIns="0" tIns="0" rIns="0" bIns="0" anchor="t">
            <a:normAutofit/>
          </a:bodyPr>
          <a:lstStyle/>
          <a:p>
            <a:pPr algn="l">
              <a:lnSpc>
                <a:spcPct val="115000"/>
              </a:lnSpc>
              <a:spcAft>
                <a:spcPts val="400"/>
              </a:spcAft>
            </a:pPr>
            <a:r>
              <a:rPr sz="1800" b="1">
                <a:solidFill>
                  <a:srgbClr val="1CA7C4"/>
                </a:solidFill>
                <a:latin typeface="Segoe UI"/>
              </a:rPr>
              <a:t>La règle d'attribution d'abord</a:t>
            </a:r>
          </a:p>
        </p:txBody>
      </p:sp>
      <p:sp>
        <p:nvSpPr>
          <p:cNvPr id="12" name="TextBox 11"/>
          <p:cNvSpPr txBox="1"/>
          <p:nvPr/>
        </p:nvSpPr>
        <p:spPr>
          <a:xfrm>
            <a:off x="4572000" y="3520439"/>
            <a:ext cx="6537960" cy="640080"/>
          </a:xfrm>
          <a:prstGeom prst="rect">
            <a:avLst/>
          </a:prstGeom>
          <a:noFill/>
        </p:spPr>
        <p:txBody>
          <a:bodyPr wrap="square" lIns="0" tIns="0" rIns="0" bIns="0" anchor="t">
            <a:normAutofit/>
          </a:bodyPr>
          <a:lstStyle/>
          <a:p>
            <a:pPr algn="l">
              <a:lnSpc>
                <a:spcPct val="120000"/>
              </a:lnSpc>
              <a:spcAft>
                <a:spcPts val="400"/>
              </a:spcAft>
            </a:pPr>
            <a:r>
              <a:rPr sz="1200" b="0">
                <a:solidFill>
                  <a:srgbClr val="C5DEEA"/>
                </a:solidFill>
                <a:latin typeface="Segoe UI"/>
              </a:rPr>
              <a:t>Le classement des campagnes s'inverse selon la méthode (Spearman −0,49). C'est la décision qui conditionne toutes les autres.</a:t>
            </a:r>
          </a:p>
        </p:txBody>
      </p:sp>
      <p:sp>
        <p:nvSpPr>
          <p:cNvPr id="13" name="Rectangle 12"/>
          <p:cNvSpPr/>
          <p:nvPr/>
        </p:nvSpPr>
        <p:spPr>
          <a:xfrm>
            <a:off x="868680" y="4443983"/>
            <a:ext cx="10424160" cy="932688"/>
          </a:xfrm>
          <a:prstGeom prst="rect">
            <a:avLst/>
          </a:prstGeom>
          <a:solidFill>
            <a:srgbClr val="0835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68680" y="4443983"/>
            <a:ext cx="54864" cy="932688"/>
          </a:xfrm>
          <a:prstGeom prst="rect">
            <a:avLst/>
          </a:prstGeom>
          <a:solidFill>
            <a:srgbClr val="3AA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43000" y="4590288"/>
            <a:ext cx="3291840" cy="365760"/>
          </a:xfrm>
          <a:prstGeom prst="rect">
            <a:avLst/>
          </a:prstGeom>
          <a:noFill/>
        </p:spPr>
        <p:txBody>
          <a:bodyPr wrap="square" lIns="0" tIns="0" rIns="0" bIns="0" anchor="t">
            <a:normAutofit/>
          </a:bodyPr>
          <a:lstStyle/>
          <a:p>
            <a:pPr algn="l">
              <a:lnSpc>
                <a:spcPct val="115000"/>
              </a:lnSpc>
              <a:spcAft>
                <a:spcPts val="400"/>
              </a:spcAft>
            </a:pPr>
            <a:r>
              <a:rPr sz="1800" b="1">
                <a:solidFill>
                  <a:srgbClr val="3AA65C"/>
                </a:solidFill>
                <a:latin typeface="Segoe UI"/>
              </a:rPr>
              <a:t>7 700 € à redéployer</a:t>
            </a:r>
          </a:p>
        </p:txBody>
      </p:sp>
      <p:sp>
        <p:nvSpPr>
          <p:cNvPr id="16" name="TextBox 15"/>
          <p:cNvSpPr txBox="1"/>
          <p:nvPr/>
        </p:nvSpPr>
        <p:spPr>
          <a:xfrm>
            <a:off x="4572000" y="4599431"/>
            <a:ext cx="6537960" cy="640080"/>
          </a:xfrm>
          <a:prstGeom prst="rect">
            <a:avLst/>
          </a:prstGeom>
          <a:noFill/>
        </p:spPr>
        <p:txBody>
          <a:bodyPr wrap="square" lIns="0" tIns="0" rIns="0" bIns="0" anchor="t">
            <a:normAutofit/>
          </a:bodyPr>
          <a:lstStyle/>
          <a:p>
            <a:pPr algn="l">
              <a:lnSpc>
                <a:spcPct val="120000"/>
              </a:lnSpc>
              <a:spcAft>
                <a:spcPts val="400"/>
              </a:spcAft>
            </a:pPr>
            <a:r>
              <a:rPr sz="1200" b="0">
                <a:solidFill>
                  <a:srgbClr val="C5DEEA"/>
                </a:solidFill>
                <a:latin typeface="Segoe UI"/>
              </a:rPr>
              <a:t>11 % du budget, +9,5 clients, CAC global à 369 €. Par paliers, avec mesure.</a:t>
            </a:r>
          </a:p>
        </p:txBody>
      </p:sp>
      <p:sp>
        <p:nvSpPr>
          <p:cNvPr id="17" name="Rectangle 16"/>
          <p:cNvSpPr/>
          <p:nvPr/>
        </p:nvSpPr>
        <p:spPr>
          <a:xfrm>
            <a:off x="886968" y="5742432"/>
            <a:ext cx="1280160" cy="32004"/>
          </a:xfrm>
          <a:prstGeom prst="rect">
            <a:avLst/>
          </a:prstGeom>
          <a:solidFill>
            <a:srgbClr val="1CA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 y="5989320"/>
            <a:ext cx="10424160" cy="365760"/>
          </a:xfrm>
          <a:prstGeom prst="rect">
            <a:avLst/>
          </a:prstGeom>
          <a:noFill/>
        </p:spPr>
        <p:txBody>
          <a:bodyPr wrap="square" lIns="0" tIns="0" rIns="0" bIns="0" anchor="t">
            <a:normAutofit/>
          </a:bodyPr>
          <a:lstStyle/>
          <a:p>
            <a:pPr algn="l">
              <a:lnSpc>
                <a:spcPct val="115000"/>
              </a:lnSpc>
              <a:spcAft>
                <a:spcPts val="400"/>
              </a:spcAft>
            </a:pPr>
            <a:r>
              <a:rPr sz="2000" b="1">
                <a:solidFill>
                  <a:srgbClr val="FFFFFF"/>
                </a:solidFill>
                <a:latin typeface="Segoe UI"/>
              </a:rPr>
              <a:t>Merci — vos questions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1CA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0" y="2331720"/>
            <a:ext cx="1828800" cy="1463040"/>
          </a:xfrm>
          <a:prstGeom prst="rect">
            <a:avLst/>
          </a:prstGeom>
          <a:noFill/>
        </p:spPr>
        <p:txBody>
          <a:bodyPr wrap="square" lIns="0" tIns="0" rIns="0" bIns="0" anchor="t">
            <a:normAutofit/>
          </a:bodyPr>
          <a:lstStyle/>
          <a:p>
            <a:pPr algn="l">
              <a:lnSpc>
                <a:spcPct val="115000"/>
              </a:lnSpc>
              <a:spcAft>
                <a:spcPts val="400"/>
              </a:spcAft>
            </a:pPr>
            <a:r>
              <a:rPr sz="10000" b="1">
                <a:solidFill>
                  <a:srgbClr val="2E86A6"/>
                </a:solidFill>
                <a:latin typeface="Segoe UI"/>
              </a:rPr>
              <a:t>A</a:t>
            </a:r>
          </a:p>
        </p:txBody>
      </p:sp>
      <p:sp>
        <p:nvSpPr>
          <p:cNvPr id="5" name="TextBox 4"/>
          <p:cNvSpPr txBox="1"/>
          <p:nvPr/>
        </p:nvSpPr>
        <p:spPr>
          <a:xfrm>
            <a:off x="3200400" y="2606040"/>
            <a:ext cx="7863840" cy="822960"/>
          </a:xfrm>
          <a:prstGeom prst="rect">
            <a:avLst/>
          </a:prstGeom>
          <a:noFill/>
        </p:spPr>
        <p:txBody>
          <a:bodyPr wrap="square" lIns="0" tIns="0" rIns="0" bIns="0" anchor="t">
            <a:normAutofit/>
          </a:bodyPr>
          <a:lstStyle/>
          <a:p>
            <a:pPr algn="l">
              <a:lnSpc>
                <a:spcPct val="115000"/>
              </a:lnSpc>
              <a:spcAft>
                <a:spcPts val="400"/>
              </a:spcAft>
            </a:pPr>
            <a:r>
              <a:rPr sz="4000" b="1">
                <a:solidFill>
                  <a:srgbClr val="FFFFFF"/>
                </a:solidFill>
                <a:latin typeface="Segoe UI"/>
              </a:rPr>
              <a:t>Annexes</a:t>
            </a:r>
          </a:p>
        </p:txBody>
      </p:sp>
      <p:sp>
        <p:nvSpPr>
          <p:cNvPr id="6" name="TextBox 5"/>
          <p:cNvSpPr txBox="1"/>
          <p:nvPr/>
        </p:nvSpPr>
        <p:spPr>
          <a:xfrm>
            <a:off x="3255264" y="3611880"/>
            <a:ext cx="7863840" cy="457200"/>
          </a:xfrm>
          <a:prstGeom prst="rect">
            <a:avLst/>
          </a:prstGeom>
          <a:noFill/>
        </p:spPr>
        <p:txBody>
          <a:bodyPr wrap="square" lIns="0" tIns="0" rIns="0" bIns="0" anchor="t">
            <a:normAutofit/>
          </a:bodyPr>
          <a:lstStyle/>
          <a:p>
            <a:pPr algn="l">
              <a:lnSpc>
                <a:spcPct val="115000"/>
              </a:lnSpc>
              <a:spcAft>
                <a:spcPts val="400"/>
              </a:spcAft>
            </a:pPr>
            <a:r>
              <a:rPr sz="1500" b="0">
                <a:solidFill>
                  <a:srgbClr val="A8D3E6"/>
                </a:solidFill>
                <a:latin typeface="Segoe UI"/>
              </a:rPr>
              <a:t>Pour répondre aux questions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185855" cy="457200"/>
          </a:xfrm>
          <a:prstGeom prst="rect">
            <a:avLst/>
          </a:prstGeom>
          <a:noFill/>
        </p:spPr>
        <p:txBody>
          <a:bodyPr wrap="square" lIns="0" tIns="0" rIns="0" bIns="0" anchor="t">
            <a:normAutofit/>
          </a:bodyPr>
          <a:lstStyle/>
          <a:p>
            <a:pPr algn="l">
              <a:lnSpc>
                <a:spcPct val="115000"/>
              </a:lnSpc>
              <a:spcAft>
                <a:spcPts val="400"/>
              </a:spcAft>
            </a:pPr>
            <a:r>
              <a:rPr sz="2500" b="1">
                <a:solidFill>
                  <a:srgbClr val="0B4F71"/>
                </a:solidFill>
                <a:latin typeface="Segoe UI"/>
              </a:rPr>
              <a:t>Annexe — L'évolution mensuelle</a:t>
            </a:r>
          </a:p>
        </p:txBody>
      </p:sp>
      <p:sp>
        <p:nvSpPr>
          <p:cNvPr id="5" name="TextBox 4"/>
          <p:cNvSpPr txBox="1"/>
          <p:nvPr/>
        </p:nvSpPr>
        <p:spPr>
          <a:xfrm>
            <a:off x="502920" y="896112"/>
            <a:ext cx="11185855" cy="457200"/>
          </a:xfrm>
          <a:prstGeom prst="rect">
            <a:avLst/>
          </a:prstGeom>
          <a:noFill/>
        </p:spPr>
        <p:txBody>
          <a:bodyPr wrap="square" lIns="0" tIns="0" rIns="0" bIns="0" anchor="t">
            <a:normAutofit/>
          </a:bodyPr>
          <a:lstStyle/>
          <a:p>
            <a:pPr algn="l">
              <a:lnSpc>
                <a:spcPct val="115000"/>
              </a:lnSpc>
              <a:spcAft>
                <a:spcPts val="0"/>
              </a:spcAft>
            </a:pPr>
            <a:r>
              <a:rPr sz="1300" b="0">
                <a:solidFill>
                  <a:srgbClr val="33444F"/>
                </a:solidFill>
                <a:latin typeface="Segoe UI"/>
              </a:rPr>
              <a:t>Le dispositif s'essouffle sur l'année, à budget constant.</a:t>
            </a:r>
          </a:p>
        </p:txBody>
      </p:sp>
      <p:sp>
        <p:nvSpPr>
          <p:cNvPr id="6" name="Rectangle 5"/>
          <p:cNvSpPr/>
          <p:nvPr/>
        </p:nvSpPr>
        <p:spPr>
          <a:xfrm>
            <a:off x="0" y="6574536"/>
            <a:ext cx="12191695" cy="18288"/>
          </a:xfrm>
          <a:prstGeom prst="rect">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620256"/>
            <a:ext cx="7315200" cy="219456"/>
          </a:xfrm>
          <a:prstGeom prst="rect">
            <a:avLst/>
          </a:prstGeom>
          <a:noFill/>
        </p:spPr>
        <p:txBody>
          <a:bodyPr wrap="square" lIns="0" tIns="0" rIns="0" bIns="0" anchor="t">
            <a:normAutofit/>
          </a:bodyPr>
          <a:lstStyle/>
          <a:p>
            <a:pPr algn="l">
              <a:lnSpc>
                <a:spcPct val="115000"/>
              </a:lnSpc>
              <a:spcAft>
                <a:spcPts val="400"/>
              </a:spcAft>
            </a:pPr>
            <a:r>
              <a:rPr sz="850" b="0">
                <a:solidFill>
                  <a:srgbClr val="8B98A5"/>
                </a:solidFill>
                <a:latin typeface="Segoe UI"/>
              </a:rPr>
              <a:t>Garanteo · Projet final DataBird · Sophie Paradon</a:t>
            </a:r>
          </a:p>
        </p:txBody>
      </p:sp>
      <p:sp>
        <p:nvSpPr>
          <p:cNvPr id="8" name="TextBox 7"/>
          <p:cNvSpPr txBox="1"/>
          <p:nvPr/>
        </p:nvSpPr>
        <p:spPr>
          <a:xfrm>
            <a:off x="8579815" y="6620256"/>
            <a:ext cx="3108960" cy="219456"/>
          </a:xfrm>
          <a:prstGeom prst="rect">
            <a:avLst/>
          </a:prstGeom>
          <a:noFill/>
        </p:spPr>
        <p:txBody>
          <a:bodyPr wrap="square" lIns="0" tIns="0" rIns="0" bIns="0" anchor="t">
            <a:normAutofit/>
          </a:bodyPr>
          <a:lstStyle/>
          <a:p>
            <a:pPr algn="r">
              <a:lnSpc>
                <a:spcPct val="115000"/>
              </a:lnSpc>
              <a:spcAft>
                <a:spcPts val="400"/>
              </a:spcAft>
            </a:pPr>
            <a:r>
              <a:rPr sz="850" b="0">
                <a:solidFill>
                  <a:srgbClr val="8B98A5"/>
                </a:solidFill>
                <a:latin typeface="Segoe UI"/>
              </a:rPr>
              <a:t>Annexe   ·   28</a:t>
            </a:r>
          </a:p>
        </p:txBody>
      </p:sp>
      <p:pic>
        <p:nvPicPr>
          <p:cNvPr id="9" name="Picture 8" descr="08_evolution.png"/>
          <p:cNvPicPr>
            <a:picLocks noChangeAspect="1"/>
          </p:cNvPicPr>
          <p:nvPr/>
        </p:nvPicPr>
        <p:blipFill>
          <a:blip r:embed="rId2"/>
          <a:stretch>
            <a:fillRect/>
          </a:stretch>
        </p:blipFill>
        <p:spPr>
          <a:xfrm>
            <a:off x="1005840" y="1517904"/>
            <a:ext cx="9601200" cy="2999232"/>
          </a:xfrm>
          <a:prstGeom prst="rect">
            <a:avLst/>
          </a:prstGeom>
        </p:spPr>
      </p:pic>
      <p:sp>
        <p:nvSpPr>
          <p:cNvPr id="10" name="Rectangle 9"/>
          <p:cNvSpPr/>
          <p:nvPr/>
        </p:nvSpPr>
        <p:spPr>
          <a:xfrm>
            <a:off x="502920" y="4626864"/>
            <a:ext cx="11201400" cy="1325880"/>
          </a:xfrm>
          <a:prstGeom prst="rect">
            <a:avLst/>
          </a:prstGeom>
          <a:solidFill>
            <a:srgbClr val="FFFFFF"/>
          </a:solidFill>
          <a:ln w="9525">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4626864"/>
            <a:ext cx="50292" cy="1325880"/>
          </a:xfrm>
          <a:prstGeom prst="rect">
            <a:avLst/>
          </a:prstGeom>
          <a:solidFill>
            <a:srgbClr val="F2A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8952" y="4764024"/>
            <a:ext cx="10780776" cy="292608"/>
          </a:xfrm>
          <a:prstGeom prst="rect">
            <a:avLst/>
          </a:prstGeom>
          <a:noFill/>
        </p:spPr>
        <p:txBody>
          <a:bodyPr wrap="square" lIns="0" tIns="0" rIns="0" bIns="0" anchor="t">
            <a:normAutofit/>
          </a:bodyPr>
          <a:lstStyle/>
          <a:p>
            <a:pPr algn="l">
              <a:lnSpc>
                <a:spcPct val="115000"/>
              </a:lnSpc>
              <a:spcAft>
                <a:spcPts val="0"/>
              </a:spcAft>
            </a:pPr>
            <a:r>
              <a:rPr sz="1250" b="1">
                <a:solidFill>
                  <a:srgbClr val="F2A354"/>
                </a:solidFill>
                <a:latin typeface="Segoe UI"/>
              </a:rPr>
              <a:t>Lecture</a:t>
            </a:r>
          </a:p>
        </p:txBody>
      </p:sp>
      <p:sp>
        <p:nvSpPr>
          <p:cNvPr id="13" name="TextBox 12"/>
          <p:cNvSpPr txBox="1"/>
          <p:nvPr/>
        </p:nvSpPr>
        <p:spPr>
          <a:xfrm>
            <a:off x="758952" y="5102352"/>
            <a:ext cx="10780776" cy="704087"/>
          </a:xfrm>
          <a:prstGeom prst="rect">
            <a:avLst/>
          </a:prstGeom>
          <a:noFill/>
        </p:spPr>
        <p:txBody>
          <a:bodyPr wrap="square" lIns="0" tIns="0" rIns="0" bIns="0" anchor="t">
            <a:normAutofit/>
          </a:bodyPr>
          <a:lstStyle/>
          <a:p>
            <a:pPr algn="l">
              <a:lnSpc>
                <a:spcPct val="122000"/>
              </a:lnSpc>
              <a:spcAft>
                <a:spcPts val="600"/>
              </a:spcAft>
            </a:pPr>
            <a:r>
              <a:rPr sz="1100" b="0">
                <a:solidFill>
                  <a:srgbClr val="33444F"/>
                </a:solidFill>
                <a:latin typeface="Segoe UI"/>
              </a:rPr>
              <a:t>Le volume de prospects baisse de 11,5 % entre les deux semestres (1 093 → 967) et le taux de conversion suit la même pente (9,24 % → 8,17 %). À budget constant sur l'année, cela signifie un coût d'acquisition qui se dégrade mécaniquement au fil des mois : un argument de plus pour la révision budgétaire.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185855" cy="457200"/>
          </a:xfrm>
          <a:prstGeom prst="rect">
            <a:avLst/>
          </a:prstGeom>
          <a:noFill/>
        </p:spPr>
        <p:txBody>
          <a:bodyPr wrap="square" lIns="0" tIns="0" rIns="0" bIns="0" anchor="t">
            <a:normAutofit/>
          </a:bodyPr>
          <a:lstStyle/>
          <a:p>
            <a:pPr algn="l">
              <a:lnSpc>
                <a:spcPct val="115000"/>
              </a:lnSpc>
              <a:spcAft>
                <a:spcPts val="400"/>
              </a:spcAft>
            </a:pPr>
            <a:r>
              <a:rPr sz="2500" b="1">
                <a:solidFill>
                  <a:srgbClr val="0B4F71"/>
                </a:solidFill>
                <a:latin typeface="Segoe UI"/>
              </a:rPr>
              <a:t>Annexe — Détail par campagne</a:t>
            </a:r>
          </a:p>
        </p:txBody>
      </p:sp>
      <p:sp>
        <p:nvSpPr>
          <p:cNvPr id="5" name="TextBox 4"/>
          <p:cNvSpPr txBox="1"/>
          <p:nvPr/>
        </p:nvSpPr>
        <p:spPr>
          <a:xfrm>
            <a:off x="502920" y="896112"/>
            <a:ext cx="11185855" cy="457200"/>
          </a:xfrm>
          <a:prstGeom prst="rect">
            <a:avLst/>
          </a:prstGeom>
          <a:noFill/>
        </p:spPr>
        <p:txBody>
          <a:bodyPr wrap="square" lIns="0" tIns="0" rIns="0" bIns="0" anchor="t">
            <a:normAutofit/>
          </a:bodyPr>
          <a:lstStyle/>
          <a:p>
            <a:pPr algn="l">
              <a:lnSpc>
                <a:spcPct val="115000"/>
              </a:lnSpc>
              <a:spcAft>
                <a:spcPts val="0"/>
              </a:spcAft>
            </a:pPr>
            <a:r>
              <a:rPr sz="1300" b="0">
                <a:solidFill>
                  <a:srgbClr val="33444F"/>
                </a:solidFill>
                <a:latin typeface="Segoe UI"/>
              </a:rPr>
              <a:t>Les 13 campagnes, règle du dernier contact. Le CAC est fiable quand la base de prospects est suffisante.</a:t>
            </a:r>
          </a:p>
        </p:txBody>
      </p:sp>
      <p:sp>
        <p:nvSpPr>
          <p:cNvPr id="6" name="Rectangle 5"/>
          <p:cNvSpPr/>
          <p:nvPr/>
        </p:nvSpPr>
        <p:spPr>
          <a:xfrm>
            <a:off x="0" y="6574536"/>
            <a:ext cx="12191695" cy="18288"/>
          </a:xfrm>
          <a:prstGeom prst="rect">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620256"/>
            <a:ext cx="7315200" cy="219456"/>
          </a:xfrm>
          <a:prstGeom prst="rect">
            <a:avLst/>
          </a:prstGeom>
          <a:noFill/>
        </p:spPr>
        <p:txBody>
          <a:bodyPr wrap="square" lIns="0" tIns="0" rIns="0" bIns="0" anchor="t">
            <a:normAutofit/>
          </a:bodyPr>
          <a:lstStyle/>
          <a:p>
            <a:pPr algn="l">
              <a:lnSpc>
                <a:spcPct val="115000"/>
              </a:lnSpc>
              <a:spcAft>
                <a:spcPts val="400"/>
              </a:spcAft>
            </a:pPr>
            <a:r>
              <a:rPr sz="850" b="0">
                <a:solidFill>
                  <a:srgbClr val="8B98A5"/>
                </a:solidFill>
                <a:latin typeface="Segoe UI"/>
              </a:rPr>
              <a:t>Garanteo · Projet final DataBird · Sophie Paradon</a:t>
            </a:r>
          </a:p>
        </p:txBody>
      </p:sp>
      <p:sp>
        <p:nvSpPr>
          <p:cNvPr id="8" name="TextBox 7"/>
          <p:cNvSpPr txBox="1"/>
          <p:nvPr/>
        </p:nvSpPr>
        <p:spPr>
          <a:xfrm>
            <a:off x="8579815" y="6620256"/>
            <a:ext cx="3108960" cy="219456"/>
          </a:xfrm>
          <a:prstGeom prst="rect">
            <a:avLst/>
          </a:prstGeom>
          <a:noFill/>
        </p:spPr>
        <p:txBody>
          <a:bodyPr wrap="square" lIns="0" tIns="0" rIns="0" bIns="0" anchor="t">
            <a:normAutofit/>
          </a:bodyPr>
          <a:lstStyle/>
          <a:p>
            <a:pPr algn="r">
              <a:lnSpc>
                <a:spcPct val="115000"/>
              </a:lnSpc>
              <a:spcAft>
                <a:spcPts val="400"/>
              </a:spcAft>
            </a:pPr>
            <a:r>
              <a:rPr sz="850" b="0">
                <a:solidFill>
                  <a:srgbClr val="8B98A5"/>
                </a:solidFill>
                <a:latin typeface="Segoe UI"/>
              </a:rPr>
              <a:t>Annexe   ·   29</a:t>
            </a:r>
          </a:p>
        </p:txBody>
      </p:sp>
      <p:sp>
        <p:nvSpPr>
          <p:cNvPr id="9" name="Rectangle 8"/>
          <p:cNvSpPr/>
          <p:nvPr/>
        </p:nvSpPr>
        <p:spPr>
          <a:xfrm>
            <a:off x="502920" y="1426464"/>
            <a:ext cx="11201399" cy="310896"/>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76072" y="1499616"/>
            <a:ext cx="1737360" cy="201168"/>
          </a:xfrm>
          <a:prstGeom prst="rect">
            <a:avLst/>
          </a:prstGeom>
          <a:noFill/>
        </p:spPr>
        <p:txBody>
          <a:bodyPr wrap="square" lIns="0" tIns="0" rIns="0" bIns="0" anchor="t">
            <a:normAutofit/>
          </a:bodyPr>
          <a:lstStyle/>
          <a:p>
            <a:pPr algn="l">
              <a:lnSpc>
                <a:spcPct val="115000"/>
              </a:lnSpc>
              <a:spcAft>
                <a:spcPts val="400"/>
              </a:spcAft>
            </a:pPr>
            <a:r>
              <a:rPr sz="950" b="1">
                <a:solidFill>
                  <a:srgbClr val="FFFFFF"/>
                </a:solidFill>
                <a:latin typeface="Segoe UI"/>
              </a:rPr>
              <a:t>Campagne</a:t>
            </a:r>
          </a:p>
        </p:txBody>
      </p:sp>
      <p:sp>
        <p:nvSpPr>
          <p:cNvPr id="11" name="TextBox 10"/>
          <p:cNvSpPr txBox="1"/>
          <p:nvPr/>
        </p:nvSpPr>
        <p:spPr>
          <a:xfrm>
            <a:off x="2313432" y="1499616"/>
            <a:ext cx="1143000" cy="201168"/>
          </a:xfrm>
          <a:prstGeom prst="rect">
            <a:avLst/>
          </a:prstGeom>
          <a:noFill/>
        </p:spPr>
        <p:txBody>
          <a:bodyPr wrap="square" lIns="0" tIns="0" rIns="0" bIns="0" anchor="t">
            <a:normAutofit/>
          </a:bodyPr>
          <a:lstStyle/>
          <a:p>
            <a:pPr algn="l">
              <a:lnSpc>
                <a:spcPct val="115000"/>
              </a:lnSpc>
              <a:spcAft>
                <a:spcPts val="400"/>
              </a:spcAft>
            </a:pPr>
            <a:r>
              <a:rPr sz="950" b="1">
                <a:solidFill>
                  <a:srgbClr val="FFFFFF"/>
                </a:solidFill>
                <a:latin typeface="Segoe UI"/>
              </a:rPr>
              <a:t>Canal</a:t>
            </a:r>
          </a:p>
        </p:txBody>
      </p:sp>
      <p:sp>
        <p:nvSpPr>
          <p:cNvPr id="12" name="TextBox 11"/>
          <p:cNvSpPr txBox="1"/>
          <p:nvPr/>
        </p:nvSpPr>
        <p:spPr>
          <a:xfrm>
            <a:off x="3456432" y="1499616"/>
            <a:ext cx="1005840" cy="201168"/>
          </a:xfrm>
          <a:prstGeom prst="rect">
            <a:avLst/>
          </a:prstGeom>
          <a:noFill/>
        </p:spPr>
        <p:txBody>
          <a:bodyPr wrap="square" lIns="0" tIns="0" rIns="0" bIns="0" anchor="t">
            <a:normAutofit/>
          </a:bodyPr>
          <a:lstStyle/>
          <a:p>
            <a:pPr algn="l">
              <a:lnSpc>
                <a:spcPct val="115000"/>
              </a:lnSpc>
              <a:spcAft>
                <a:spcPts val="400"/>
              </a:spcAft>
            </a:pPr>
            <a:r>
              <a:rPr sz="950" b="1">
                <a:solidFill>
                  <a:srgbClr val="FFFFFF"/>
                </a:solidFill>
                <a:latin typeface="Segoe UI"/>
              </a:rPr>
              <a:t>Budget</a:t>
            </a:r>
          </a:p>
        </p:txBody>
      </p:sp>
      <p:sp>
        <p:nvSpPr>
          <p:cNvPr id="13" name="TextBox 12"/>
          <p:cNvSpPr txBox="1"/>
          <p:nvPr/>
        </p:nvSpPr>
        <p:spPr>
          <a:xfrm>
            <a:off x="4462272" y="1499616"/>
            <a:ext cx="685800" cy="201168"/>
          </a:xfrm>
          <a:prstGeom prst="rect">
            <a:avLst/>
          </a:prstGeom>
          <a:noFill/>
        </p:spPr>
        <p:txBody>
          <a:bodyPr wrap="square" lIns="0" tIns="0" rIns="0" bIns="0" anchor="t">
            <a:normAutofit/>
          </a:bodyPr>
          <a:lstStyle/>
          <a:p>
            <a:pPr algn="l">
              <a:lnSpc>
                <a:spcPct val="115000"/>
              </a:lnSpc>
              <a:spcAft>
                <a:spcPts val="400"/>
              </a:spcAft>
            </a:pPr>
            <a:r>
              <a:rPr sz="950" b="1">
                <a:solidFill>
                  <a:srgbClr val="FFFFFF"/>
                </a:solidFill>
                <a:latin typeface="Segoe UI"/>
              </a:rPr>
              <a:t>Part</a:t>
            </a:r>
          </a:p>
        </p:txBody>
      </p:sp>
      <p:sp>
        <p:nvSpPr>
          <p:cNvPr id="14" name="TextBox 13"/>
          <p:cNvSpPr txBox="1"/>
          <p:nvPr/>
        </p:nvSpPr>
        <p:spPr>
          <a:xfrm>
            <a:off x="5148072" y="1499616"/>
            <a:ext cx="960120" cy="201168"/>
          </a:xfrm>
          <a:prstGeom prst="rect">
            <a:avLst/>
          </a:prstGeom>
          <a:noFill/>
        </p:spPr>
        <p:txBody>
          <a:bodyPr wrap="square" lIns="0" tIns="0" rIns="0" bIns="0" anchor="t">
            <a:normAutofit/>
          </a:bodyPr>
          <a:lstStyle/>
          <a:p>
            <a:pPr algn="l">
              <a:lnSpc>
                <a:spcPct val="115000"/>
              </a:lnSpc>
              <a:spcAft>
                <a:spcPts val="400"/>
              </a:spcAft>
            </a:pPr>
            <a:r>
              <a:rPr sz="950" b="1">
                <a:solidFill>
                  <a:srgbClr val="FFFFFF"/>
                </a:solidFill>
                <a:latin typeface="Segoe UI"/>
              </a:rPr>
              <a:t>Prospects</a:t>
            </a:r>
          </a:p>
        </p:txBody>
      </p:sp>
      <p:sp>
        <p:nvSpPr>
          <p:cNvPr id="15" name="TextBox 14"/>
          <p:cNvSpPr txBox="1"/>
          <p:nvPr/>
        </p:nvSpPr>
        <p:spPr>
          <a:xfrm>
            <a:off x="6108192" y="1499616"/>
            <a:ext cx="777240" cy="201168"/>
          </a:xfrm>
          <a:prstGeom prst="rect">
            <a:avLst/>
          </a:prstGeom>
          <a:noFill/>
        </p:spPr>
        <p:txBody>
          <a:bodyPr wrap="square" lIns="0" tIns="0" rIns="0" bIns="0" anchor="t">
            <a:normAutofit/>
          </a:bodyPr>
          <a:lstStyle/>
          <a:p>
            <a:pPr algn="l">
              <a:lnSpc>
                <a:spcPct val="115000"/>
              </a:lnSpc>
              <a:spcAft>
                <a:spcPts val="400"/>
              </a:spcAft>
            </a:pPr>
            <a:r>
              <a:rPr sz="950" b="1">
                <a:solidFill>
                  <a:srgbClr val="FFFFFF"/>
                </a:solidFill>
                <a:latin typeface="Segoe UI"/>
              </a:rPr>
              <a:t>Clients</a:t>
            </a:r>
          </a:p>
        </p:txBody>
      </p:sp>
      <p:sp>
        <p:nvSpPr>
          <p:cNvPr id="16" name="TextBox 15"/>
          <p:cNvSpPr txBox="1"/>
          <p:nvPr/>
        </p:nvSpPr>
        <p:spPr>
          <a:xfrm>
            <a:off x="6885432" y="1499616"/>
            <a:ext cx="960120" cy="201168"/>
          </a:xfrm>
          <a:prstGeom prst="rect">
            <a:avLst/>
          </a:prstGeom>
          <a:noFill/>
        </p:spPr>
        <p:txBody>
          <a:bodyPr wrap="square" lIns="0" tIns="0" rIns="0" bIns="0" anchor="t">
            <a:normAutofit/>
          </a:bodyPr>
          <a:lstStyle/>
          <a:p>
            <a:pPr algn="l">
              <a:lnSpc>
                <a:spcPct val="115000"/>
              </a:lnSpc>
              <a:spcAft>
                <a:spcPts val="400"/>
              </a:spcAft>
            </a:pPr>
            <a:r>
              <a:rPr sz="950" b="1">
                <a:solidFill>
                  <a:srgbClr val="FFFFFF"/>
                </a:solidFill>
                <a:latin typeface="Segoe UI"/>
              </a:rPr>
              <a:t>Taux conv.</a:t>
            </a:r>
          </a:p>
        </p:txBody>
      </p:sp>
      <p:sp>
        <p:nvSpPr>
          <p:cNvPr id="17" name="TextBox 16"/>
          <p:cNvSpPr txBox="1"/>
          <p:nvPr/>
        </p:nvSpPr>
        <p:spPr>
          <a:xfrm>
            <a:off x="7845552" y="1499616"/>
            <a:ext cx="1234440" cy="201168"/>
          </a:xfrm>
          <a:prstGeom prst="rect">
            <a:avLst/>
          </a:prstGeom>
          <a:noFill/>
        </p:spPr>
        <p:txBody>
          <a:bodyPr wrap="square" lIns="0" tIns="0" rIns="0" bIns="0" anchor="t">
            <a:normAutofit/>
          </a:bodyPr>
          <a:lstStyle/>
          <a:p>
            <a:pPr algn="l">
              <a:lnSpc>
                <a:spcPct val="115000"/>
              </a:lnSpc>
              <a:spcAft>
                <a:spcPts val="400"/>
              </a:spcAft>
            </a:pPr>
            <a:r>
              <a:rPr sz="950" b="1">
                <a:solidFill>
                  <a:srgbClr val="FFFFFF"/>
                </a:solidFill>
                <a:latin typeface="Segoe UI"/>
              </a:rPr>
              <a:t>Coût/prospect</a:t>
            </a:r>
          </a:p>
        </p:txBody>
      </p:sp>
      <p:sp>
        <p:nvSpPr>
          <p:cNvPr id="18" name="TextBox 17"/>
          <p:cNvSpPr txBox="1"/>
          <p:nvPr/>
        </p:nvSpPr>
        <p:spPr>
          <a:xfrm>
            <a:off x="9079992" y="1499616"/>
            <a:ext cx="1005840" cy="201168"/>
          </a:xfrm>
          <a:prstGeom prst="rect">
            <a:avLst/>
          </a:prstGeom>
          <a:noFill/>
        </p:spPr>
        <p:txBody>
          <a:bodyPr wrap="square" lIns="0" tIns="0" rIns="0" bIns="0" anchor="t">
            <a:normAutofit/>
          </a:bodyPr>
          <a:lstStyle/>
          <a:p>
            <a:pPr algn="l">
              <a:lnSpc>
                <a:spcPct val="115000"/>
              </a:lnSpc>
              <a:spcAft>
                <a:spcPts val="400"/>
              </a:spcAft>
            </a:pPr>
            <a:r>
              <a:rPr sz="950" b="1">
                <a:solidFill>
                  <a:srgbClr val="FFFFFF"/>
                </a:solidFill>
                <a:latin typeface="Segoe UI"/>
              </a:rPr>
              <a:t>CAC</a:t>
            </a:r>
          </a:p>
        </p:txBody>
      </p:sp>
      <p:sp>
        <p:nvSpPr>
          <p:cNvPr id="19" name="TextBox 18"/>
          <p:cNvSpPr txBox="1"/>
          <p:nvPr/>
        </p:nvSpPr>
        <p:spPr>
          <a:xfrm>
            <a:off x="10085832" y="1499616"/>
            <a:ext cx="1691640" cy="201168"/>
          </a:xfrm>
          <a:prstGeom prst="rect">
            <a:avLst/>
          </a:prstGeom>
          <a:noFill/>
        </p:spPr>
        <p:txBody>
          <a:bodyPr wrap="square" lIns="0" tIns="0" rIns="0" bIns="0" anchor="t">
            <a:normAutofit/>
          </a:bodyPr>
          <a:lstStyle/>
          <a:p>
            <a:pPr algn="l">
              <a:lnSpc>
                <a:spcPct val="115000"/>
              </a:lnSpc>
              <a:spcAft>
                <a:spcPts val="400"/>
              </a:spcAft>
            </a:pPr>
            <a:r>
              <a:rPr sz="950" b="1">
                <a:solidFill>
                  <a:srgbClr val="FFFFFF"/>
                </a:solidFill>
                <a:latin typeface="Segoe UI"/>
              </a:rPr>
              <a:t>Fiabilité</a:t>
            </a:r>
          </a:p>
        </p:txBody>
      </p:sp>
      <p:sp>
        <p:nvSpPr>
          <p:cNvPr id="20" name="Rectangle 19"/>
          <p:cNvSpPr/>
          <p:nvPr/>
        </p:nvSpPr>
        <p:spPr>
          <a:xfrm>
            <a:off x="502920" y="1737360"/>
            <a:ext cx="11201399" cy="288036"/>
          </a:xfrm>
          <a:prstGeom prst="rect">
            <a:avLst/>
          </a:prstGeom>
          <a:solidFill>
            <a:srgbClr val="FFFFFF"/>
          </a:solidFill>
          <a:ln w="508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6072" y="1801368"/>
            <a:ext cx="1737360" cy="201168"/>
          </a:xfrm>
          <a:prstGeom prst="rect">
            <a:avLst/>
          </a:prstGeom>
          <a:noFill/>
        </p:spPr>
        <p:txBody>
          <a:bodyPr wrap="square" lIns="0" tIns="0" rIns="0" bIns="0" anchor="t">
            <a:normAutofit/>
          </a:bodyPr>
          <a:lstStyle/>
          <a:p>
            <a:pPr algn="l">
              <a:lnSpc>
                <a:spcPct val="115000"/>
              </a:lnSpc>
              <a:spcAft>
                <a:spcPts val="400"/>
              </a:spcAft>
            </a:pPr>
            <a:r>
              <a:rPr sz="900" b="0">
                <a:solidFill>
                  <a:srgbClr val="0B1F2A"/>
                </a:solidFill>
                <a:latin typeface="Segoe UI"/>
              </a:rPr>
              <a:t>acb1a5969d</a:t>
            </a:r>
          </a:p>
        </p:txBody>
      </p:sp>
      <p:sp>
        <p:nvSpPr>
          <p:cNvPr id="22" name="TextBox 21"/>
          <p:cNvSpPr txBox="1"/>
          <p:nvPr/>
        </p:nvSpPr>
        <p:spPr>
          <a:xfrm>
            <a:off x="2313432" y="1801368"/>
            <a:ext cx="114300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google ads</a:t>
            </a:r>
          </a:p>
        </p:txBody>
      </p:sp>
      <p:sp>
        <p:nvSpPr>
          <p:cNvPr id="23" name="TextBox 22"/>
          <p:cNvSpPr txBox="1"/>
          <p:nvPr/>
        </p:nvSpPr>
        <p:spPr>
          <a:xfrm>
            <a:off x="3456432" y="1801368"/>
            <a:ext cx="10058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700 €</a:t>
            </a:r>
          </a:p>
        </p:txBody>
      </p:sp>
      <p:sp>
        <p:nvSpPr>
          <p:cNvPr id="24" name="TextBox 23"/>
          <p:cNvSpPr txBox="1"/>
          <p:nvPr/>
        </p:nvSpPr>
        <p:spPr>
          <a:xfrm>
            <a:off x="4462272" y="1801368"/>
            <a:ext cx="68580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1 %</a:t>
            </a:r>
          </a:p>
        </p:txBody>
      </p:sp>
      <p:sp>
        <p:nvSpPr>
          <p:cNvPr id="25" name="TextBox 24"/>
          <p:cNvSpPr txBox="1"/>
          <p:nvPr/>
        </p:nvSpPr>
        <p:spPr>
          <a:xfrm>
            <a:off x="5148072" y="1801368"/>
            <a:ext cx="96012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22</a:t>
            </a:r>
          </a:p>
        </p:txBody>
      </p:sp>
      <p:sp>
        <p:nvSpPr>
          <p:cNvPr id="26" name="TextBox 25"/>
          <p:cNvSpPr txBox="1"/>
          <p:nvPr/>
        </p:nvSpPr>
        <p:spPr>
          <a:xfrm>
            <a:off x="6108192" y="1801368"/>
            <a:ext cx="7772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4</a:t>
            </a:r>
          </a:p>
        </p:txBody>
      </p:sp>
      <p:sp>
        <p:nvSpPr>
          <p:cNvPr id="27" name="TextBox 26"/>
          <p:cNvSpPr txBox="1"/>
          <p:nvPr/>
        </p:nvSpPr>
        <p:spPr>
          <a:xfrm>
            <a:off x="6885432" y="1801368"/>
            <a:ext cx="96012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18,18 %</a:t>
            </a:r>
          </a:p>
        </p:txBody>
      </p:sp>
      <p:sp>
        <p:nvSpPr>
          <p:cNvPr id="28" name="TextBox 27"/>
          <p:cNvSpPr txBox="1"/>
          <p:nvPr/>
        </p:nvSpPr>
        <p:spPr>
          <a:xfrm>
            <a:off x="7845552" y="1801368"/>
            <a:ext cx="12344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31,82 €</a:t>
            </a:r>
          </a:p>
        </p:txBody>
      </p:sp>
      <p:sp>
        <p:nvSpPr>
          <p:cNvPr id="29" name="TextBox 28"/>
          <p:cNvSpPr txBox="1"/>
          <p:nvPr/>
        </p:nvSpPr>
        <p:spPr>
          <a:xfrm>
            <a:off x="9079992" y="1801368"/>
            <a:ext cx="1005840" cy="201168"/>
          </a:xfrm>
          <a:prstGeom prst="rect">
            <a:avLst/>
          </a:prstGeom>
          <a:noFill/>
        </p:spPr>
        <p:txBody>
          <a:bodyPr wrap="square" lIns="0" tIns="0" rIns="0" bIns="0" anchor="t">
            <a:normAutofit/>
          </a:bodyPr>
          <a:lstStyle/>
          <a:p>
            <a:pPr algn="l">
              <a:lnSpc>
                <a:spcPct val="115000"/>
              </a:lnSpc>
              <a:spcAft>
                <a:spcPts val="400"/>
              </a:spcAft>
            </a:pPr>
            <a:r>
              <a:rPr sz="900" b="1">
                <a:solidFill>
                  <a:srgbClr val="3AA65C"/>
                </a:solidFill>
                <a:latin typeface="Segoe UI"/>
              </a:rPr>
              <a:t>175 €</a:t>
            </a:r>
          </a:p>
        </p:txBody>
      </p:sp>
      <p:sp>
        <p:nvSpPr>
          <p:cNvPr id="30" name="TextBox 29"/>
          <p:cNvSpPr txBox="1"/>
          <p:nvPr/>
        </p:nvSpPr>
        <p:spPr>
          <a:xfrm>
            <a:off x="10085832" y="1801368"/>
            <a:ext cx="16916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D9534F"/>
                </a:solidFill>
                <a:latin typeface="Segoe UI"/>
              </a:rPr>
              <a:t>Base fragile</a:t>
            </a:r>
          </a:p>
        </p:txBody>
      </p:sp>
      <p:sp>
        <p:nvSpPr>
          <p:cNvPr id="31" name="Rectangle 30"/>
          <p:cNvSpPr/>
          <p:nvPr/>
        </p:nvSpPr>
        <p:spPr>
          <a:xfrm>
            <a:off x="502920" y="2025396"/>
            <a:ext cx="11201399" cy="288036"/>
          </a:xfrm>
          <a:prstGeom prst="rect">
            <a:avLst/>
          </a:prstGeom>
          <a:solidFill>
            <a:srgbClr val="FAFCFD"/>
          </a:solidFill>
          <a:ln w="508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76072" y="2089404"/>
            <a:ext cx="1737360" cy="201168"/>
          </a:xfrm>
          <a:prstGeom prst="rect">
            <a:avLst/>
          </a:prstGeom>
          <a:noFill/>
        </p:spPr>
        <p:txBody>
          <a:bodyPr wrap="square" lIns="0" tIns="0" rIns="0" bIns="0" anchor="t">
            <a:normAutofit/>
          </a:bodyPr>
          <a:lstStyle/>
          <a:p>
            <a:pPr algn="l">
              <a:lnSpc>
                <a:spcPct val="115000"/>
              </a:lnSpc>
              <a:spcAft>
                <a:spcPts val="400"/>
              </a:spcAft>
            </a:pPr>
            <a:r>
              <a:rPr sz="900" b="0">
                <a:solidFill>
                  <a:srgbClr val="0B1F2A"/>
                </a:solidFill>
                <a:latin typeface="Segoe UI"/>
              </a:rPr>
              <a:t>7db5e11944</a:t>
            </a:r>
          </a:p>
        </p:txBody>
      </p:sp>
      <p:sp>
        <p:nvSpPr>
          <p:cNvPr id="33" name="TextBox 32"/>
          <p:cNvSpPr txBox="1"/>
          <p:nvPr/>
        </p:nvSpPr>
        <p:spPr>
          <a:xfrm>
            <a:off x="2313432" y="2089404"/>
            <a:ext cx="114300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google ads</a:t>
            </a:r>
          </a:p>
        </p:txBody>
      </p:sp>
      <p:sp>
        <p:nvSpPr>
          <p:cNvPr id="34" name="TextBox 33"/>
          <p:cNvSpPr txBox="1"/>
          <p:nvPr/>
        </p:nvSpPr>
        <p:spPr>
          <a:xfrm>
            <a:off x="3456432" y="2089404"/>
            <a:ext cx="10058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700 €</a:t>
            </a:r>
          </a:p>
        </p:txBody>
      </p:sp>
      <p:sp>
        <p:nvSpPr>
          <p:cNvPr id="35" name="TextBox 34"/>
          <p:cNvSpPr txBox="1"/>
          <p:nvPr/>
        </p:nvSpPr>
        <p:spPr>
          <a:xfrm>
            <a:off x="4462272" y="2089404"/>
            <a:ext cx="68580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1 %</a:t>
            </a:r>
          </a:p>
        </p:txBody>
      </p:sp>
      <p:sp>
        <p:nvSpPr>
          <p:cNvPr id="36" name="TextBox 35"/>
          <p:cNvSpPr txBox="1"/>
          <p:nvPr/>
        </p:nvSpPr>
        <p:spPr>
          <a:xfrm>
            <a:off x="5148072" y="2089404"/>
            <a:ext cx="96012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21</a:t>
            </a:r>
          </a:p>
        </p:txBody>
      </p:sp>
      <p:sp>
        <p:nvSpPr>
          <p:cNvPr id="37" name="TextBox 36"/>
          <p:cNvSpPr txBox="1"/>
          <p:nvPr/>
        </p:nvSpPr>
        <p:spPr>
          <a:xfrm>
            <a:off x="6108192" y="2089404"/>
            <a:ext cx="7772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3</a:t>
            </a:r>
          </a:p>
        </p:txBody>
      </p:sp>
      <p:sp>
        <p:nvSpPr>
          <p:cNvPr id="38" name="TextBox 37"/>
          <p:cNvSpPr txBox="1"/>
          <p:nvPr/>
        </p:nvSpPr>
        <p:spPr>
          <a:xfrm>
            <a:off x="6885432" y="2089404"/>
            <a:ext cx="96012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14,29 %</a:t>
            </a:r>
          </a:p>
        </p:txBody>
      </p:sp>
      <p:sp>
        <p:nvSpPr>
          <p:cNvPr id="39" name="TextBox 38"/>
          <p:cNvSpPr txBox="1"/>
          <p:nvPr/>
        </p:nvSpPr>
        <p:spPr>
          <a:xfrm>
            <a:off x="7845552" y="2089404"/>
            <a:ext cx="12344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33,33 €</a:t>
            </a:r>
          </a:p>
        </p:txBody>
      </p:sp>
      <p:sp>
        <p:nvSpPr>
          <p:cNvPr id="40" name="TextBox 39"/>
          <p:cNvSpPr txBox="1"/>
          <p:nvPr/>
        </p:nvSpPr>
        <p:spPr>
          <a:xfrm>
            <a:off x="9079992" y="2089404"/>
            <a:ext cx="1005840" cy="201168"/>
          </a:xfrm>
          <a:prstGeom prst="rect">
            <a:avLst/>
          </a:prstGeom>
          <a:noFill/>
        </p:spPr>
        <p:txBody>
          <a:bodyPr wrap="square" lIns="0" tIns="0" rIns="0" bIns="0" anchor="t">
            <a:normAutofit/>
          </a:bodyPr>
          <a:lstStyle/>
          <a:p>
            <a:pPr algn="l">
              <a:lnSpc>
                <a:spcPct val="115000"/>
              </a:lnSpc>
              <a:spcAft>
                <a:spcPts val="400"/>
              </a:spcAft>
            </a:pPr>
            <a:r>
              <a:rPr sz="900" b="1">
                <a:solidFill>
                  <a:srgbClr val="3AA65C"/>
                </a:solidFill>
                <a:latin typeface="Segoe UI"/>
              </a:rPr>
              <a:t>233 €</a:t>
            </a:r>
          </a:p>
        </p:txBody>
      </p:sp>
      <p:sp>
        <p:nvSpPr>
          <p:cNvPr id="41" name="TextBox 40"/>
          <p:cNvSpPr txBox="1"/>
          <p:nvPr/>
        </p:nvSpPr>
        <p:spPr>
          <a:xfrm>
            <a:off x="10085832" y="2089404"/>
            <a:ext cx="16916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D9534F"/>
                </a:solidFill>
                <a:latin typeface="Segoe UI"/>
              </a:rPr>
              <a:t>Base fragile</a:t>
            </a:r>
          </a:p>
        </p:txBody>
      </p:sp>
      <p:sp>
        <p:nvSpPr>
          <p:cNvPr id="42" name="Rectangle 41"/>
          <p:cNvSpPr/>
          <p:nvPr/>
        </p:nvSpPr>
        <p:spPr>
          <a:xfrm>
            <a:off x="502920" y="2313432"/>
            <a:ext cx="11201399" cy="288036"/>
          </a:xfrm>
          <a:prstGeom prst="rect">
            <a:avLst/>
          </a:prstGeom>
          <a:solidFill>
            <a:srgbClr val="FFFFFF"/>
          </a:solidFill>
          <a:ln w="508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76072" y="2377440"/>
            <a:ext cx="1737360" cy="201168"/>
          </a:xfrm>
          <a:prstGeom prst="rect">
            <a:avLst/>
          </a:prstGeom>
          <a:noFill/>
        </p:spPr>
        <p:txBody>
          <a:bodyPr wrap="square" lIns="0" tIns="0" rIns="0" bIns="0" anchor="t">
            <a:normAutofit/>
          </a:bodyPr>
          <a:lstStyle/>
          <a:p>
            <a:pPr algn="l">
              <a:lnSpc>
                <a:spcPct val="115000"/>
              </a:lnSpc>
              <a:spcAft>
                <a:spcPts val="400"/>
              </a:spcAft>
            </a:pPr>
            <a:r>
              <a:rPr sz="900" b="0">
                <a:solidFill>
                  <a:srgbClr val="0B1F2A"/>
                </a:solidFill>
                <a:latin typeface="Segoe UI"/>
              </a:rPr>
              <a:t>242649bfe1</a:t>
            </a:r>
          </a:p>
        </p:txBody>
      </p:sp>
      <p:sp>
        <p:nvSpPr>
          <p:cNvPr id="44" name="TextBox 43"/>
          <p:cNvSpPr txBox="1"/>
          <p:nvPr/>
        </p:nvSpPr>
        <p:spPr>
          <a:xfrm>
            <a:off x="2313432" y="2377440"/>
            <a:ext cx="114300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google ads</a:t>
            </a:r>
          </a:p>
        </p:txBody>
      </p:sp>
      <p:sp>
        <p:nvSpPr>
          <p:cNvPr id="45" name="TextBox 44"/>
          <p:cNvSpPr txBox="1"/>
          <p:nvPr/>
        </p:nvSpPr>
        <p:spPr>
          <a:xfrm>
            <a:off x="3456432" y="2377440"/>
            <a:ext cx="10058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2 800 €</a:t>
            </a:r>
          </a:p>
        </p:txBody>
      </p:sp>
      <p:sp>
        <p:nvSpPr>
          <p:cNvPr id="46" name="TextBox 45"/>
          <p:cNvSpPr txBox="1"/>
          <p:nvPr/>
        </p:nvSpPr>
        <p:spPr>
          <a:xfrm>
            <a:off x="4462272" y="2377440"/>
            <a:ext cx="68580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4 %</a:t>
            </a:r>
          </a:p>
        </p:txBody>
      </p:sp>
      <p:sp>
        <p:nvSpPr>
          <p:cNvPr id="47" name="TextBox 46"/>
          <p:cNvSpPr txBox="1"/>
          <p:nvPr/>
        </p:nvSpPr>
        <p:spPr>
          <a:xfrm>
            <a:off x="5148072" y="2377440"/>
            <a:ext cx="96012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64</a:t>
            </a:r>
          </a:p>
        </p:txBody>
      </p:sp>
      <p:sp>
        <p:nvSpPr>
          <p:cNvPr id="48" name="TextBox 47"/>
          <p:cNvSpPr txBox="1"/>
          <p:nvPr/>
        </p:nvSpPr>
        <p:spPr>
          <a:xfrm>
            <a:off x="6108192" y="2377440"/>
            <a:ext cx="7772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10</a:t>
            </a:r>
          </a:p>
        </p:txBody>
      </p:sp>
      <p:sp>
        <p:nvSpPr>
          <p:cNvPr id="49" name="TextBox 48"/>
          <p:cNvSpPr txBox="1"/>
          <p:nvPr/>
        </p:nvSpPr>
        <p:spPr>
          <a:xfrm>
            <a:off x="6885432" y="2377440"/>
            <a:ext cx="96012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15,62 %</a:t>
            </a:r>
          </a:p>
        </p:txBody>
      </p:sp>
      <p:sp>
        <p:nvSpPr>
          <p:cNvPr id="50" name="TextBox 49"/>
          <p:cNvSpPr txBox="1"/>
          <p:nvPr/>
        </p:nvSpPr>
        <p:spPr>
          <a:xfrm>
            <a:off x="7845552" y="2377440"/>
            <a:ext cx="12344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43,75 €</a:t>
            </a:r>
          </a:p>
        </p:txBody>
      </p:sp>
      <p:sp>
        <p:nvSpPr>
          <p:cNvPr id="51" name="TextBox 50"/>
          <p:cNvSpPr txBox="1"/>
          <p:nvPr/>
        </p:nvSpPr>
        <p:spPr>
          <a:xfrm>
            <a:off x="9079992" y="2377440"/>
            <a:ext cx="1005840" cy="201168"/>
          </a:xfrm>
          <a:prstGeom prst="rect">
            <a:avLst/>
          </a:prstGeom>
          <a:noFill/>
        </p:spPr>
        <p:txBody>
          <a:bodyPr wrap="square" lIns="0" tIns="0" rIns="0" bIns="0" anchor="t">
            <a:normAutofit/>
          </a:bodyPr>
          <a:lstStyle/>
          <a:p>
            <a:pPr algn="l">
              <a:lnSpc>
                <a:spcPct val="115000"/>
              </a:lnSpc>
              <a:spcAft>
                <a:spcPts val="400"/>
              </a:spcAft>
            </a:pPr>
            <a:r>
              <a:rPr sz="900" b="1">
                <a:solidFill>
                  <a:srgbClr val="3AA65C"/>
                </a:solidFill>
                <a:latin typeface="Segoe UI"/>
              </a:rPr>
              <a:t>280 €</a:t>
            </a:r>
          </a:p>
        </p:txBody>
      </p:sp>
      <p:sp>
        <p:nvSpPr>
          <p:cNvPr id="52" name="TextBox 51"/>
          <p:cNvSpPr txBox="1"/>
          <p:nvPr/>
        </p:nvSpPr>
        <p:spPr>
          <a:xfrm>
            <a:off x="10085832" y="2377440"/>
            <a:ext cx="16916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F2A354"/>
                </a:solidFill>
                <a:latin typeface="Segoe UI"/>
              </a:rPr>
              <a:t>Base moyenne</a:t>
            </a:r>
          </a:p>
        </p:txBody>
      </p:sp>
      <p:sp>
        <p:nvSpPr>
          <p:cNvPr id="53" name="Rectangle 52"/>
          <p:cNvSpPr/>
          <p:nvPr/>
        </p:nvSpPr>
        <p:spPr>
          <a:xfrm>
            <a:off x="502920" y="2601468"/>
            <a:ext cx="11201399" cy="288036"/>
          </a:xfrm>
          <a:prstGeom prst="rect">
            <a:avLst/>
          </a:prstGeom>
          <a:solidFill>
            <a:srgbClr val="FAFCFD"/>
          </a:solidFill>
          <a:ln w="508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76072" y="2665476"/>
            <a:ext cx="1737360" cy="201168"/>
          </a:xfrm>
          <a:prstGeom prst="rect">
            <a:avLst/>
          </a:prstGeom>
          <a:noFill/>
        </p:spPr>
        <p:txBody>
          <a:bodyPr wrap="square" lIns="0" tIns="0" rIns="0" bIns="0" anchor="t">
            <a:normAutofit/>
          </a:bodyPr>
          <a:lstStyle/>
          <a:p>
            <a:pPr algn="l">
              <a:lnSpc>
                <a:spcPct val="115000"/>
              </a:lnSpc>
              <a:spcAft>
                <a:spcPts val="400"/>
              </a:spcAft>
            </a:pPr>
            <a:r>
              <a:rPr sz="900" b="0">
                <a:solidFill>
                  <a:srgbClr val="0B1F2A"/>
                </a:solidFill>
                <a:latin typeface="Segoe UI"/>
              </a:rPr>
              <a:t>7b9f593535</a:t>
            </a:r>
          </a:p>
        </p:txBody>
      </p:sp>
      <p:sp>
        <p:nvSpPr>
          <p:cNvPr id="55" name="TextBox 54"/>
          <p:cNvSpPr txBox="1"/>
          <p:nvPr/>
        </p:nvSpPr>
        <p:spPr>
          <a:xfrm>
            <a:off x="2313432" y="2665476"/>
            <a:ext cx="114300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google ads</a:t>
            </a:r>
          </a:p>
        </p:txBody>
      </p:sp>
      <p:sp>
        <p:nvSpPr>
          <p:cNvPr id="56" name="TextBox 55"/>
          <p:cNvSpPr txBox="1"/>
          <p:nvPr/>
        </p:nvSpPr>
        <p:spPr>
          <a:xfrm>
            <a:off x="3456432" y="2665476"/>
            <a:ext cx="10058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7 000 €</a:t>
            </a:r>
          </a:p>
        </p:txBody>
      </p:sp>
      <p:sp>
        <p:nvSpPr>
          <p:cNvPr id="57" name="TextBox 56"/>
          <p:cNvSpPr txBox="1"/>
          <p:nvPr/>
        </p:nvSpPr>
        <p:spPr>
          <a:xfrm>
            <a:off x="4462272" y="2665476"/>
            <a:ext cx="68580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10 %</a:t>
            </a:r>
          </a:p>
        </p:txBody>
      </p:sp>
      <p:sp>
        <p:nvSpPr>
          <p:cNvPr id="58" name="TextBox 57"/>
          <p:cNvSpPr txBox="1"/>
          <p:nvPr/>
        </p:nvSpPr>
        <p:spPr>
          <a:xfrm>
            <a:off x="5148072" y="2665476"/>
            <a:ext cx="96012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211</a:t>
            </a:r>
          </a:p>
        </p:txBody>
      </p:sp>
      <p:sp>
        <p:nvSpPr>
          <p:cNvPr id="59" name="TextBox 58"/>
          <p:cNvSpPr txBox="1"/>
          <p:nvPr/>
        </p:nvSpPr>
        <p:spPr>
          <a:xfrm>
            <a:off x="6108192" y="2665476"/>
            <a:ext cx="7772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22</a:t>
            </a:r>
          </a:p>
        </p:txBody>
      </p:sp>
      <p:sp>
        <p:nvSpPr>
          <p:cNvPr id="60" name="TextBox 59"/>
          <p:cNvSpPr txBox="1"/>
          <p:nvPr/>
        </p:nvSpPr>
        <p:spPr>
          <a:xfrm>
            <a:off x="6885432" y="2665476"/>
            <a:ext cx="96012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10,43 %</a:t>
            </a:r>
          </a:p>
        </p:txBody>
      </p:sp>
      <p:sp>
        <p:nvSpPr>
          <p:cNvPr id="61" name="TextBox 60"/>
          <p:cNvSpPr txBox="1"/>
          <p:nvPr/>
        </p:nvSpPr>
        <p:spPr>
          <a:xfrm>
            <a:off x="7845552" y="2665476"/>
            <a:ext cx="12344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33,18 €</a:t>
            </a:r>
          </a:p>
        </p:txBody>
      </p:sp>
      <p:sp>
        <p:nvSpPr>
          <p:cNvPr id="62" name="TextBox 61"/>
          <p:cNvSpPr txBox="1"/>
          <p:nvPr/>
        </p:nvSpPr>
        <p:spPr>
          <a:xfrm>
            <a:off x="9079992" y="2665476"/>
            <a:ext cx="1005840" cy="201168"/>
          </a:xfrm>
          <a:prstGeom prst="rect">
            <a:avLst/>
          </a:prstGeom>
          <a:noFill/>
        </p:spPr>
        <p:txBody>
          <a:bodyPr wrap="square" lIns="0" tIns="0" rIns="0" bIns="0" anchor="t">
            <a:normAutofit/>
          </a:bodyPr>
          <a:lstStyle/>
          <a:p>
            <a:pPr algn="l">
              <a:lnSpc>
                <a:spcPct val="115000"/>
              </a:lnSpc>
              <a:spcAft>
                <a:spcPts val="400"/>
              </a:spcAft>
            </a:pPr>
            <a:r>
              <a:rPr sz="900" b="1">
                <a:solidFill>
                  <a:srgbClr val="3AA65C"/>
                </a:solidFill>
                <a:latin typeface="Segoe UI"/>
              </a:rPr>
              <a:t>318 €</a:t>
            </a:r>
          </a:p>
        </p:txBody>
      </p:sp>
      <p:sp>
        <p:nvSpPr>
          <p:cNvPr id="63" name="TextBox 62"/>
          <p:cNvSpPr txBox="1"/>
          <p:nvPr/>
        </p:nvSpPr>
        <p:spPr>
          <a:xfrm>
            <a:off x="10085832" y="2665476"/>
            <a:ext cx="16916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AA65C"/>
                </a:solidFill>
                <a:latin typeface="Segoe UI"/>
              </a:rPr>
              <a:t>Base fiable</a:t>
            </a:r>
          </a:p>
        </p:txBody>
      </p:sp>
      <p:sp>
        <p:nvSpPr>
          <p:cNvPr id="64" name="Rectangle 63"/>
          <p:cNvSpPr/>
          <p:nvPr/>
        </p:nvSpPr>
        <p:spPr>
          <a:xfrm>
            <a:off x="502920" y="2889504"/>
            <a:ext cx="11201399" cy="288036"/>
          </a:xfrm>
          <a:prstGeom prst="rect">
            <a:avLst/>
          </a:prstGeom>
          <a:solidFill>
            <a:srgbClr val="FFFFFF"/>
          </a:solidFill>
          <a:ln w="508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576072" y="2953512"/>
            <a:ext cx="1737360" cy="201168"/>
          </a:xfrm>
          <a:prstGeom prst="rect">
            <a:avLst/>
          </a:prstGeom>
          <a:noFill/>
        </p:spPr>
        <p:txBody>
          <a:bodyPr wrap="square" lIns="0" tIns="0" rIns="0" bIns="0" anchor="t">
            <a:normAutofit/>
          </a:bodyPr>
          <a:lstStyle/>
          <a:p>
            <a:pPr algn="l">
              <a:lnSpc>
                <a:spcPct val="115000"/>
              </a:lnSpc>
              <a:spcAft>
                <a:spcPts val="400"/>
              </a:spcAft>
            </a:pPr>
            <a:r>
              <a:rPr sz="900" b="0">
                <a:solidFill>
                  <a:srgbClr val="0B1F2A"/>
                </a:solidFill>
                <a:latin typeface="Segoe UI"/>
              </a:rPr>
              <a:t>67bac78ff1</a:t>
            </a:r>
          </a:p>
        </p:txBody>
      </p:sp>
      <p:sp>
        <p:nvSpPr>
          <p:cNvPr id="66" name="TextBox 65"/>
          <p:cNvSpPr txBox="1"/>
          <p:nvPr/>
        </p:nvSpPr>
        <p:spPr>
          <a:xfrm>
            <a:off x="2313432" y="2953512"/>
            <a:ext cx="114300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google ads</a:t>
            </a:r>
          </a:p>
        </p:txBody>
      </p:sp>
      <p:sp>
        <p:nvSpPr>
          <p:cNvPr id="67" name="TextBox 66"/>
          <p:cNvSpPr txBox="1"/>
          <p:nvPr/>
        </p:nvSpPr>
        <p:spPr>
          <a:xfrm>
            <a:off x="3456432" y="2953512"/>
            <a:ext cx="10058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16 800 €</a:t>
            </a:r>
          </a:p>
        </p:txBody>
      </p:sp>
      <p:sp>
        <p:nvSpPr>
          <p:cNvPr id="68" name="TextBox 67"/>
          <p:cNvSpPr txBox="1"/>
          <p:nvPr/>
        </p:nvSpPr>
        <p:spPr>
          <a:xfrm>
            <a:off x="4462272" y="2953512"/>
            <a:ext cx="68580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24 %</a:t>
            </a:r>
          </a:p>
        </p:txBody>
      </p:sp>
      <p:sp>
        <p:nvSpPr>
          <p:cNvPr id="69" name="TextBox 68"/>
          <p:cNvSpPr txBox="1"/>
          <p:nvPr/>
        </p:nvSpPr>
        <p:spPr>
          <a:xfrm>
            <a:off x="5148072" y="2953512"/>
            <a:ext cx="96012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496</a:t>
            </a:r>
          </a:p>
        </p:txBody>
      </p:sp>
      <p:sp>
        <p:nvSpPr>
          <p:cNvPr id="70" name="TextBox 69"/>
          <p:cNvSpPr txBox="1"/>
          <p:nvPr/>
        </p:nvSpPr>
        <p:spPr>
          <a:xfrm>
            <a:off x="6108192" y="2953512"/>
            <a:ext cx="7772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45</a:t>
            </a:r>
          </a:p>
        </p:txBody>
      </p:sp>
      <p:sp>
        <p:nvSpPr>
          <p:cNvPr id="71" name="TextBox 70"/>
          <p:cNvSpPr txBox="1"/>
          <p:nvPr/>
        </p:nvSpPr>
        <p:spPr>
          <a:xfrm>
            <a:off x="6885432" y="2953512"/>
            <a:ext cx="96012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9,07 %</a:t>
            </a:r>
          </a:p>
        </p:txBody>
      </p:sp>
      <p:sp>
        <p:nvSpPr>
          <p:cNvPr id="72" name="TextBox 71"/>
          <p:cNvSpPr txBox="1"/>
          <p:nvPr/>
        </p:nvSpPr>
        <p:spPr>
          <a:xfrm>
            <a:off x="7845552" y="2953512"/>
            <a:ext cx="12344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33,87 €</a:t>
            </a:r>
          </a:p>
        </p:txBody>
      </p:sp>
      <p:sp>
        <p:nvSpPr>
          <p:cNvPr id="73" name="TextBox 72"/>
          <p:cNvSpPr txBox="1"/>
          <p:nvPr/>
        </p:nvSpPr>
        <p:spPr>
          <a:xfrm>
            <a:off x="9079992" y="2953512"/>
            <a:ext cx="1005840" cy="201168"/>
          </a:xfrm>
          <a:prstGeom prst="rect">
            <a:avLst/>
          </a:prstGeom>
          <a:noFill/>
        </p:spPr>
        <p:txBody>
          <a:bodyPr wrap="square" lIns="0" tIns="0" rIns="0" bIns="0" anchor="t">
            <a:normAutofit/>
          </a:bodyPr>
          <a:lstStyle/>
          <a:p>
            <a:pPr algn="l">
              <a:lnSpc>
                <a:spcPct val="115000"/>
              </a:lnSpc>
              <a:spcAft>
                <a:spcPts val="400"/>
              </a:spcAft>
            </a:pPr>
            <a:r>
              <a:rPr sz="900" b="1">
                <a:solidFill>
                  <a:srgbClr val="3AA65C"/>
                </a:solidFill>
                <a:latin typeface="Segoe UI"/>
              </a:rPr>
              <a:t>373 €</a:t>
            </a:r>
          </a:p>
        </p:txBody>
      </p:sp>
      <p:sp>
        <p:nvSpPr>
          <p:cNvPr id="74" name="TextBox 73"/>
          <p:cNvSpPr txBox="1"/>
          <p:nvPr/>
        </p:nvSpPr>
        <p:spPr>
          <a:xfrm>
            <a:off x="10085832" y="2953512"/>
            <a:ext cx="16916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AA65C"/>
                </a:solidFill>
                <a:latin typeface="Segoe UI"/>
              </a:rPr>
              <a:t>Base fiable</a:t>
            </a:r>
          </a:p>
        </p:txBody>
      </p:sp>
      <p:sp>
        <p:nvSpPr>
          <p:cNvPr id="75" name="Rectangle 74"/>
          <p:cNvSpPr/>
          <p:nvPr/>
        </p:nvSpPr>
        <p:spPr>
          <a:xfrm>
            <a:off x="502920" y="3177540"/>
            <a:ext cx="11201399" cy="288036"/>
          </a:xfrm>
          <a:prstGeom prst="rect">
            <a:avLst/>
          </a:prstGeom>
          <a:solidFill>
            <a:srgbClr val="FAFCFD"/>
          </a:solidFill>
          <a:ln w="508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576072" y="3241548"/>
            <a:ext cx="1737360" cy="201168"/>
          </a:xfrm>
          <a:prstGeom prst="rect">
            <a:avLst/>
          </a:prstGeom>
          <a:noFill/>
        </p:spPr>
        <p:txBody>
          <a:bodyPr wrap="square" lIns="0" tIns="0" rIns="0" bIns="0" anchor="t">
            <a:normAutofit/>
          </a:bodyPr>
          <a:lstStyle/>
          <a:p>
            <a:pPr algn="l">
              <a:lnSpc>
                <a:spcPct val="115000"/>
              </a:lnSpc>
              <a:spcAft>
                <a:spcPts val="400"/>
              </a:spcAft>
            </a:pPr>
            <a:r>
              <a:rPr sz="900" b="0">
                <a:solidFill>
                  <a:srgbClr val="0B1F2A"/>
                </a:solidFill>
                <a:latin typeface="Segoe UI"/>
              </a:rPr>
              <a:t>f115ad964e</a:t>
            </a:r>
          </a:p>
        </p:txBody>
      </p:sp>
      <p:sp>
        <p:nvSpPr>
          <p:cNvPr id="77" name="TextBox 76"/>
          <p:cNvSpPr txBox="1"/>
          <p:nvPr/>
        </p:nvSpPr>
        <p:spPr>
          <a:xfrm>
            <a:off x="2313432" y="3241548"/>
            <a:ext cx="114300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google ads</a:t>
            </a:r>
          </a:p>
        </p:txBody>
      </p:sp>
      <p:sp>
        <p:nvSpPr>
          <p:cNvPr id="78" name="TextBox 77"/>
          <p:cNvSpPr txBox="1"/>
          <p:nvPr/>
        </p:nvSpPr>
        <p:spPr>
          <a:xfrm>
            <a:off x="3456432" y="3241548"/>
            <a:ext cx="10058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4 200 €</a:t>
            </a:r>
          </a:p>
        </p:txBody>
      </p:sp>
      <p:sp>
        <p:nvSpPr>
          <p:cNvPr id="79" name="TextBox 78"/>
          <p:cNvSpPr txBox="1"/>
          <p:nvPr/>
        </p:nvSpPr>
        <p:spPr>
          <a:xfrm>
            <a:off x="4462272" y="3241548"/>
            <a:ext cx="68580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6 %</a:t>
            </a:r>
          </a:p>
        </p:txBody>
      </p:sp>
      <p:sp>
        <p:nvSpPr>
          <p:cNvPr id="80" name="TextBox 79"/>
          <p:cNvSpPr txBox="1"/>
          <p:nvPr/>
        </p:nvSpPr>
        <p:spPr>
          <a:xfrm>
            <a:off x="5148072" y="3241548"/>
            <a:ext cx="96012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126</a:t>
            </a:r>
          </a:p>
        </p:txBody>
      </p:sp>
      <p:sp>
        <p:nvSpPr>
          <p:cNvPr id="81" name="TextBox 80"/>
          <p:cNvSpPr txBox="1"/>
          <p:nvPr/>
        </p:nvSpPr>
        <p:spPr>
          <a:xfrm>
            <a:off x="6108192" y="3241548"/>
            <a:ext cx="7772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11</a:t>
            </a:r>
          </a:p>
        </p:txBody>
      </p:sp>
      <p:sp>
        <p:nvSpPr>
          <p:cNvPr id="82" name="TextBox 81"/>
          <p:cNvSpPr txBox="1"/>
          <p:nvPr/>
        </p:nvSpPr>
        <p:spPr>
          <a:xfrm>
            <a:off x="6885432" y="3241548"/>
            <a:ext cx="96012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8,73 %</a:t>
            </a:r>
          </a:p>
        </p:txBody>
      </p:sp>
      <p:sp>
        <p:nvSpPr>
          <p:cNvPr id="83" name="TextBox 82"/>
          <p:cNvSpPr txBox="1"/>
          <p:nvPr/>
        </p:nvSpPr>
        <p:spPr>
          <a:xfrm>
            <a:off x="7845552" y="3241548"/>
            <a:ext cx="12344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33,33 €</a:t>
            </a:r>
          </a:p>
        </p:txBody>
      </p:sp>
      <p:sp>
        <p:nvSpPr>
          <p:cNvPr id="84" name="TextBox 83"/>
          <p:cNvSpPr txBox="1"/>
          <p:nvPr/>
        </p:nvSpPr>
        <p:spPr>
          <a:xfrm>
            <a:off x="9079992" y="3241548"/>
            <a:ext cx="1005840" cy="201168"/>
          </a:xfrm>
          <a:prstGeom prst="rect">
            <a:avLst/>
          </a:prstGeom>
          <a:noFill/>
        </p:spPr>
        <p:txBody>
          <a:bodyPr wrap="square" lIns="0" tIns="0" rIns="0" bIns="0" anchor="t">
            <a:normAutofit/>
          </a:bodyPr>
          <a:lstStyle/>
          <a:p>
            <a:pPr algn="l">
              <a:lnSpc>
                <a:spcPct val="115000"/>
              </a:lnSpc>
              <a:spcAft>
                <a:spcPts val="400"/>
              </a:spcAft>
            </a:pPr>
            <a:r>
              <a:rPr sz="900" b="1">
                <a:solidFill>
                  <a:srgbClr val="3AA65C"/>
                </a:solidFill>
                <a:latin typeface="Segoe UI"/>
              </a:rPr>
              <a:t>382 €</a:t>
            </a:r>
          </a:p>
        </p:txBody>
      </p:sp>
      <p:sp>
        <p:nvSpPr>
          <p:cNvPr id="85" name="TextBox 84"/>
          <p:cNvSpPr txBox="1"/>
          <p:nvPr/>
        </p:nvSpPr>
        <p:spPr>
          <a:xfrm>
            <a:off x="10085832" y="3241548"/>
            <a:ext cx="16916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AA65C"/>
                </a:solidFill>
                <a:latin typeface="Segoe UI"/>
              </a:rPr>
              <a:t>Base fiable</a:t>
            </a:r>
          </a:p>
        </p:txBody>
      </p:sp>
      <p:sp>
        <p:nvSpPr>
          <p:cNvPr id="86" name="Rectangle 85"/>
          <p:cNvSpPr/>
          <p:nvPr/>
        </p:nvSpPr>
        <p:spPr>
          <a:xfrm>
            <a:off x="502920" y="3465576"/>
            <a:ext cx="11201399" cy="288036"/>
          </a:xfrm>
          <a:prstGeom prst="rect">
            <a:avLst/>
          </a:prstGeom>
          <a:solidFill>
            <a:srgbClr val="FFFFFF"/>
          </a:solidFill>
          <a:ln w="508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576072" y="3529584"/>
            <a:ext cx="1737360" cy="201168"/>
          </a:xfrm>
          <a:prstGeom prst="rect">
            <a:avLst/>
          </a:prstGeom>
          <a:noFill/>
        </p:spPr>
        <p:txBody>
          <a:bodyPr wrap="square" lIns="0" tIns="0" rIns="0" bIns="0" anchor="t">
            <a:normAutofit/>
          </a:bodyPr>
          <a:lstStyle/>
          <a:p>
            <a:pPr algn="l">
              <a:lnSpc>
                <a:spcPct val="115000"/>
              </a:lnSpc>
              <a:spcAft>
                <a:spcPts val="400"/>
              </a:spcAft>
            </a:pPr>
            <a:r>
              <a:rPr sz="900" b="0">
                <a:solidFill>
                  <a:srgbClr val="0B1F2A"/>
                </a:solidFill>
                <a:latin typeface="Segoe UI"/>
              </a:rPr>
              <a:t>9fa01fb1a0</a:t>
            </a:r>
          </a:p>
        </p:txBody>
      </p:sp>
      <p:sp>
        <p:nvSpPr>
          <p:cNvPr id="88" name="TextBox 87"/>
          <p:cNvSpPr txBox="1"/>
          <p:nvPr/>
        </p:nvSpPr>
        <p:spPr>
          <a:xfrm>
            <a:off x="2313432" y="3529584"/>
            <a:ext cx="114300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affiliation</a:t>
            </a:r>
          </a:p>
        </p:txBody>
      </p:sp>
      <p:sp>
        <p:nvSpPr>
          <p:cNvPr id="89" name="TextBox 88"/>
          <p:cNvSpPr txBox="1"/>
          <p:nvPr/>
        </p:nvSpPr>
        <p:spPr>
          <a:xfrm>
            <a:off x="3456432" y="3529584"/>
            <a:ext cx="10058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3 500 €</a:t>
            </a:r>
          </a:p>
        </p:txBody>
      </p:sp>
      <p:sp>
        <p:nvSpPr>
          <p:cNvPr id="90" name="TextBox 89"/>
          <p:cNvSpPr txBox="1"/>
          <p:nvPr/>
        </p:nvSpPr>
        <p:spPr>
          <a:xfrm>
            <a:off x="4462272" y="3529584"/>
            <a:ext cx="68580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5 %</a:t>
            </a:r>
          </a:p>
        </p:txBody>
      </p:sp>
      <p:sp>
        <p:nvSpPr>
          <p:cNvPr id="91" name="TextBox 90"/>
          <p:cNvSpPr txBox="1"/>
          <p:nvPr/>
        </p:nvSpPr>
        <p:spPr>
          <a:xfrm>
            <a:off x="5148072" y="3529584"/>
            <a:ext cx="96012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103</a:t>
            </a:r>
          </a:p>
        </p:txBody>
      </p:sp>
      <p:sp>
        <p:nvSpPr>
          <p:cNvPr id="92" name="TextBox 91"/>
          <p:cNvSpPr txBox="1"/>
          <p:nvPr/>
        </p:nvSpPr>
        <p:spPr>
          <a:xfrm>
            <a:off x="6108192" y="3529584"/>
            <a:ext cx="7772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9</a:t>
            </a:r>
          </a:p>
        </p:txBody>
      </p:sp>
      <p:sp>
        <p:nvSpPr>
          <p:cNvPr id="93" name="TextBox 92"/>
          <p:cNvSpPr txBox="1"/>
          <p:nvPr/>
        </p:nvSpPr>
        <p:spPr>
          <a:xfrm>
            <a:off x="6885432" y="3529584"/>
            <a:ext cx="96012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8,74 %</a:t>
            </a:r>
          </a:p>
        </p:txBody>
      </p:sp>
      <p:sp>
        <p:nvSpPr>
          <p:cNvPr id="94" name="TextBox 93"/>
          <p:cNvSpPr txBox="1"/>
          <p:nvPr/>
        </p:nvSpPr>
        <p:spPr>
          <a:xfrm>
            <a:off x="7845552" y="3529584"/>
            <a:ext cx="12344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33,98 €</a:t>
            </a:r>
          </a:p>
        </p:txBody>
      </p:sp>
      <p:sp>
        <p:nvSpPr>
          <p:cNvPr id="95" name="TextBox 94"/>
          <p:cNvSpPr txBox="1"/>
          <p:nvPr/>
        </p:nvSpPr>
        <p:spPr>
          <a:xfrm>
            <a:off x="9079992" y="3529584"/>
            <a:ext cx="1005840" cy="201168"/>
          </a:xfrm>
          <a:prstGeom prst="rect">
            <a:avLst/>
          </a:prstGeom>
          <a:noFill/>
        </p:spPr>
        <p:txBody>
          <a:bodyPr wrap="square" lIns="0" tIns="0" rIns="0" bIns="0" anchor="t">
            <a:normAutofit/>
          </a:bodyPr>
          <a:lstStyle/>
          <a:p>
            <a:pPr algn="l">
              <a:lnSpc>
                <a:spcPct val="115000"/>
              </a:lnSpc>
              <a:spcAft>
                <a:spcPts val="400"/>
              </a:spcAft>
            </a:pPr>
            <a:r>
              <a:rPr sz="900" b="1">
                <a:solidFill>
                  <a:srgbClr val="3AA65C"/>
                </a:solidFill>
                <a:latin typeface="Segoe UI"/>
              </a:rPr>
              <a:t>389 €</a:t>
            </a:r>
          </a:p>
        </p:txBody>
      </p:sp>
      <p:sp>
        <p:nvSpPr>
          <p:cNvPr id="96" name="TextBox 95"/>
          <p:cNvSpPr txBox="1"/>
          <p:nvPr/>
        </p:nvSpPr>
        <p:spPr>
          <a:xfrm>
            <a:off x="10085832" y="3529584"/>
            <a:ext cx="16916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AA65C"/>
                </a:solidFill>
                <a:latin typeface="Segoe UI"/>
              </a:rPr>
              <a:t>Base fiable</a:t>
            </a:r>
          </a:p>
        </p:txBody>
      </p:sp>
      <p:sp>
        <p:nvSpPr>
          <p:cNvPr id="97" name="Rectangle 96"/>
          <p:cNvSpPr/>
          <p:nvPr/>
        </p:nvSpPr>
        <p:spPr>
          <a:xfrm>
            <a:off x="502920" y="3753612"/>
            <a:ext cx="11201399" cy="288036"/>
          </a:xfrm>
          <a:prstGeom prst="rect">
            <a:avLst/>
          </a:prstGeom>
          <a:solidFill>
            <a:srgbClr val="FAFCFD"/>
          </a:solidFill>
          <a:ln w="508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576072" y="3817620"/>
            <a:ext cx="1737360" cy="201168"/>
          </a:xfrm>
          <a:prstGeom prst="rect">
            <a:avLst/>
          </a:prstGeom>
          <a:noFill/>
        </p:spPr>
        <p:txBody>
          <a:bodyPr wrap="square" lIns="0" tIns="0" rIns="0" bIns="0" anchor="t">
            <a:normAutofit/>
          </a:bodyPr>
          <a:lstStyle/>
          <a:p>
            <a:pPr algn="l">
              <a:lnSpc>
                <a:spcPct val="115000"/>
              </a:lnSpc>
              <a:spcAft>
                <a:spcPts val="400"/>
              </a:spcAft>
            </a:pPr>
            <a:r>
              <a:rPr sz="900" b="0">
                <a:solidFill>
                  <a:srgbClr val="0B1F2A"/>
                </a:solidFill>
                <a:latin typeface="Segoe UI"/>
              </a:rPr>
              <a:t>f11dac0db6</a:t>
            </a:r>
          </a:p>
        </p:txBody>
      </p:sp>
      <p:sp>
        <p:nvSpPr>
          <p:cNvPr id="99" name="TextBox 98"/>
          <p:cNvSpPr txBox="1"/>
          <p:nvPr/>
        </p:nvSpPr>
        <p:spPr>
          <a:xfrm>
            <a:off x="2313432" y="3817620"/>
            <a:ext cx="114300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google ads</a:t>
            </a:r>
          </a:p>
        </p:txBody>
      </p:sp>
      <p:sp>
        <p:nvSpPr>
          <p:cNvPr id="100" name="TextBox 99"/>
          <p:cNvSpPr txBox="1"/>
          <p:nvPr/>
        </p:nvSpPr>
        <p:spPr>
          <a:xfrm>
            <a:off x="3456432" y="3817620"/>
            <a:ext cx="10058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9 100 €</a:t>
            </a:r>
          </a:p>
        </p:txBody>
      </p:sp>
      <p:sp>
        <p:nvSpPr>
          <p:cNvPr id="101" name="TextBox 100"/>
          <p:cNvSpPr txBox="1"/>
          <p:nvPr/>
        </p:nvSpPr>
        <p:spPr>
          <a:xfrm>
            <a:off x="4462272" y="3817620"/>
            <a:ext cx="68580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13 %</a:t>
            </a:r>
          </a:p>
        </p:txBody>
      </p:sp>
      <p:sp>
        <p:nvSpPr>
          <p:cNvPr id="102" name="TextBox 101"/>
          <p:cNvSpPr txBox="1"/>
          <p:nvPr/>
        </p:nvSpPr>
        <p:spPr>
          <a:xfrm>
            <a:off x="5148072" y="3817620"/>
            <a:ext cx="96012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302</a:t>
            </a:r>
          </a:p>
        </p:txBody>
      </p:sp>
      <p:sp>
        <p:nvSpPr>
          <p:cNvPr id="103" name="TextBox 102"/>
          <p:cNvSpPr txBox="1"/>
          <p:nvPr/>
        </p:nvSpPr>
        <p:spPr>
          <a:xfrm>
            <a:off x="6108192" y="3817620"/>
            <a:ext cx="7772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23</a:t>
            </a:r>
          </a:p>
        </p:txBody>
      </p:sp>
      <p:sp>
        <p:nvSpPr>
          <p:cNvPr id="104" name="TextBox 103"/>
          <p:cNvSpPr txBox="1"/>
          <p:nvPr/>
        </p:nvSpPr>
        <p:spPr>
          <a:xfrm>
            <a:off x="6885432" y="3817620"/>
            <a:ext cx="96012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7,62 %</a:t>
            </a:r>
          </a:p>
        </p:txBody>
      </p:sp>
      <p:sp>
        <p:nvSpPr>
          <p:cNvPr id="105" name="TextBox 104"/>
          <p:cNvSpPr txBox="1"/>
          <p:nvPr/>
        </p:nvSpPr>
        <p:spPr>
          <a:xfrm>
            <a:off x="7845552" y="3817620"/>
            <a:ext cx="12344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30,13 €</a:t>
            </a:r>
          </a:p>
        </p:txBody>
      </p:sp>
      <p:sp>
        <p:nvSpPr>
          <p:cNvPr id="106" name="TextBox 105"/>
          <p:cNvSpPr txBox="1"/>
          <p:nvPr/>
        </p:nvSpPr>
        <p:spPr>
          <a:xfrm>
            <a:off x="9079992" y="3817620"/>
            <a:ext cx="1005840" cy="201168"/>
          </a:xfrm>
          <a:prstGeom prst="rect">
            <a:avLst/>
          </a:prstGeom>
          <a:noFill/>
        </p:spPr>
        <p:txBody>
          <a:bodyPr wrap="square" lIns="0" tIns="0" rIns="0" bIns="0" anchor="t">
            <a:normAutofit/>
          </a:bodyPr>
          <a:lstStyle/>
          <a:p>
            <a:pPr algn="l">
              <a:lnSpc>
                <a:spcPct val="115000"/>
              </a:lnSpc>
              <a:spcAft>
                <a:spcPts val="400"/>
              </a:spcAft>
            </a:pPr>
            <a:r>
              <a:rPr sz="900" b="1">
                <a:solidFill>
                  <a:srgbClr val="D9534F"/>
                </a:solidFill>
                <a:latin typeface="Segoe UI"/>
              </a:rPr>
              <a:t>396 €</a:t>
            </a:r>
          </a:p>
        </p:txBody>
      </p:sp>
      <p:sp>
        <p:nvSpPr>
          <p:cNvPr id="107" name="TextBox 106"/>
          <p:cNvSpPr txBox="1"/>
          <p:nvPr/>
        </p:nvSpPr>
        <p:spPr>
          <a:xfrm>
            <a:off x="10085832" y="3817620"/>
            <a:ext cx="16916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AA65C"/>
                </a:solidFill>
                <a:latin typeface="Segoe UI"/>
              </a:rPr>
              <a:t>Base fiable</a:t>
            </a:r>
          </a:p>
        </p:txBody>
      </p:sp>
      <p:sp>
        <p:nvSpPr>
          <p:cNvPr id="108" name="Rectangle 107"/>
          <p:cNvSpPr/>
          <p:nvPr/>
        </p:nvSpPr>
        <p:spPr>
          <a:xfrm>
            <a:off x="502920" y="4041648"/>
            <a:ext cx="11201399" cy="288036"/>
          </a:xfrm>
          <a:prstGeom prst="rect">
            <a:avLst/>
          </a:prstGeom>
          <a:solidFill>
            <a:srgbClr val="FFFFFF"/>
          </a:solidFill>
          <a:ln w="508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576072" y="4105656"/>
            <a:ext cx="1737360" cy="201168"/>
          </a:xfrm>
          <a:prstGeom prst="rect">
            <a:avLst/>
          </a:prstGeom>
          <a:noFill/>
        </p:spPr>
        <p:txBody>
          <a:bodyPr wrap="square" lIns="0" tIns="0" rIns="0" bIns="0" anchor="t">
            <a:normAutofit/>
          </a:bodyPr>
          <a:lstStyle/>
          <a:p>
            <a:pPr algn="l">
              <a:lnSpc>
                <a:spcPct val="115000"/>
              </a:lnSpc>
              <a:spcAft>
                <a:spcPts val="400"/>
              </a:spcAft>
            </a:pPr>
            <a:r>
              <a:rPr sz="900" b="0">
                <a:solidFill>
                  <a:srgbClr val="0B1F2A"/>
                </a:solidFill>
                <a:latin typeface="Segoe UI"/>
              </a:rPr>
              <a:t>95137568bf</a:t>
            </a:r>
          </a:p>
        </p:txBody>
      </p:sp>
      <p:sp>
        <p:nvSpPr>
          <p:cNvPr id="110" name="TextBox 109"/>
          <p:cNvSpPr txBox="1"/>
          <p:nvPr/>
        </p:nvSpPr>
        <p:spPr>
          <a:xfrm>
            <a:off x="2313432" y="4105656"/>
            <a:ext cx="114300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affiliation</a:t>
            </a:r>
          </a:p>
        </p:txBody>
      </p:sp>
      <p:sp>
        <p:nvSpPr>
          <p:cNvPr id="111" name="TextBox 110"/>
          <p:cNvSpPr txBox="1"/>
          <p:nvPr/>
        </p:nvSpPr>
        <p:spPr>
          <a:xfrm>
            <a:off x="3456432" y="4105656"/>
            <a:ext cx="10058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2 800 €</a:t>
            </a:r>
          </a:p>
        </p:txBody>
      </p:sp>
      <p:sp>
        <p:nvSpPr>
          <p:cNvPr id="112" name="TextBox 111"/>
          <p:cNvSpPr txBox="1"/>
          <p:nvPr/>
        </p:nvSpPr>
        <p:spPr>
          <a:xfrm>
            <a:off x="4462272" y="4105656"/>
            <a:ext cx="68580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4 %</a:t>
            </a:r>
          </a:p>
        </p:txBody>
      </p:sp>
      <p:sp>
        <p:nvSpPr>
          <p:cNvPr id="113" name="TextBox 112"/>
          <p:cNvSpPr txBox="1"/>
          <p:nvPr/>
        </p:nvSpPr>
        <p:spPr>
          <a:xfrm>
            <a:off x="5148072" y="4105656"/>
            <a:ext cx="96012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73</a:t>
            </a:r>
          </a:p>
        </p:txBody>
      </p:sp>
      <p:sp>
        <p:nvSpPr>
          <p:cNvPr id="114" name="TextBox 113"/>
          <p:cNvSpPr txBox="1"/>
          <p:nvPr/>
        </p:nvSpPr>
        <p:spPr>
          <a:xfrm>
            <a:off x="6108192" y="4105656"/>
            <a:ext cx="7772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7</a:t>
            </a:r>
          </a:p>
        </p:txBody>
      </p:sp>
      <p:sp>
        <p:nvSpPr>
          <p:cNvPr id="115" name="TextBox 114"/>
          <p:cNvSpPr txBox="1"/>
          <p:nvPr/>
        </p:nvSpPr>
        <p:spPr>
          <a:xfrm>
            <a:off x="6885432" y="4105656"/>
            <a:ext cx="96012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9,59 %</a:t>
            </a:r>
          </a:p>
        </p:txBody>
      </p:sp>
      <p:sp>
        <p:nvSpPr>
          <p:cNvPr id="116" name="TextBox 115"/>
          <p:cNvSpPr txBox="1"/>
          <p:nvPr/>
        </p:nvSpPr>
        <p:spPr>
          <a:xfrm>
            <a:off x="7845552" y="4105656"/>
            <a:ext cx="12344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38,36 €</a:t>
            </a:r>
          </a:p>
        </p:txBody>
      </p:sp>
      <p:sp>
        <p:nvSpPr>
          <p:cNvPr id="117" name="TextBox 116"/>
          <p:cNvSpPr txBox="1"/>
          <p:nvPr/>
        </p:nvSpPr>
        <p:spPr>
          <a:xfrm>
            <a:off x="9079992" y="4105656"/>
            <a:ext cx="1005840" cy="201168"/>
          </a:xfrm>
          <a:prstGeom prst="rect">
            <a:avLst/>
          </a:prstGeom>
          <a:noFill/>
        </p:spPr>
        <p:txBody>
          <a:bodyPr wrap="square" lIns="0" tIns="0" rIns="0" bIns="0" anchor="t">
            <a:normAutofit/>
          </a:bodyPr>
          <a:lstStyle/>
          <a:p>
            <a:pPr algn="l">
              <a:lnSpc>
                <a:spcPct val="115000"/>
              </a:lnSpc>
              <a:spcAft>
                <a:spcPts val="400"/>
              </a:spcAft>
            </a:pPr>
            <a:r>
              <a:rPr sz="900" b="1">
                <a:solidFill>
                  <a:srgbClr val="D9534F"/>
                </a:solidFill>
                <a:latin typeface="Segoe UI"/>
              </a:rPr>
              <a:t>400 €</a:t>
            </a:r>
          </a:p>
        </p:txBody>
      </p:sp>
      <p:sp>
        <p:nvSpPr>
          <p:cNvPr id="118" name="TextBox 117"/>
          <p:cNvSpPr txBox="1"/>
          <p:nvPr/>
        </p:nvSpPr>
        <p:spPr>
          <a:xfrm>
            <a:off x="10085832" y="4105656"/>
            <a:ext cx="16916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F2A354"/>
                </a:solidFill>
                <a:latin typeface="Segoe UI"/>
              </a:rPr>
              <a:t>Base moyenne</a:t>
            </a:r>
          </a:p>
        </p:txBody>
      </p:sp>
      <p:sp>
        <p:nvSpPr>
          <p:cNvPr id="119" name="Rectangle 118"/>
          <p:cNvSpPr/>
          <p:nvPr/>
        </p:nvSpPr>
        <p:spPr>
          <a:xfrm>
            <a:off x="502920" y="4329684"/>
            <a:ext cx="11201399" cy="288036"/>
          </a:xfrm>
          <a:prstGeom prst="rect">
            <a:avLst/>
          </a:prstGeom>
          <a:solidFill>
            <a:srgbClr val="FAFCFD"/>
          </a:solidFill>
          <a:ln w="508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576072" y="4393692"/>
            <a:ext cx="1737360" cy="201168"/>
          </a:xfrm>
          <a:prstGeom prst="rect">
            <a:avLst/>
          </a:prstGeom>
          <a:noFill/>
        </p:spPr>
        <p:txBody>
          <a:bodyPr wrap="square" lIns="0" tIns="0" rIns="0" bIns="0" anchor="t">
            <a:normAutofit/>
          </a:bodyPr>
          <a:lstStyle/>
          <a:p>
            <a:pPr algn="l">
              <a:lnSpc>
                <a:spcPct val="115000"/>
              </a:lnSpc>
              <a:spcAft>
                <a:spcPts val="400"/>
              </a:spcAft>
            </a:pPr>
            <a:r>
              <a:rPr sz="900" b="0">
                <a:solidFill>
                  <a:srgbClr val="0B1F2A"/>
                </a:solidFill>
                <a:latin typeface="Segoe UI"/>
              </a:rPr>
              <a:t>73dc9eab7b</a:t>
            </a:r>
          </a:p>
        </p:txBody>
      </p:sp>
      <p:sp>
        <p:nvSpPr>
          <p:cNvPr id="121" name="TextBox 120"/>
          <p:cNvSpPr txBox="1"/>
          <p:nvPr/>
        </p:nvSpPr>
        <p:spPr>
          <a:xfrm>
            <a:off x="2313432" y="4393692"/>
            <a:ext cx="114300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google ads</a:t>
            </a:r>
          </a:p>
        </p:txBody>
      </p:sp>
      <p:sp>
        <p:nvSpPr>
          <p:cNvPr id="122" name="TextBox 121"/>
          <p:cNvSpPr txBox="1"/>
          <p:nvPr/>
        </p:nvSpPr>
        <p:spPr>
          <a:xfrm>
            <a:off x="3456432" y="4393692"/>
            <a:ext cx="10058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8 400 €</a:t>
            </a:r>
          </a:p>
        </p:txBody>
      </p:sp>
      <p:sp>
        <p:nvSpPr>
          <p:cNvPr id="123" name="TextBox 122"/>
          <p:cNvSpPr txBox="1"/>
          <p:nvPr/>
        </p:nvSpPr>
        <p:spPr>
          <a:xfrm>
            <a:off x="4462272" y="4393692"/>
            <a:ext cx="68580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12 %</a:t>
            </a:r>
          </a:p>
        </p:txBody>
      </p:sp>
      <p:sp>
        <p:nvSpPr>
          <p:cNvPr id="124" name="TextBox 123"/>
          <p:cNvSpPr txBox="1"/>
          <p:nvPr/>
        </p:nvSpPr>
        <p:spPr>
          <a:xfrm>
            <a:off x="5148072" y="4393692"/>
            <a:ext cx="96012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248</a:t>
            </a:r>
          </a:p>
        </p:txBody>
      </p:sp>
      <p:sp>
        <p:nvSpPr>
          <p:cNvPr id="125" name="TextBox 124"/>
          <p:cNvSpPr txBox="1"/>
          <p:nvPr/>
        </p:nvSpPr>
        <p:spPr>
          <a:xfrm>
            <a:off x="6108192" y="4393692"/>
            <a:ext cx="7772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20</a:t>
            </a:r>
          </a:p>
        </p:txBody>
      </p:sp>
      <p:sp>
        <p:nvSpPr>
          <p:cNvPr id="126" name="TextBox 125"/>
          <p:cNvSpPr txBox="1"/>
          <p:nvPr/>
        </p:nvSpPr>
        <p:spPr>
          <a:xfrm>
            <a:off x="6885432" y="4393692"/>
            <a:ext cx="96012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8,06 %</a:t>
            </a:r>
          </a:p>
        </p:txBody>
      </p:sp>
      <p:sp>
        <p:nvSpPr>
          <p:cNvPr id="127" name="TextBox 126"/>
          <p:cNvSpPr txBox="1"/>
          <p:nvPr/>
        </p:nvSpPr>
        <p:spPr>
          <a:xfrm>
            <a:off x="7845552" y="4393692"/>
            <a:ext cx="12344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33,87 €</a:t>
            </a:r>
          </a:p>
        </p:txBody>
      </p:sp>
      <p:sp>
        <p:nvSpPr>
          <p:cNvPr id="128" name="TextBox 127"/>
          <p:cNvSpPr txBox="1"/>
          <p:nvPr/>
        </p:nvSpPr>
        <p:spPr>
          <a:xfrm>
            <a:off x="9079992" y="4393692"/>
            <a:ext cx="1005840" cy="201168"/>
          </a:xfrm>
          <a:prstGeom prst="rect">
            <a:avLst/>
          </a:prstGeom>
          <a:noFill/>
        </p:spPr>
        <p:txBody>
          <a:bodyPr wrap="square" lIns="0" tIns="0" rIns="0" bIns="0" anchor="t">
            <a:normAutofit/>
          </a:bodyPr>
          <a:lstStyle/>
          <a:p>
            <a:pPr algn="l">
              <a:lnSpc>
                <a:spcPct val="115000"/>
              </a:lnSpc>
              <a:spcAft>
                <a:spcPts val="400"/>
              </a:spcAft>
            </a:pPr>
            <a:r>
              <a:rPr sz="900" b="1">
                <a:solidFill>
                  <a:srgbClr val="D9534F"/>
                </a:solidFill>
                <a:latin typeface="Segoe UI"/>
              </a:rPr>
              <a:t>420 €</a:t>
            </a:r>
          </a:p>
        </p:txBody>
      </p:sp>
      <p:sp>
        <p:nvSpPr>
          <p:cNvPr id="129" name="TextBox 128"/>
          <p:cNvSpPr txBox="1"/>
          <p:nvPr/>
        </p:nvSpPr>
        <p:spPr>
          <a:xfrm>
            <a:off x="10085832" y="4393692"/>
            <a:ext cx="16916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AA65C"/>
                </a:solidFill>
                <a:latin typeface="Segoe UI"/>
              </a:rPr>
              <a:t>Base fiable</a:t>
            </a:r>
          </a:p>
        </p:txBody>
      </p:sp>
      <p:sp>
        <p:nvSpPr>
          <p:cNvPr id="130" name="Rectangle 129"/>
          <p:cNvSpPr/>
          <p:nvPr/>
        </p:nvSpPr>
        <p:spPr>
          <a:xfrm>
            <a:off x="502920" y="4617720"/>
            <a:ext cx="11201399" cy="288036"/>
          </a:xfrm>
          <a:prstGeom prst="rect">
            <a:avLst/>
          </a:prstGeom>
          <a:solidFill>
            <a:srgbClr val="FFFFFF"/>
          </a:solidFill>
          <a:ln w="508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TextBox 130"/>
          <p:cNvSpPr txBox="1"/>
          <p:nvPr/>
        </p:nvSpPr>
        <p:spPr>
          <a:xfrm>
            <a:off x="576072" y="4681728"/>
            <a:ext cx="1737360" cy="201168"/>
          </a:xfrm>
          <a:prstGeom prst="rect">
            <a:avLst/>
          </a:prstGeom>
          <a:noFill/>
        </p:spPr>
        <p:txBody>
          <a:bodyPr wrap="square" lIns="0" tIns="0" rIns="0" bIns="0" anchor="t">
            <a:normAutofit/>
          </a:bodyPr>
          <a:lstStyle/>
          <a:p>
            <a:pPr algn="l">
              <a:lnSpc>
                <a:spcPct val="115000"/>
              </a:lnSpc>
              <a:spcAft>
                <a:spcPts val="400"/>
              </a:spcAft>
            </a:pPr>
            <a:r>
              <a:rPr sz="900" b="0">
                <a:solidFill>
                  <a:srgbClr val="0B1F2A"/>
                </a:solidFill>
                <a:latin typeface="Segoe UI"/>
              </a:rPr>
              <a:t>f28414dfd1</a:t>
            </a:r>
          </a:p>
        </p:txBody>
      </p:sp>
      <p:sp>
        <p:nvSpPr>
          <p:cNvPr id="132" name="TextBox 131"/>
          <p:cNvSpPr txBox="1"/>
          <p:nvPr/>
        </p:nvSpPr>
        <p:spPr>
          <a:xfrm>
            <a:off x="2313432" y="4681728"/>
            <a:ext cx="114300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google ads</a:t>
            </a:r>
          </a:p>
        </p:txBody>
      </p:sp>
      <p:sp>
        <p:nvSpPr>
          <p:cNvPr id="133" name="TextBox 132"/>
          <p:cNvSpPr txBox="1"/>
          <p:nvPr/>
        </p:nvSpPr>
        <p:spPr>
          <a:xfrm>
            <a:off x="3456432" y="4681728"/>
            <a:ext cx="10058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6 300 €</a:t>
            </a:r>
          </a:p>
        </p:txBody>
      </p:sp>
      <p:sp>
        <p:nvSpPr>
          <p:cNvPr id="134" name="TextBox 133"/>
          <p:cNvSpPr txBox="1"/>
          <p:nvPr/>
        </p:nvSpPr>
        <p:spPr>
          <a:xfrm>
            <a:off x="4462272" y="4681728"/>
            <a:ext cx="68580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9 %</a:t>
            </a:r>
          </a:p>
        </p:txBody>
      </p:sp>
      <p:sp>
        <p:nvSpPr>
          <p:cNvPr id="135" name="TextBox 134"/>
          <p:cNvSpPr txBox="1"/>
          <p:nvPr/>
        </p:nvSpPr>
        <p:spPr>
          <a:xfrm>
            <a:off x="5148072" y="4681728"/>
            <a:ext cx="96012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173</a:t>
            </a:r>
          </a:p>
        </p:txBody>
      </p:sp>
      <p:sp>
        <p:nvSpPr>
          <p:cNvPr id="136" name="TextBox 135"/>
          <p:cNvSpPr txBox="1"/>
          <p:nvPr/>
        </p:nvSpPr>
        <p:spPr>
          <a:xfrm>
            <a:off x="6108192" y="4681728"/>
            <a:ext cx="7772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13</a:t>
            </a:r>
          </a:p>
        </p:txBody>
      </p:sp>
      <p:sp>
        <p:nvSpPr>
          <p:cNvPr id="137" name="TextBox 136"/>
          <p:cNvSpPr txBox="1"/>
          <p:nvPr/>
        </p:nvSpPr>
        <p:spPr>
          <a:xfrm>
            <a:off x="6885432" y="4681728"/>
            <a:ext cx="96012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7,51 %</a:t>
            </a:r>
          </a:p>
        </p:txBody>
      </p:sp>
      <p:sp>
        <p:nvSpPr>
          <p:cNvPr id="138" name="TextBox 137"/>
          <p:cNvSpPr txBox="1"/>
          <p:nvPr/>
        </p:nvSpPr>
        <p:spPr>
          <a:xfrm>
            <a:off x="7845552" y="4681728"/>
            <a:ext cx="12344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36,42 €</a:t>
            </a:r>
          </a:p>
        </p:txBody>
      </p:sp>
      <p:sp>
        <p:nvSpPr>
          <p:cNvPr id="139" name="TextBox 138"/>
          <p:cNvSpPr txBox="1"/>
          <p:nvPr/>
        </p:nvSpPr>
        <p:spPr>
          <a:xfrm>
            <a:off x="9079992" y="4681728"/>
            <a:ext cx="1005840" cy="201168"/>
          </a:xfrm>
          <a:prstGeom prst="rect">
            <a:avLst/>
          </a:prstGeom>
          <a:noFill/>
        </p:spPr>
        <p:txBody>
          <a:bodyPr wrap="square" lIns="0" tIns="0" rIns="0" bIns="0" anchor="t">
            <a:normAutofit/>
          </a:bodyPr>
          <a:lstStyle/>
          <a:p>
            <a:pPr algn="l">
              <a:lnSpc>
                <a:spcPct val="115000"/>
              </a:lnSpc>
              <a:spcAft>
                <a:spcPts val="400"/>
              </a:spcAft>
            </a:pPr>
            <a:r>
              <a:rPr sz="900" b="1">
                <a:solidFill>
                  <a:srgbClr val="D9534F"/>
                </a:solidFill>
                <a:latin typeface="Segoe UI"/>
              </a:rPr>
              <a:t>485 €</a:t>
            </a:r>
          </a:p>
        </p:txBody>
      </p:sp>
      <p:sp>
        <p:nvSpPr>
          <p:cNvPr id="140" name="TextBox 139"/>
          <p:cNvSpPr txBox="1"/>
          <p:nvPr/>
        </p:nvSpPr>
        <p:spPr>
          <a:xfrm>
            <a:off x="10085832" y="4681728"/>
            <a:ext cx="16916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AA65C"/>
                </a:solidFill>
                <a:latin typeface="Segoe UI"/>
              </a:rPr>
              <a:t>Base fiable</a:t>
            </a:r>
          </a:p>
        </p:txBody>
      </p:sp>
      <p:sp>
        <p:nvSpPr>
          <p:cNvPr id="141" name="Rectangle 140"/>
          <p:cNvSpPr/>
          <p:nvPr/>
        </p:nvSpPr>
        <p:spPr>
          <a:xfrm>
            <a:off x="502920" y="4905756"/>
            <a:ext cx="11201399" cy="288036"/>
          </a:xfrm>
          <a:prstGeom prst="rect">
            <a:avLst/>
          </a:prstGeom>
          <a:solidFill>
            <a:srgbClr val="FAFCFD"/>
          </a:solidFill>
          <a:ln w="508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TextBox 141"/>
          <p:cNvSpPr txBox="1"/>
          <p:nvPr/>
        </p:nvSpPr>
        <p:spPr>
          <a:xfrm>
            <a:off x="576072" y="4969764"/>
            <a:ext cx="1737360" cy="201168"/>
          </a:xfrm>
          <a:prstGeom prst="rect">
            <a:avLst/>
          </a:prstGeom>
          <a:noFill/>
        </p:spPr>
        <p:txBody>
          <a:bodyPr wrap="square" lIns="0" tIns="0" rIns="0" bIns="0" anchor="t">
            <a:normAutofit/>
          </a:bodyPr>
          <a:lstStyle/>
          <a:p>
            <a:pPr algn="l">
              <a:lnSpc>
                <a:spcPct val="115000"/>
              </a:lnSpc>
              <a:spcAft>
                <a:spcPts val="400"/>
              </a:spcAft>
            </a:pPr>
            <a:r>
              <a:rPr sz="900" b="0">
                <a:solidFill>
                  <a:srgbClr val="0B1F2A"/>
                </a:solidFill>
                <a:latin typeface="Segoe UI"/>
              </a:rPr>
              <a:t>45c82b38c6</a:t>
            </a:r>
          </a:p>
        </p:txBody>
      </p:sp>
      <p:sp>
        <p:nvSpPr>
          <p:cNvPr id="143" name="TextBox 142"/>
          <p:cNvSpPr txBox="1"/>
          <p:nvPr/>
        </p:nvSpPr>
        <p:spPr>
          <a:xfrm>
            <a:off x="2313432" y="4969764"/>
            <a:ext cx="114300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google ads</a:t>
            </a:r>
          </a:p>
        </p:txBody>
      </p:sp>
      <p:sp>
        <p:nvSpPr>
          <p:cNvPr id="144" name="TextBox 143"/>
          <p:cNvSpPr txBox="1"/>
          <p:nvPr/>
        </p:nvSpPr>
        <p:spPr>
          <a:xfrm>
            <a:off x="3456432" y="4969764"/>
            <a:ext cx="10058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7 000 €</a:t>
            </a:r>
          </a:p>
        </p:txBody>
      </p:sp>
      <p:sp>
        <p:nvSpPr>
          <p:cNvPr id="145" name="TextBox 144"/>
          <p:cNvSpPr txBox="1"/>
          <p:nvPr/>
        </p:nvSpPr>
        <p:spPr>
          <a:xfrm>
            <a:off x="4462272" y="4969764"/>
            <a:ext cx="68580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10 %</a:t>
            </a:r>
          </a:p>
        </p:txBody>
      </p:sp>
      <p:sp>
        <p:nvSpPr>
          <p:cNvPr id="146" name="TextBox 145"/>
          <p:cNvSpPr txBox="1"/>
          <p:nvPr/>
        </p:nvSpPr>
        <p:spPr>
          <a:xfrm>
            <a:off x="5148072" y="4969764"/>
            <a:ext cx="96012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192</a:t>
            </a:r>
          </a:p>
        </p:txBody>
      </p:sp>
      <p:sp>
        <p:nvSpPr>
          <p:cNvPr id="147" name="TextBox 146"/>
          <p:cNvSpPr txBox="1"/>
          <p:nvPr/>
        </p:nvSpPr>
        <p:spPr>
          <a:xfrm>
            <a:off x="6108192" y="4969764"/>
            <a:ext cx="7772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12</a:t>
            </a:r>
          </a:p>
        </p:txBody>
      </p:sp>
      <p:sp>
        <p:nvSpPr>
          <p:cNvPr id="148" name="TextBox 147"/>
          <p:cNvSpPr txBox="1"/>
          <p:nvPr/>
        </p:nvSpPr>
        <p:spPr>
          <a:xfrm>
            <a:off x="6885432" y="4969764"/>
            <a:ext cx="96012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6,25 %</a:t>
            </a:r>
          </a:p>
        </p:txBody>
      </p:sp>
      <p:sp>
        <p:nvSpPr>
          <p:cNvPr id="149" name="TextBox 148"/>
          <p:cNvSpPr txBox="1"/>
          <p:nvPr/>
        </p:nvSpPr>
        <p:spPr>
          <a:xfrm>
            <a:off x="7845552" y="4969764"/>
            <a:ext cx="12344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36,46 €</a:t>
            </a:r>
          </a:p>
        </p:txBody>
      </p:sp>
      <p:sp>
        <p:nvSpPr>
          <p:cNvPr id="150" name="TextBox 149"/>
          <p:cNvSpPr txBox="1"/>
          <p:nvPr/>
        </p:nvSpPr>
        <p:spPr>
          <a:xfrm>
            <a:off x="9079992" y="4969764"/>
            <a:ext cx="1005840" cy="201168"/>
          </a:xfrm>
          <a:prstGeom prst="rect">
            <a:avLst/>
          </a:prstGeom>
          <a:noFill/>
        </p:spPr>
        <p:txBody>
          <a:bodyPr wrap="square" lIns="0" tIns="0" rIns="0" bIns="0" anchor="t">
            <a:normAutofit/>
          </a:bodyPr>
          <a:lstStyle/>
          <a:p>
            <a:pPr algn="l">
              <a:lnSpc>
                <a:spcPct val="115000"/>
              </a:lnSpc>
              <a:spcAft>
                <a:spcPts val="400"/>
              </a:spcAft>
            </a:pPr>
            <a:r>
              <a:rPr sz="900" b="1">
                <a:solidFill>
                  <a:srgbClr val="D9534F"/>
                </a:solidFill>
                <a:latin typeface="Segoe UI"/>
              </a:rPr>
              <a:t>583 €</a:t>
            </a:r>
          </a:p>
        </p:txBody>
      </p:sp>
      <p:sp>
        <p:nvSpPr>
          <p:cNvPr id="151" name="TextBox 150"/>
          <p:cNvSpPr txBox="1"/>
          <p:nvPr/>
        </p:nvSpPr>
        <p:spPr>
          <a:xfrm>
            <a:off x="10085832" y="4969764"/>
            <a:ext cx="16916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AA65C"/>
                </a:solidFill>
                <a:latin typeface="Segoe UI"/>
              </a:rPr>
              <a:t>Base fiable</a:t>
            </a:r>
          </a:p>
        </p:txBody>
      </p:sp>
      <p:sp>
        <p:nvSpPr>
          <p:cNvPr id="152" name="Rectangle 151"/>
          <p:cNvSpPr/>
          <p:nvPr/>
        </p:nvSpPr>
        <p:spPr>
          <a:xfrm>
            <a:off x="502920" y="5193792"/>
            <a:ext cx="11201399" cy="288036"/>
          </a:xfrm>
          <a:prstGeom prst="rect">
            <a:avLst/>
          </a:prstGeom>
          <a:solidFill>
            <a:srgbClr val="FFFFFF"/>
          </a:solidFill>
          <a:ln w="508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TextBox 152"/>
          <p:cNvSpPr txBox="1"/>
          <p:nvPr/>
        </p:nvSpPr>
        <p:spPr>
          <a:xfrm>
            <a:off x="576072" y="5257800"/>
            <a:ext cx="1737360" cy="201168"/>
          </a:xfrm>
          <a:prstGeom prst="rect">
            <a:avLst/>
          </a:prstGeom>
          <a:noFill/>
        </p:spPr>
        <p:txBody>
          <a:bodyPr wrap="square" lIns="0" tIns="0" rIns="0" bIns="0" anchor="t">
            <a:normAutofit/>
          </a:bodyPr>
          <a:lstStyle/>
          <a:p>
            <a:pPr algn="l">
              <a:lnSpc>
                <a:spcPct val="115000"/>
              </a:lnSpc>
              <a:spcAft>
                <a:spcPts val="400"/>
              </a:spcAft>
            </a:pPr>
            <a:r>
              <a:rPr sz="900" b="0">
                <a:solidFill>
                  <a:srgbClr val="0B1F2A"/>
                </a:solidFill>
                <a:latin typeface="Segoe UI"/>
              </a:rPr>
              <a:t>ca98f07be2</a:t>
            </a:r>
          </a:p>
        </p:txBody>
      </p:sp>
      <p:sp>
        <p:nvSpPr>
          <p:cNvPr id="154" name="TextBox 153"/>
          <p:cNvSpPr txBox="1"/>
          <p:nvPr/>
        </p:nvSpPr>
        <p:spPr>
          <a:xfrm>
            <a:off x="2313432" y="5257800"/>
            <a:ext cx="114300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affiliation</a:t>
            </a:r>
          </a:p>
        </p:txBody>
      </p:sp>
      <p:sp>
        <p:nvSpPr>
          <p:cNvPr id="155" name="TextBox 154"/>
          <p:cNvSpPr txBox="1"/>
          <p:nvPr/>
        </p:nvSpPr>
        <p:spPr>
          <a:xfrm>
            <a:off x="3456432" y="5257800"/>
            <a:ext cx="10058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700 €</a:t>
            </a:r>
          </a:p>
        </p:txBody>
      </p:sp>
      <p:sp>
        <p:nvSpPr>
          <p:cNvPr id="156" name="TextBox 155"/>
          <p:cNvSpPr txBox="1"/>
          <p:nvPr/>
        </p:nvSpPr>
        <p:spPr>
          <a:xfrm>
            <a:off x="4462272" y="5257800"/>
            <a:ext cx="68580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1 %</a:t>
            </a:r>
          </a:p>
        </p:txBody>
      </p:sp>
      <p:sp>
        <p:nvSpPr>
          <p:cNvPr id="157" name="TextBox 156"/>
          <p:cNvSpPr txBox="1"/>
          <p:nvPr/>
        </p:nvSpPr>
        <p:spPr>
          <a:xfrm>
            <a:off x="5148072" y="5257800"/>
            <a:ext cx="96012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25</a:t>
            </a:r>
          </a:p>
        </p:txBody>
      </p:sp>
      <p:sp>
        <p:nvSpPr>
          <p:cNvPr id="158" name="TextBox 157"/>
          <p:cNvSpPr txBox="1"/>
          <p:nvPr/>
        </p:nvSpPr>
        <p:spPr>
          <a:xfrm>
            <a:off x="6108192" y="5257800"/>
            <a:ext cx="7772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0</a:t>
            </a:r>
          </a:p>
        </p:txBody>
      </p:sp>
      <p:sp>
        <p:nvSpPr>
          <p:cNvPr id="159" name="TextBox 158"/>
          <p:cNvSpPr txBox="1"/>
          <p:nvPr/>
        </p:nvSpPr>
        <p:spPr>
          <a:xfrm>
            <a:off x="6885432" y="5257800"/>
            <a:ext cx="96012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0,00 %</a:t>
            </a:r>
          </a:p>
        </p:txBody>
      </p:sp>
      <p:sp>
        <p:nvSpPr>
          <p:cNvPr id="160" name="TextBox 159"/>
          <p:cNvSpPr txBox="1"/>
          <p:nvPr/>
        </p:nvSpPr>
        <p:spPr>
          <a:xfrm>
            <a:off x="7845552" y="5257800"/>
            <a:ext cx="12344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33444F"/>
                </a:solidFill>
                <a:latin typeface="Segoe UI"/>
              </a:rPr>
              <a:t>28,00 €</a:t>
            </a:r>
          </a:p>
        </p:txBody>
      </p:sp>
      <p:sp>
        <p:nvSpPr>
          <p:cNvPr id="161" name="TextBox 160"/>
          <p:cNvSpPr txBox="1"/>
          <p:nvPr/>
        </p:nvSpPr>
        <p:spPr>
          <a:xfrm>
            <a:off x="9079992" y="5257800"/>
            <a:ext cx="1005840" cy="201168"/>
          </a:xfrm>
          <a:prstGeom prst="rect">
            <a:avLst/>
          </a:prstGeom>
          <a:noFill/>
        </p:spPr>
        <p:txBody>
          <a:bodyPr wrap="square" lIns="0" tIns="0" rIns="0" bIns="0" anchor="t">
            <a:normAutofit/>
          </a:bodyPr>
          <a:lstStyle/>
          <a:p>
            <a:pPr algn="l">
              <a:lnSpc>
                <a:spcPct val="115000"/>
              </a:lnSpc>
              <a:spcAft>
                <a:spcPts val="400"/>
              </a:spcAft>
            </a:pPr>
            <a:r>
              <a:rPr sz="900" b="1">
                <a:solidFill>
                  <a:srgbClr val="D9534F"/>
                </a:solidFill>
                <a:latin typeface="Segoe UI"/>
              </a:rPr>
              <a:t>—</a:t>
            </a:r>
          </a:p>
        </p:txBody>
      </p:sp>
      <p:sp>
        <p:nvSpPr>
          <p:cNvPr id="162" name="TextBox 161"/>
          <p:cNvSpPr txBox="1"/>
          <p:nvPr/>
        </p:nvSpPr>
        <p:spPr>
          <a:xfrm>
            <a:off x="10085832" y="5257800"/>
            <a:ext cx="1691640" cy="201168"/>
          </a:xfrm>
          <a:prstGeom prst="rect">
            <a:avLst/>
          </a:prstGeom>
          <a:noFill/>
        </p:spPr>
        <p:txBody>
          <a:bodyPr wrap="square" lIns="0" tIns="0" rIns="0" bIns="0" anchor="t">
            <a:normAutofit/>
          </a:bodyPr>
          <a:lstStyle/>
          <a:p>
            <a:pPr algn="l">
              <a:lnSpc>
                <a:spcPct val="115000"/>
              </a:lnSpc>
              <a:spcAft>
                <a:spcPts val="400"/>
              </a:spcAft>
            </a:pPr>
            <a:r>
              <a:rPr sz="900" b="0">
                <a:solidFill>
                  <a:srgbClr val="D9534F"/>
                </a:solidFill>
                <a:latin typeface="Segoe UI"/>
              </a:rPr>
              <a:t>Base fragile</a:t>
            </a:r>
          </a:p>
        </p:txBody>
      </p:sp>
      <p:sp>
        <p:nvSpPr>
          <p:cNvPr id="163" name="TextBox 162"/>
          <p:cNvSpPr txBox="1"/>
          <p:nvPr/>
        </p:nvSpPr>
        <p:spPr>
          <a:xfrm>
            <a:off x="502920" y="5541264"/>
            <a:ext cx="11201400" cy="420624"/>
          </a:xfrm>
          <a:prstGeom prst="rect">
            <a:avLst/>
          </a:prstGeom>
          <a:noFill/>
        </p:spPr>
        <p:txBody>
          <a:bodyPr wrap="square" lIns="0" tIns="0" rIns="0" bIns="0" anchor="t">
            <a:normAutofit/>
          </a:bodyPr>
          <a:lstStyle/>
          <a:p>
            <a:pPr algn="l">
              <a:lnSpc>
                <a:spcPct val="115000"/>
              </a:lnSpc>
              <a:spcAft>
                <a:spcPts val="400"/>
              </a:spcAft>
            </a:pPr>
            <a:r>
              <a:rPr sz="1100" b="1">
                <a:solidFill>
                  <a:srgbClr val="0B4F71"/>
                </a:solidFill>
                <a:latin typeface="Segoe UI"/>
              </a:rPr>
              <a:t>Rappel : </a:t>
            </a:r>
            <a:r>
              <a:rPr sz="1100" b="0">
                <a:solidFill>
                  <a:srgbClr val="33444F"/>
                </a:solidFill>
                <a:latin typeface="Segoe UI"/>
              </a:rPr>
              <a:t>aucun de ces taux de conversion n'est significativement différent du taux global de 8,74 % (tous les tests binomiaux ont p ≥ 0,07). Les écarts sont réels mais non démontrés.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84048"/>
            <a:ext cx="11185855" cy="457200"/>
          </a:xfrm>
          <a:prstGeom prst="rect">
            <a:avLst/>
          </a:prstGeom>
          <a:noFill/>
        </p:spPr>
        <p:txBody>
          <a:bodyPr wrap="square" lIns="0" tIns="0" rIns="0" bIns="0" anchor="t">
            <a:normAutofit/>
          </a:bodyPr>
          <a:lstStyle/>
          <a:p>
            <a:pPr algn="l">
              <a:lnSpc>
                <a:spcPct val="115000"/>
              </a:lnSpc>
              <a:spcAft>
                <a:spcPts val="400"/>
              </a:spcAft>
            </a:pPr>
            <a:r>
              <a:rPr sz="2500" b="1">
                <a:solidFill>
                  <a:srgbClr val="0B4F71"/>
                </a:solidFill>
                <a:latin typeface="Segoe UI"/>
              </a:rPr>
              <a:t>Annexe — Les livrables et la traçabilité</a:t>
            </a:r>
          </a:p>
        </p:txBody>
      </p:sp>
      <p:sp>
        <p:nvSpPr>
          <p:cNvPr id="5" name="TextBox 4"/>
          <p:cNvSpPr txBox="1"/>
          <p:nvPr/>
        </p:nvSpPr>
        <p:spPr>
          <a:xfrm>
            <a:off x="502920" y="896112"/>
            <a:ext cx="11185855" cy="457200"/>
          </a:xfrm>
          <a:prstGeom prst="rect">
            <a:avLst/>
          </a:prstGeom>
          <a:noFill/>
        </p:spPr>
        <p:txBody>
          <a:bodyPr wrap="square" lIns="0" tIns="0" rIns="0" bIns="0" anchor="t">
            <a:normAutofit/>
          </a:bodyPr>
          <a:lstStyle/>
          <a:p>
            <a:pPr algn="l">
              <a:lnSpc>
                <a:spcPct val="115000"/>
              </a:lnSpc>
              <a:spcAft>
                <a:spcPts val="0"/>
              </a:spcAft>
            </a:pPr>
            <a:r>
              <a:rPr sz="1300" b="0">
                <a:solidFill>
                  <a:srgbClr val="33444F"/>
                </a:solidFill>
                <a:latin typeface="Segoe UI"/>
              </a:rPr>
              <a:t>Trois fichiers livrés, et chaque chiffre de cette présentation remonte à une cellule du notebook.</a:t>
            </a:r>
          </a:p>
        </p:txBody>
      </p:sp>
      <p:sp>
        <p:nvSpPr>
          <p:cNvPr id="6" name="Rectangle 5"/>
          <p:cNvSpPr/>
          <p:nvPr/>
        </p:nvSpPr>
        <p:spPr>
          <a:xfrm>
            <a:off x="0" y="6574536"/>
            <a:ext cx="12191695" cy="18288"/>
          </a:xfrm>
          <a:prstGeom prst="rect">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620256"/>
            <a:ext cx="7315200" cy="219456"/>
          </a:xfrm>
          <a:prstGeom prst="rect">
            <a:avLst/>
          </a:prstGeom>
          <a:noFill/>
        </p:spPr>
        <p:txBody>
          <a:bodyPr wrap="square" lIns="0" tIns="0" rIns="0" bIns="0" anchor="t">
            <a:normAutofit/>
          </a:bodyPr>
          <a:lstStyle/>
          <a:p>
            <a:pPr algn="l">
              <a:lnSpc>
                <a:spcPct val="115000"/>
              </a:lnSpc>
              <a:spcAft>
                <a:spcPts val="400"/>
              </a:spcAft>
            </a:pPr>
            <a:r>
              <a:rPr sz="850" b="0">
                <a:solidFill>
                  <a:srgbClr val="8B98A5"/>
                </a:solidFill>
                <a:latin typeface="Segoe UI"/>
              </a:rPr>
              <a:t>Garanteo · Projet final DataBird · Sophie Paradon</a:t>
            </a:r>
          </a:p>
        </p:txBody>
      </p:sp>
      <p:sp>
        <p:nvSpPr>
          <p:cNvPr id="8" name="TextBox 7"/>
          <p:cNvSpPr txBox="1"/>
          <p:nvPr/>
        </p:nvSpPr>
        <p:spPr>
          <a:xfrm>
            <a:off x="8579815" y="6620256"/>
            <a:ext cx="3108960" cy="219456"/>
          </a:xfrm>
          <a:prstGeom prst="rect">
            <a:avLst/>
          </a:prstGeom>
          <a:noFill/>
        </p:spPr>
        <p:txBody>
          <a:bodyPr wrap="square" lIns="0" tIns="0" rIns="0" bIns="0" anchor="t">
            <a:normAutofit/>
          </a:bodyPr>
          <a:lstStyle/>
          <a:p>
            <a:pPr algn="r">
              <a:lnSpc>
                <a:spcPct val="115000"/>
              </a:lnSpc>
              <a:spcAft>
                <a:spcPts val="400"/>
              </a:spcAft>
            </a:pPr>
            <a:r>
              <a:rPr sz="850" b="0">
                <a:solidFill>
                  <a:srgbClr val="8B98A5"/>
                </a:solidFill>
                <a:latin typeface="Segoe UI"/>
              </a:rPr>
              <a:t>Annexe   ·   30</a:t>
            </a:r>
          </a:p>
        </p:txBody>
      </p:sp>
      <p:sp>
        <p:nvSpPr>
          <p:cNvPr id="9" name="Rectangle 8"/>
          <p:cNvSpPr/>
          <p:nvPr/>
        </p:nvSpPr>
        <p:spPr>
          <a:xfrm>
            <a:off x="502920" y="1472184"/>
            <a:ext cx="11201400" cy="914400"/>
          </a:xfrm>
          <a:prstGeom prst="rect">
            <a:avLst/>
          </a:prstGeom>
          <a:solidFill>
            <a:srgbClr val="FFFFFF"/>
          </a:solidFill>
          <a:ln w="889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 y="1472184"/>
            <a:ext cx="54864" cy="914400"/>
          </a:xfrm>
          <a:prstGeom prst="rect">
            <a:avLst/>
          </a:prstGeom>
          <a:solidFill>
            <a:srgbClr val="0B4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58952" y="1600200"/>
            <a:ext cx="2743200" cy="274320"/>
          </a:xfrm>
          <a:prstGeom prst="rect">
            <a:avLst/>
          </a:prstGeom>
          <a:noFill/>
        </p:spPr>
        <p:txBody>
          <a:bodyPr wrap="square" lIns="0" tIns="0" rIns="0" bIns="0" anchor="t">
            <a:normAutofit/>
          </a:bodyPr>
          <a:lstStyle/>
          <a:p>
            <a:pPr algn="l">
              <a:lnSpc>
                <a:spcPct val="115000"/>
              </a:lnSpc>
              <a:spcAft>
                <a:spcPts val="400"/>
              </a:spcAft>
            </a:pPr>
            <a:r>
              <a:rPr sz="1250" b="1">
                <a:solidFill>
                  <a:srgbClr val="0B4F71"/>
                </a:solidFill>
                <a:latin typeface="Courier New"/>
              </a:rPr>
              <a:t>main.ipynb</a:t>
            </a:r>
          </a:p>
        </p:txBody>
      </p:sp>
      <p:sp>
        <p:nvSpPr>
          <p:cNvPr id="12" name="TextBox 11"/>
          <p:cNvSpPr txBox="1"/>
          <p:nvPr/>
        </p:nvSpPr>
        <p:spPr>
          <a:xfrm>
            <a:off x="3703320" y="1591056"/>
            <a:ext cx="7818120" cy="731520"/>
          </a:xfrm>
          <a:prstGeom prst="rect">
            <a:avLst/>
          </a:prstGeom>
          <a:noFill/>
        </p:spPr>
        <p:txBody>
          <a:bodyPr wrap="square" lIns="0" tIns="0" rIns="0" bIns="0" anchor="t">
            <a:normAutofit/>
          </a:bodyPr>
          <a:lstStyle/>
          <a:p>
            <a:pPr algn="l">
              <a:lnSpc>
                <a:spcPct val="118000"/>
              </a:lnSpc>
              <a:spcAft>
                <a:spcPts val="400"/>
              </a:spcAft>
            </a:pPr>
            <a:r>
              <a:rPr sz="1000" b="0">
                <a:solidFill>
                  <a:srgbClr val="33444F"/>
                </a:solidFill>
                <a:latin typeface="Segoe UI"/>
              </a:rPr>
              <a:t>Le calcul. 263 cellules exécutées de 1 à 96 dans l'ordre, aucune en erreur, structure imposée par la consigne (Importation → Exploration → Nettoyage → Transformation → Analyse statistique). Chaque chiffre de cette présentation porte un numéro de cellule, et 9 contrôles automatiques en dernière cellule signalent tout écart.</a:t>
            </a:r>
          </a:p>
        </p:txBody>
      </p:sp>
      <p:sp>
        <p:nvSpPr>
          <p:cNvPr id="13" name="Rectangle 12"/>
          <p:cNvSpPr/>
          <p:nvPr/>
        </p:nvSpPr>
        <p:spPr>
          <a:xfrm>
            <a:off x="502920" y="2496312"/>
            <a:ext cx="11201400" cy="914400"/>
          </a:xfrm>
          <a:prstGeom prst="rect">
            <a:avLst/>
          </a:prstGeom>
          <a:solidFill>
            <a:srgbClr val="FFFFFF"/>
          </a:solidFill>
          <a:ln w="889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02920" y="2496312"/>
            <a:ext cx="54864" cy="914400"/>
          </a:xfrm>
          <a:prstGeom prst="rect">
            <a:avLst/>
          </a:prstGeom>
          <a:solidFill>
            <a:srgbClr val="1CA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58952" y="2624328"/>
            <a:ext cx="2743200" cy="274320"/>
          </a:xfrm>
          <a:prstGeom prst="rect">
            <a:avLst/>
          </a:prstGeom>
          <a:noFill/>
        </p:spPr>
        <p:txBody>
          <a:bodyPr wrap="square" lIns="0" tIns="0" rIns="0" bIns="0" anchor="t">
            <a:normAutofit/>
          </a:bodyPr>
          <a:lstStyle/>
          <a:p>
            <a:pPr algn="l">
              <a:lnSpc>
                <a:spcPct val="115000"/>
              </a:lnSpc>
              <a:spcAft>
                <a:spcPts val="400"/>
              </a:spcAft>
            </a:pPr>
            <a:r>
              <a:rPr sz="1250" b="1">
                <a:solidFill>
                  <a:srgbClr val="1CA7C4"/>
                </a:solidFill>
                <a:latin typeface="Courier New"/>
              </a:rPr>
              <a:t>Garanteo_Sophie_Paradon.pbix</a:t>
            </a:r>
          </a:p>
        </p:txBody>
      </p:sp>
      <p:sp>
        <p:nvSpPr>
          <p:cNvPr id="16" name="TextBox 15"/>
          <p:cNvSpPr txBox="1"/>
          <p:nvPr/>
        </p:nvSpPr>
        <p:spPr>
          <a:xfrm>
            <a:off x="3703320" y="2615184"/>
            <a:ext cx="7818120" cy="731520"/>
          </a:xfrm>
          <a:prstGeom prst="rect">
            <a:avLst/>
          </a:prstGeom>
          <a:noFill/>
        </p:spPr>
        <p:txBody>
          <a:bodyPr wrap="square" lIns="0" tIns="0" rIns="0" bIns="0" anchor="t">
            <a:normAutofit/>
          </a:bodyPr>
          <a:lstStyle/>
          <a:p>
            <a:pPr algn="l">
              <a:lnSpc>
                <a:spcPct val="118000"/>
              </a:lnSpc>
              <a:spcAft>
                <a:spcPts val="400"/>
              </a:spcAft>
            </a:pPr>
            <a:r>
              <a:rPr sz="1000" b="0">
                <a:solidFill>
                  <a:srgbClr val="33444F"/>
                </a:solidFill>
                <a:latin typeface="Segoe UI"/>
              </a:rPr>
              <a:t>La restitution. Modèle en étoile de 13 tables, 49 mesures DAX, 22 colonnes calculées, table de dates marquée, 7 pages plus une page d'infobulle. Aucune valeur saisie à la main dans Power BI : tout vient des exports du notebook.</a:t>
            </a:r>
          </a:p>
        </p:txBody>
      </p:sp>
      <p:sp>
        <p:nvSpPr>
          <p:cNvPr id="17" name="Rectangle 16"/>
          <p:cNvSpPr/>
          <p:nvPr/>
        </p:nvSpPr>
        <p:spPr>
          <a:xfrm>
            <a:off x="502920" y="3520440"/>
            <a:ext cx="11201400" cy="914400"/>
          </a:xfrm>
          <a:prstGeom prst="rect">
            <a:avLst/>
          </a:prstGeom>
          <a:solidFill>
            <a:srgbClr val="FFFFFF"/>
          </a:solidFill>
          <a:ln w="889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02920" y="3520440"/>
            <a:ext cx="54864" cy="914400"/>
          </a:xfrm>
          <a:prstGeom prst="rect">
            <a:avLst/>
          </a:prstGeom>
          <a:solidFill>
            <a:srgbClr val="F2A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58952" y="3648456"/>
            <a:ext cx="2743200" cy="274320"/>
          </a:xfrm>
          <a:prstGeom prst="rect">
            <a:avLst/>
          </a:prstGeom>
          <a:noFill/>
        </p:spPr>
        <p:txBody>
          <a:bodyPr wrap="square" lIns="0" tIns="0" rIns="0" bIns="0" anchor="t">
            <a:normAutofit/>
          </a:bodyPr>
          <a:lstStyle/>
          <a:p>
            <a:pPr algn="l">
              <a:lnSpc>
                <a:spcPct val="115000"/>
              </a:lnSpc>
              <a:spcAft>
                <a:spcPts val="400"/>
              </a:spcAft>
            </a:pPr>
            <a:r>
              <a:rPr sz="1250" b="1">
                <a:solidFill>
                  <a:srgbClr val="F2A354"/>
                </a:solidFill>
                <a:latin typeface="Courier New"/>
              </a:rPr>
              <a:t>Garanteo_Restitution.pptx</a:t>
            </a:r>
          </a:p>
        </p:txBody>
      </p:sp>
      <p:sp>
        <p:nvSpPr>
          <p:cNvPr id="20" name="TextBox 19"/>
          <p:cNvSpPr txBox="1"/>
          <p:nvPr/>
        </p:nvSpPr>
        <p:spPr>
          <a:xfrm>
            <a:off x="3703320" y="3639312"/>
            <a:ext cx="7818120" cy="731520"/>
          </a:xfrm>
          <a:prstGeom prst="rect">
            <a:avLst/>
          </a:prstGeom>
          <a:noFill/>
        </p:spPr>
        <p:txBody>
          <a:bodyPr wrap="square" lIns="0" tIns="0" rIns="0" bIns="0" anchor="t">
            <a:normAutofit/>
          </a:bodyPr>
          <a:lstStyle/>
          <a:p>
            <a:pPr algn="l">
              <a:lnSpc>
                <a:spcPct val="118000"/>
              </a:lnSpc>
              <a:spcAft>
                <a:spcPts val="400"/>
              </a:spcAft>
            </a:pPr>
            <a:r>
              <a:rPr sz="1000" b="0">
                <a:solidFill>
                  <a:srgbClr val="33444F"/>
                </a:solidFill>
                <a:latin typeface="Segoe UI"/>
              </a:rPr>
              <a:t>La présentation. 26 slides de soutenance et 4 annexes. Chaque valeur affichée est reprise soit d'une sortie du notebook, soit d'une mesure du dashboard : aucune n'a été retapée.</a:t>
            </a:r>
          </a:p>
        </p:txBody>
      </p:sp>
      <p:sp>
        <p:nvSpPr>
          <p:cNvPr id="21" name="Rectangle 20"/>
          <p:cNvSpPr/>
          <p:nvPr/>
        </p:nvSpPr>
        <p:spPr>
          <a:xfrm>
            <a:off x="502920" y="4544568"/>
            <a:ext cx="11201400" cy="914400"/>
          </a:xfrm>
          <a:prstGeom prst="rect">
            <a:avLst/>
          </a:prstGeom>
          <a:solidFill>
            <a:srgbClr val="FFFFFF"/>
          </a:solidFill>
          <a:ln w="8890">
            <a:solidFill>
              <a:srgbClr val="D8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02920" y="4544568"/>
            <a:ext cx="54864" cy="914400"/>
          </a:xfrm>
          <a:prstGeom prst="rect">
            <a:avLst/>
          </a:prstGeom>
          <a:solidFill>
            <a:srgbClr val="3AA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58952" y="4672584"/>
            <a:ext cx="2743200" cy="274320"/>
          </a:xfrm>
          <a:prstGeom prst="rect">
            <a:avLst/>
          </a:prstGeom>
          <a:noFill/>
        </p:spPr>
        <p:txBody>
          <a:bodyPr wrap="square" lIns="0" tIns="0" rIns="0" bIns="0" anchor="t">
            <a:normAutofit/>
          </a:bodyPr>
          <a:lstStyle/>
          <a:p>
            <a:pPr algn="l">
              <a:lnSpc>
                <a:spcPct val="115000"/>
              </a:lnSpc>
              <a:spcAft>
                <a:spcPts val="400"/>
              </a:spcAft>
            </a:pPr>
            <a:r>
              <a:rPr sz="1250" b="1">
                <a:solidFill>
                  <a:srgbClr val="3AA65C"/>
                </a:solidFill>
                <a:latin typeface="Courier New"/>
              </a:rPr>
              <a:t>Les 11 CSV intermédiaires</a:t>
            </a:r>
          </a:p>
        </p:txBody>
      </p:sp>
      <p:sp>
        <p:nvSpPr>
          <p:cNvPr id="24" name="TextBox 23"/>
          <p:cNvSpPr txBox="1"/>
          <p:nvPr/>
        </p:nvSpPr>
        <p:spPr>
          <a:xfrm>
            <a:off x="3703320" y="4663440"/>
            <a:ext cx="7818120" cy="731520"/>
          </a:xfrm>
          <a:prstGeom prst="rect">
            <a:avLst/>
          </a:prstGeom>
          <a:noFill/>
        </p:spPr>
        <p:txBody>
          <a:bodyPr wrap="square" lIns="0" tIns="0" rIns="0" bIns="0" anchor="t">
            <a:normAutofit/>
          </a:bodyPr>
          <a:lstStyle/>
          <a:p>
            <a:pPr algn="l">
              <a:lnSpc>
                <a:spcPct val="118000"/>
              </a:lnSpc>
              <a:spcAft>
                <a:spcPts val="400"/>
              </a:spcAft>
            </a:pPr>
            <a:r>
              <a:rPr sz="1000" b="0">
                <a:solidFill>
                  <a:srgbClr val="33444F"/>
                </a:solidFill>
                <a:latin typeface="Segoe UI"/>
              </a:rPr>
              <a:t>Le chaînon intermédiaire. 4 tables nettoyées, allégées de 11 964 lignes soit −8,1 % de volume, et 7 tables d'agrégats de 5 Ko au total. Ils sont produits par la section Transformation du notebook : réexécuter le notebook les régénère à l'identique.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5856</Words>
  <Application>Microsoft Office PowerPoint</Application>
  <PresentationFormat>Grand écran</PresentationFormat>
  <Paragraphs>588</Paragraphs>
  <Slides>30</Slides>
  <Notes>27</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30</vt:i4>
      </vt:variant>
    </vt:vector>
  </HeadingPairs>
  <TitlesOfParts>
    <vt:vector size="35" baseType="lpstr">
      <vt:lpstr>Arial</vt:lpstr>
      <vt:lpstr>Calibri</vt:lpstr>
      <vt:lpstr>Courier New</vt:lpstr>
      <vt:lpstr>Segoe UI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Sophie Paradon</cp:lastModifiedBy>
  <cp:revision>3</cp:revision>
  <dcterms:created xsi:type="dcterms:W3CDTF">2013-01-27T09:14:16Z</dcterms:created>
  <dcterms:modified xsi:type="dcterms:W3CDTF">2026-08-25T15:16:00Z</dcterms:modified>
  <cp:category/>
</cp:coreProperties>
</file>